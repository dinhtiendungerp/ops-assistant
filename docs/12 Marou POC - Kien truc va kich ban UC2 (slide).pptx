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Về số lô, nói cho chuẩn kẻo khách bắt bẻ: Dakao là bán lẻ nên theo nghiệp vụ KHÔNG quản lý lô, và trợ lý không đẩy số lô ra cho cửa hàng.</a:t>
            </a:r>
          </a:p>
          <a:p>
            <a:r>
              <a:t>Trợ lý chỉ xử lý số lô khi mặt hàng bên mua có bật quản lý lô; lúc đó nó lấy đúng lô Marou đã xuất, đọc từ sổ kho công ty bên kia chứ không</a:t>
            </a:r>
          </a:p>
          <a:p>
            <a:r>
              <a:t>bịa. Mặt hàng không bật quản lý lô thì phiếu nhận post bình thường, không có lô.</a:t>
            </a:r>
          </a:p>
          <a:p>
            <a:r>
              <a:t>Trên bộ dữ liệu demo thì hai company đang là bản sao của nhau nên bên Dakao vẫn còn bật quản lý lô, vì vậy phiếu nhận trong ảnh có lô.</a:t>
            </a:r>
          </a:p>
          <a:p>
            <a:r>
              <a:t>Nếu khách hỏi có nên cho bán lẻ giữ lô không: đó là quyết định của Marou. Giữ thì truy được cả chuỗi từ lô sản xuất tới cửa hàng, đổi lại</a:t>
            </a:r>
          </a:p>
          <a:p>
            <a:r>
              <a:t>cửa hàng phải thao tác theo lô. Không giữ thì hạn dùng ở cửa hàng suy từ đợt giao.</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chụp trong hộp thư thật. Danh sách đơn, mặt hàng,</a:t>
            </a:r>
          </a:p>
          <a:p>
            <a:r>
              <a:t>số lượng và link mở đơn đều do code điền từ Business Central. Chỉ ra chỗ quan trọng: email này KHÔNG có số lô, vì Dakao là bán lẻ,</a:t>
            </a:r>
          </a:p>
          <a:p>
            <a:r>
              <a:t>số lô không phải việc của cửa hàng. Số lô chỉ hiện ở thẻ người duyệt, nơi cần biết Business Central sẽ ghi lô nào vào phiếu nhận.</a:t>
            </a:r>
          </a:p>
          <a:p>
            <a:r>
              <a:t>Bên phải là phiếu nhận 107110 trong Business Central, của một đơn khác đã đi hết vòng. Nó cho thấy trợ lý post thật chứ không</a:t>
            </a:r>
          </a:p>
          <a:p>
            <a:r>
              <a:t>dừng ở chỗ gửi thông báo. Dòng dưới hai ảnh kể lại cả bốn bước của đơn đó.</a:t>
            </a:r>
          </a:p>
          <a:p>
            <a:r>
              <a:t>Điểm đáng nhấn: trợ lý không tự nghĩ ra số nào cả. Số lượng lấy từ đơn mua, và nếu mặt hàng bên mua có bật quản lý lô thì số lô lấy</a:t>
            </a:r>
          </a:p>
          <a:p>
            <a:r>
              <a:t>từ sổ kho của công ty bên bán. Trong ảnh phiếu nhận có lô vì bộ dữ liệu demo bên Dakao vẫn còn bật quản lý lô; trên hệ thống thật của</a:t>
            </a:r>
          </a:p>
          <a:p>
            <a:r>
              <a:t>một đơn vị bán lẻ không quản lý lô thì phiếu nhận post bình thường, không có lô. Đừng hứa với khách là bán lẻ sẽ truy được lô, trừ khi</a:t>
            </a:r>
          </a:p>
          <a:p>
            <a:r>
              <a:t>Marou quyết cho cửa hàng giữ lô.</a:t>
            </a:r>
          </a:p>
          <a:p>
            <a:r>
              <a:t>Nếu khách để ý địa chỉ người gửi là một hộp thư Gmail: nói thẳng là môi trường demo trên tenant thử nghiệm không có license</a:t>
            </a:r>
          </a:p>
          <a:p>
            <a:r>
              <a:t>Exchange Online nên POC gửi qua SMTP. Khi triển khai thật, thư đi bằng hộp thư của Marou, cấu hình một lần, không đụng vào code.</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post đúng số lượng còn phải nhận</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Trái: email trợ lý gửi khi Marou vừa xuất kho. Phải: phiếu nhận Business Central post sau khi có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766562" y="2304288"/>
            <a:ext cx="5336555" cy="4224528"/>
          </a:xfrm>
          <a:prstGeom prst="rect">
            <a:avLst/>
          </a:prstGeom>
        </p:spPr>
      </p:pic>
      <p:pic>
        <p:nvPicPr>
          <p:cNvPr id="7" name="Picture 6" descr="uc2ai-13-phieu-nhan-cat.png"/>
          <p:cNvPicPr>
            <a:picLocks noChangeAspect="1"/>
          </p:cNvPicPr>
          <p:nvPr/>
        </p:nvPicPr>
        <p:blipFill>
          <a:blip r:embed="rId3"/>
          <a:stretch>
            <a:fillRect/>
          </a:stretch>
        </p:blipFill>
        <p:spPr>
          <a:xfrm>
            <a:off x="8092440" y="2309982"/>
            <a:ext cx="6675120" cy="4213139"/>
          </a:xfrm>
          <a:prstGeom prst="rect">
            <a:avLst/>
          </a:prstGeom>
        </p:spPr>
      </p:pic>
      <p:sp>
        <p:nvSpPr>
          <p:cNvPr id="8" name="TextBox 7"/>
          <p:cNvSpPr txBox="1"/>
          <p:nvPr/>
        </p:nvSpPr>
        <p:spPr>
          <a:xfrm>
            <a:off x="1097280" y="6656832"/>
            <a:ext cx="13670280" cy="384048"/>
          </a:xfrm>
          <a:prstGeom prst="rect">
            <a:avLst/>
          </a:prstGeom>
          <a:noFill/>
        </p:spPr>
        <p:txBody>
          <a:bodyPr wrap="square" lIns="0" rIns="0" tIns="0" bIns="0">
            <a:spAutoFit/>
          </a:bodyPr>
          <a:lstStyle/>
          <a:p>
            <a:pPr algn="l">
              <a:spcAft>
                <a:spcPts val="600"/>
              </a:spcAft>
            </a:pPr>
            <a:r>
              <a:rPr sz="2100" b="1">
                <a:solidFill>
                  <a:srgbClr val="001F60"/>
                </a:solidFill>
                <a:latin typeface="Aptos"/>
              </a:rPr>
              <a:t>Một đơn đi hết vòng</a:t>
            </a:r>
          </a:p>
        </p:txBody>
      </p:sp>
      <p:sp>
        <p:nvSpPr>
          <p:cNvPr id="9" name="TextBox 8"/>
          <p:cNvSpPr txBox="1"/>
          <p:nvPr/>
        </p:nvSpPr>
        <p:spPr>
          <a:xfrm>
            <a:off x="1097280" y="7040880"/>
            <a:ext cx="13670280" cy="530352"/>
          </a:xfrm>
          <a:prstGeom prst="rect">
            <a:avLst/>
          </a:prstGeom>
          <a:noFill/>
        </p:spPr>
        <p:txBody>
          <a:bodyPr wrap="square" lIns="0" rIns="0" tIns="0" bIns="0">
            <a:spAutoFit/>
          </a:bodyPr>
          <a:lstStyle/>
          <a:p>
            <a:pPr algn="l">
              <a:lnSpc>
                <a:spcPct val="95000"/>
              </a:lnSpc>
              <a:spcAft>
                <a:spcPts val="200"/>
              </a:spcAft>
            </a:pPr>
            <a:r>
              <a:rPr sz="1800" b="0">
                <a:solidFill>
                  <a:srgbClr val="333333"/>
                </a:solidFill>
                <a:latin typeface="Aptos"/>
              </a:rPr>
              <a:t>Đơn mua HO106201 ở Dakao sang Marou thành đơn bán S90014, Marou xuất kho phiếu 102043 lô L260908-33110B.</a:t>
            </a:r>
          </a:p>
          <a:p>
            <a:pPr algn="l">
              <a:lnSpc>
                <a:spcPct val="95000"/>
              </a:lnSpc>
              <a:spcAft>
                <a:spcPts val="200"/>
              </a:spcAft>
            </a:pPr>
            <a:r>
              <a:rPr sz="1800" b="0">
                <a:solidFill>
                  <a:srgbClr val="333333"/>
                </a:solidFill>
                <a:latin typeface="Aptos"/>
              </a:rPr>
              <a:t>Người duyệt bấm Duyệt thì Business Central post phiếu nhận 107110 tại cửa hàng Quán cà phê Đà Nẵng.</a:t>
            </a:r>
          </a:p>
        </p:txBody>
      </p:sp>
      <p:sp>
        <p:nvSpPr>
          <p:cNvPr id="10" name="Rectangle 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Hai ảnh chụp trên môi trường demo NWV01 ngày 16/09/2026. Email gửi thật qua SMTP.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