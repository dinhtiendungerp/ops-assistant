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8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7343A"/>
                </a:solidFill>
                <a:latin typeface="Aptos"/>
              </a:defRPr>
            </a:pPr>
            <a:r>
              <a:rPr sz="1300" b="0" i="0" u="none" strike="noStrike">
                <a:solidFill>
                  <a:srgbClr val="27343A"/>
                </a:solidFill>
                <a:latin typeface="Aptos"/>
              </a:rPr>
              <a:t>Giá trị tồn theo tầng</a:t>
            </a:r>
          </a:p>
        </c:rich>
      </c:tx>
      <c:overlay val="0"/>
    </c:title>
    <c:autoTitleDeleted val="0"/>
    <c:plotArea>
      <c:layout/>
      <c:barChart>
        <c:barDir val="bar"/>
        <c:grouping val="stacked"/>
        <c:varyColors val="0"/>
        <c:ser>
          <c:idx val="0"/>
          <c:order val="0"/>
          <c:tx>
            <c:strRef>
              <c:f>Sheet1!$B$1</c:f>
              <c:strCache>
                <c:ptCount val="1"/>
                <c:pt idx="0">
                  <c:v>Tính vào 5.088,4</c:v>
                </c:pt>
              </c:strCache>
            </c:strRef>
          </c:tx>
          <c:spPr>
            <a:solidFill>
              <a:srgbClr val="C89B72"/>
            </a:solidFill>
            <a:effectLst/>
          </c:spPr>
          <c:invertIfNegative val="0"/>
          <c:cat>
            <c:strRef>
              <c:f>Sheet1!$A$2:$A$7</c:f>
              <c:strCache>
                <c:ptCount val="6"/>
                <c:pt idx="0">
                  <c:v>Đã quá hạn</c:v>
                </c:pt>
                <c:pt idx="1">
                  <c:v>Cận date</c:v>
                </c:pt>
                <c:pt idx="2">
                  <c:v>Sắp hết hàng</c:v>
                </c:pt>
                <c:pt idx="3">
                  <c:v>Chậm luân chuyển</c:v>
                </c:pt>
                <c:pt idx="4">
                  <c:v>Dư tồn</c:v>
                </c:pt>
                <c:pt idx="5">
                  <c:v>Trong ngưỡng</c:v>
                </c:pt>
              </c:strCache>
            </c:strRef>
          </c:cat>
          <c:val>
            <c:numRef>
              <c:f>Sheet1!$B$2:$B$7</c:f>
              <c:numCache>
                <c:formatCode>General</c:formatCode>
                <c:ptCount val="6"/>
                <c:pt idx="0">
                  <c:v>1273.3</c:v>
                </c:pt>
                <c:pt idx="1">
                  <c:v>2099.6999999999998</c:v>
                </c:pt>
                <c:pt idx="2">
                  <c:v>0</c:v>
                </c:pt>
                <c:pt idx="3">
                  <c:v>46.6</c:v>
                </c:pt>
                <c:pt idx="4">
                  <c:v>1668.8</c:v>
                </c:pt>
                <c:pt idx="5">
                  <c:v>0</c:v>
                </c:pt>
              </c:numCache>
            </c:numRef>
          </c:val>
          <c:extLst>
            <c:ext xmlns:c16="http://schemas.microsoft.com/office/drawing/2014/chart" uri="{C3380CC4-5D6E-409C-BE32-E72D297353CC}">
              <c16:uniqueId val="{00000000-4B2E-4C0F-A6D5-C329ACA9DA89}"/>
            </c:ext>
          </c:extLst>
        </c:ser>
        <c:ser>
          <c:idx val="1"/>
          <c:order val="1"/>
          <c:tx>
            <c:strRef>
              <c:f>Sheet1!$C$1</c:f>
              <c:strCache>
                <c:ptCount val="1"/>
                <c:pt idx="0">
                  <c:v>Tầng khác</c:v>
                </c:pt>
              </c:strCache>
            </c:strRef>
          </c:tx>
          <c:spPr>
            <a:solidFill>
              <a:srgbClr val="4BACC6"/>
            </a:solidFill>
            <a:effectLst/>
          </c:spPr>
          <c:invertIfNegative val="0"/>
          <c:cat>
            <c:strRef>
              <c:f>Sheet1!$A$2:$A$7</c:f>
              <c:strCache>
                <c:ptCount val="6"/>
                <c:pt idx="0">
                  <c:v>Đã quá hạn</c:v>
                </c:pt>
                <c:pt idx="1">
                  <c:v>Cận date</c:v>
                </c:pt>
                <c:pt idx="2">
                  <c:v>Sắp hết hàng</c:v>
                </c:pt>
                <c:pt idx="3">
                  <c:v>Chậm luân chuyển</c:v>
                </c:pt>
                <c:pt idx="4">
                  <c:v>Dư tồn</c:v>
                </c:pt>
                <c:pt idx="5">
                  <c:v>Trong ngưỡng</c:v>
                </c:pt>
              </c:strCache>
            </c:strRef>
          </c:cat>
          <c:val>
            <c:numRef>
              <c:f>Sheet1!$C$2:$C$7</c:f>
              <c:numCache>
                <c:formatCode>General</c:formatCode>
                <c:ptCount val="6"/>
                <c:pt idx="0">
                  <c:v>0</c:v>
                </c:pt>
                <c:pt idx="1">
                  <c:v>0</c:v>
                </c:pt>
                <c:pt idx="2">
                  <c:v>3818.2</c:v>
                </c:pt>
                <c:pt idx="3">
                  <c:v>0</c:v>
                </c:pt>
                <c:pt idx="4">
                  <c:v>0</c:v>
                </c:pt>
                <c:pt idx="5">
                  <c:v>4463.6000000000004</c:v>
                </c:pt>
              </c:numCache>
            </c:numRef>
          </c:val>
          <c:extLst>
            <c:ext xmlns:c16="http://schemas.microsoft.com/office/drawing/2014/chart" uri="{C3380CC4-5D6E-409C-BE32-E72D297353CC}">
              <c16:uniqueId val="{00000001-4B2E-4C0F-A6D5-C329ACA9DA89}"/>
            </c:ext>
          </c:extLst>
        </c:ser>
        <c:dLbls>
          <c:showLegendKey val="0"/>
          <c:showVal val="0"/>
          <c:showCatName val="0"/>
          <c:showSerName val="0"/>
          <c:showPercent val="0"/>
          <c:showBubbleSize val="0"/>
        </c:dLbls>
        <c:gapWidth val="50"/>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7343A"/>
                </a:solidFill>
                <a:latin typeface="Aptos"/>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000">
              <a:solidFill>
                <a:srgbClr val="27343A"/>
              </a:solidFill>
              <a:latin typeface="Aptos"/>
              <a:cs typeface="Aptos"/>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5106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tài liệu đi qua kiến trúc, cách Business Central tính sức khỏe tồn kho, rồi 10 kịch bản đang chạy được trên môi trường demo. Mỗi kịch bản nói rõ cần dữ liệu gì, người dùng làm gì, nhận được gì.</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RFP của Marou ghi bốn đầu ra kỳ vọng cho UC2. Mỗi thẻ là tên trong RFP và tính năng tương ứng trên POC. Hàng số dưới cùng là kết quả Business Central tính trên dữ liệu demo ngày chốt 18/09/2026.</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từ dưới lên. Business Central giữ dữ liệu, tính kết quả bằng AL và lưu đề xuất chờ duyệt. Trợ lý NaviWorld đọc kết quả qua API chỉ đọc, trả lời theo vai và chỉ ghi được đề xuất. Azure OpenAI chỉ được gọi khi câu hỏi chưa có mẫu, và không bao giờ ghi vào BC. Tắt trợ lý thì ba lớp trong BC vẫn chạy.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hay gặp: AI nằm ở đâu, sao hỏi mười lần ra cùng một câu. Câu hỏi quen thuộc được trợ lý nhận dạng bằng quy tắc và trả lời bằng số đọc từ BC, nên cùng dữ liệu thì cùng câu trả lời. Model chỉ được gọi cho câu hỏi chưa có mẫu và để viết lại lý do đề xuất. Mọi con số trong câu trả lời phải lấy từ kết quả đọc BC, code kiểm lại sau khi model trả lời.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Đầu vào là dữ liệu chuẩn của BC, không nhập tay thêm gì ngoài ngưỡng. Business Central tính hằng đêm bằng Job Queue, hoặc người dùng bấm Run Inventory Health trên page NWV Agent Setup. Kết quả là một bảng; mọi màn hình và câu trả lời phía sau chỉ đọc bảng đó.</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Cây phân tầng xét từ trên xuống, lô dừng ở bậc đầu tiên khớp. Ngưỡng Marou tự sửa trên NWV Agent Setup, có thể đặt riêng cận date theo nhóm hàng, không sửa code. Bốn tầng Đã quá hạn, Cận date, Chậm luân chuyển, Dư tồn cộng lại là 5.088,4. Số trên biểu đồ là dữ liệu demo ngày chốt 18/09/2026.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 đồ mười kịch bản. Chín kịch bản đầu không cần bật AI. Kịch bản 7 và 8 chụp trên dữ liệu mô phỏng để không ghi đề xuất thật vào BC demo. Mỗi slide sau đi vào một kịch bản với đầu vào, thao tác và đầu ra.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Vai Trang (Supply Chain). Mở tab Sức khỏe tồn kho: con số lớn là giá trị ở bốn tầng có vấn đề. Bấm ô Đã quá hạn để lọc còn 45 dòng; gõ số lô vào ô tìm để lọc một lô. Dòng chốt ngày cho biết kết quả tính theo Work Date nào.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Bấm dòng Croissant - plain tại S0001, lô L260910-33100A. Bảng Nguồn số liệu ghi cách xác định từng chỉ tiêu. Quy tắc phân tầng tô đậm bậc 01 Expired là bậc khớp; các bậc sau ghi Không xét. Phần Đã bán theo ngày ở cuối trang để cộng tay đối chiếu.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Bấm Độ phủ dữ liệu trên thanh công cụ. Mỗi dòng là một phép đo trên BC và nói thiếu thì ảnh hưởng gì. Trên demo có hai dòng Cần xem lại: 68,9% dòng tồn có số lô vì chỉ 9 mã quản lý lô, và lịch sử bán 6 tháng nên chưa bắt được mùa Tết.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Vai Trang bấm Brief. Trợ lý đọc bảng Inventory Health, lấy các dòng điểm rủi ro cao nhất và dựng thẻ. Mỗi thẻ có nút theo tầng: quá hạn thì Đề xuất hủy, cận date thì Đề xuất giảm giá và Chuyển sang cửa hàng bán nhanh. Link mở đúng Item Ledger Entry của lô trong BC. Brief hiện ghép bằng quy tắc, không gọi model.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câu hỏi trên hai vai. Hùng (điều phối) hỏi có mặt hàng nào đã hết hạn chưa: 45 lô ở mọi địa điểm, tổng tồn 704, giá trị 1.273,32, chia theo địa điểm. Hà (quản lý S0010) hỏi cửa hàng tôi có lô nào sắp hết hạn không: 6 lô, chỉ của S0010. Trợ lý không hỏi lại thuộc cửa hàng nào vì lấy từ vai.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Vai Lan (S0001) gõ Choco nuts ở cửa hàng tôi còn bao nhiêu. Trợ lý trả lời cửa hàng mình trước, kể cả khi đã hết, rồi liệt kê nơi còn hàng kèm số ngày đủ bán, để quản lý biết xin chuyển từ đâu.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Chụp trên dữ liệu mô phỏng. Bấm Đề xuất hủy trên thẻ Choco nuts S0002: trợ lý kiểm đề xuất trùng, áp quy định phê duyệt, ghi đề xuất WriteOff trạng thái Proposed vào BC và gửi thẻ cho người duyệt. Bấm Chuyển sang cửa hàng bán nhanh trên lô Carrot cake: trợ lý chọn S0001 vì bán 3 cái mỗi ngày. Hiện đề xuất chuyển ghi cả tồn lô; giới hạn theo lượng bán được trước hạn làm khi triển khai.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Chụp trên dữ liệu mô phỏng. Thẻ đến hộp thư người duyệt ngay khi đề xuất được ghi. Thẻ ghi người đề nghị và quy định áp dụng: hủy hàng ảnh hưởng sổ sách nên luôn cần người duyệt. Từ chối phải ghi lý do. Duyệt chuyển hàng thì BC tạo Transfer Order trạng thái Open. Duyệt hủy hiện ghi nhận quyết định; biên bản và chứng từ hủy nháp hoàn thiện khi triển khai.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Vai Hùng gõ truy xuất lô L260908-33170B. Trợ lý gom Item Ledger Entry của lô theo địa điểm: W0003 nhập mua 22 và xuất hết; S0001 nhận 14, bán 2, còn 12; S0002 nhận 8, bán 6, còn 2. Lô đã quá hạn từ 13/09 mà còn tồn nên trợ lý ghi rõ. Link mở đúng sổ kho và Lot No. Information của lô.</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Kịch bản duy nhất gọi model, khi bật AI trên trang Cài đặt AI. Câu hỏi so sánh tốc độ bán Flavored syrup giữa các cửa hàng 30 ngày qua không có mẫu sẵn. Model chọn đọc gì (8 bước tra cứu), trả lời kèm số lấy từ kết quả đọc. Nút Xem 8 bước tôi đã tra liệt kê từng bước bằng tiếng Việt. Code kiểm số trong câu trả lời theo đúng địa điểm; sai thì thẻ ghi Kiểm tra số. Người dùng đánh giá Trả lời đúng hoặc Chưa đúng.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cơ chế giúp Marou tin kết quả. Đối chiếu độc lập: một bản tính viết riêng bằng Python đọc cùng dữ liệu BC và ra đúng sáu tầng 45, 32, 47, 4, 1, 38. Link BC trên thẻ mở đúng page với bộ lọc mặt hàng, kho, lô. Trợ lý chỉ ghi đề xuất ở trạng thái Proposed. AI có công tắc và trần chi phí, mọi lượt gọi model ghi token.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Cột trái là những gì đã chạy trên môi trường demo và vừa trình bày. Cột giữa là luồng đã có nhưng bước cuối cần theo quy trình thật của Marou. Cột phải là tính năng chưa có, sẽ chọn làm dựa trên khảo sát người dùng.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việc cần Marou tham gia để chuyển UC2 từ demo sang dữ liệu thật: khảo sát người dùng, xác nhận hai điểm dữ liệu, và chốt quy định phê duyệt.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7343A"/>
        </a:solidFill>
        <a:effectLst/>
      </p:bgPr>
    </p:bg>
    <p:spTree>
      <p:nvGrpSpPr>
        <p:cNvPr id="1" name=""/>
        <p:cNvGrpSpPr/>
        <p:nvPr/>
      </p:nvGrpSpPr>
      <p:grpSpPr>
        <a:xfrm>
          <a:off x="0" y="0"/>
          <a:ext cx="0" cy="0"/>
          <a:chOff x="0" y="0"/>
          <a:chExt cx="0" cy="0"/>
        </a:xfrm>
      </p:grpSpPr>
      <p:sp>
        <p:nvSpPr>
          <p:cNvPr id="2" name="Text 0"/>
          <p:cNvSpPr txBox="1"/>
          <p:nvPr/>
        </p:nvSpPr>
        <p:spPr>
          <a:xfrm>
            <a:off x="548640" y="1097280"/>
            <a:ext cx="5943600" cy="320040"/>
          </a:xfrm>
          <a:prstGeom prst="rect">
            <a:avLst/>
          </a:prstGeom>
          <a:noFill/>
          <a:ln/>
        </p:spPr>
        <p:txBody>
          <a:bodyPr wrap="square" lIns="0" tIns="0" rIns="0" bIns="0" rtlCol="0" anchor="ctr"/>
          <a:lstStyle/>
          <a:p>
            <a:pPr marL="0" indent="0">
              <a:buNone/>
            </a:pPr>
            <a:r>
              <a:rPr lang="en-US" sz="1200" b="1" kern="0" spc="300" dirty="0">
                <a:solidFill>
                  <a:srgbClr val="4BACC6"/>
                </a:solidFill>
                <a:latin typeface="Aptos" pitchFamily="34" charset="0"/>
                <a:ea typeface="Aptos" pitchFamily="34" charset="-122"/>
                <a:cs typeface="Aptos" pitchFamily="34" charset="-120"/>
              </a:rPr>
              <a:t>MAROU CHOCOLATE · POC · UC2</a:t>
            </a:r>
            <a:endParaRPr lang="en-US" sz="1200" dirty="0"/>
          </a:p>
        </p:txBody>
      </p:sp>
      <p:sp>
        <p:nvSpPr>
          <p:cNvPr id="3" name="Text 1"/>
          <p:cNvSpPr txBox="1"/>
          <p:nvPr/>
        </p:nvSpPr>
        <p:spPr>
          <a:xfrm>
            <a:off x="548640" y="1600200"/>
            <a:ext cx="5852160" cy="1737360"/>
          </a:xfrm>
          <a:prstGeom prst="rect">
            <a:avLst/>
          </a:prstGeom>
          <a:noFill/>
          <a:ln/>
        </p:spPr>
        <p:txBody>
          <a:bodyPr wrap="square" lIns="0" tIns="0" rIns="0" bIns="0" rtlCol="0" anchor="t"/>
          <a:lstStyle/>
          <a:p>
            <a:pPr marL="0" indent="0">
              <a:buNone/>
            </a:pPr>
            <a:r>
              <a:rPr lang="en-US" sz="4000" b="1" dirty="0">
                <a:solidFill>
                  <a:srgbClr val="FFFFFF"/>
                </a:solidFill>
                <a:latin typeface="Aptos Display" pitchFamily="34" charset="0"/>
                <a:ea typeface="Aptos Display" pitchFamily="34" charset="-122"/>
                <a:cs typeface="Aptos Display" pitchFamily="34" charset="-120"/>
              </a:rPr>
              <a:t>Inventory Health &amp; Traceability</a:t>
            </a:r>
            <a:endParaRPr lang="en-US" sz="4000" dirty="0"/>
          </a:p>
        </p:txBody>
      </p:sp>
      <p:sp>
        <p:nvSpPr>
          <p:cNvPr id="4" name="Text 2"/>
          <p:cNvSpPr txBox="1"/>
          <p:nvPr/>
        </p:nvSpPr>
        <p:spPr>
          <a:xfrm>
            <a:off x="548640" y="3383280"/>
            <a:ext cx="5669280" cy="822960"/>
          </a:xfrm>
          <a:prstGeom prst="rect">
            <a:avLst/>
          </a:prstGeom>
          <a:noFill/>
          <a:ln/>
        </p:spPr>
        <p:txBody>
          <a:bodyPr wrap="square" lIns="0" tIns="0" rIns="0" bIns="0" rtlCol="0" anchor="t"/>
          <a:lstStyle/>
          <a:p>
            <a:pPr marL="0" indent="0">
              <a:buNone/>
            </a:pPr>
            <a:r>
              <a:rPr lang="en-US" sz="1800" dirty="0">
                <a:solidFill>
                  <a:srgbClr val="DAEEF3"/>
                </a:solidFill>
                <a:latin typeface="Aptos" pitchFamily="34" charset="0"/>
                <a:ea typeface="Aptos" pitchFamily="34" charset="-122"/>
                <a:cs typeface="Aptos" pitchFamily="34" charset="-120"/>
              </a:rPr>
              <a:t>Kiến trúc giải pháp và các kịch bản đáp ứng: đầu vào, thao tác, đầu ra</a:t>
            </a:r>
            <a:endParaRPr lang="en-US" sz="1800" dirty="0"/>
          </a:p>
        </p:txBody>
      </p:sp>
      <p:sp>
        <p:nvSpPr>
          <p:cNvPr id="5" name="Text 3"/>
          <p:cNvSpPr txBox="1"/>
          <p:nvPr/>
        </p:nvSpPr>
        <p:spPr>
          <a:xfrm>
            <a:off x="548640" y="5120640"/>
            <a:ext cx="5486400" cy="822960"/>
          </a:xfrm>
          <a:prstGeom prst="rect">
            <a:avLst/>
          </a:prstGeom>
          <a:noFill/>
          <a:ln/>
        </p:spPr>
        <p:txBody>
          <a:bodyPr wrap="square" lIns="0" tIns="0" rIns="0" bIns="0" rtlCol="0" anchor="t"/>
          <a:lstStyle/>
          <a:p>
            <a:pPr marL="0" indent="0">
              <a:spcAft>
                <a:spcPts val="400"/>
              </a:spcAft>
              <a:buNone/>
            </a:pPr>
            <a:r>
              <a:rPr lang="en-US" sz="1100" dirty="0">
                <a:solidFill>
                  <a:srgbClr val="B8C4C9"/>
                </a:solidFill>
                <a:latin typeface="Aptos" pitchFamily="34" charset="0"/>
                <a:ea typeface="Aptos" pitchFamily="34" charset="-122"/>
                <a:cs typeface="Aptos" pitchFamily="34" charset="-120"/>
              </a:rPr>
              <a:t>NaviWorld Vietnam · 15/09/2026</a:t>
            </a:r>
            <a:endParaRPr lang="en-US" sz="1100" dirty="0"/>
          </a:p>
          <a:p>
            <a:pPr marL="0" indent="0">
              <a:spcAft>
                <a:spcPts val="400"/>
              </a:spcAft>
              <a:buNone/>
            </a:pPr>
            <a:r>
              <a:rPr lang="en-US" sz="1100" dirty="0">
                <a:solidFill>
                  <a:srgbClr val="B8C4C9"/>
                </a:solidFill>
                <a:latin typeface="Aptos" pitchFamily="34" charset="0"/>
                <a:ea typeface="Aptos" pitchFamily="34" charset="-122"/>
                <a:cs typeface="Aptos" pitchFamily="34" charset="-120"/>
              </a:rPr>
              <a:t>Hình chụp trên môi trường Business Central demo có LS Central, dữ liệu mô phỏng 5 cửa hàng, 1 kho trung tâm, 21 mặt hàng.</a:t>
            </a:r>
            <a:endParaRPr lang="en-US" sz="1100" dirty="0"/>
          </a:p>
        </p:txBody>
      </p:sp>
      <p:pic>
        <p:nvPicPr>
          <p:cNvPr id="6" name="Image 0" descr="Màn hình Sức khỏe tồn kho"/>
          <p:cNvPicPr>
            <a:picLocks noChangeAspect="1"/>
          </p:cNvPicPr>
          <p:nvPr/>
        </p:nvPicPr>
        <p:blipFill>
          <a:blip r:embed="rId3"/>
          <a:stretch>
            <a:fillRect/>
          </a:stretch>
        </p:blipFill>
        <p:spPr>
          <a:xfrm>
            <a:off x="6720840" y="822960"/>
            <a:ext cx="4937760" cy="47053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100" b="1" kern="0" spc="200" dirty="0">
                <a:solidFill>
                  <a:srgbClr val="4BACC6"/>
                </a:solidFill>
                <a:latin typeface="Aptos" pitchFamily="34" charset="0"/>
                <a:ea typeface="Aptos" pitchFamily="34" charset="-122"/>
                <a:cs typeface="Aptos" pitchFamily="34" charset="-120"/>
              </a:rPr>
              <a:t>PHẠM VI</a:t>
            </a:r>
            <a:endParaRPr lang="en-US" sz="1100" dirty="0"/>
          </a:p>
        </p:txBody>
      </p:sp>
      <p:sp>
        <p:nvSpPr>
          <p:cNvPr id="3" name="Text 1"/>
          <p:cNvSpPr txBox="1"/>
          <p:nvPr/>
        </p:nvSpPr>
        <p:spPr>
          <a:xfrm>
            <a:off x="548640" y="566928"/>
            <a:ext cx="11094415" cy="640080"/>
          </a:xfrm>
          <a:prstGeom prst="rect">
            <a:avLst/>
          </a:prstGeom>
          <a:noFill/>
          <a:ln/>
        </p:spPr>
        <p:txBody>
          <a:bodyPr wrap="square" lIns="0" tIns="0" rIns="0" bIns="0" rtlCol="0" anchor="t"/>
          <a:lstStyle/>
          <a:p>
            <a:pPr marL="0" indent="0">
              <a:buNone/>
            </a:pPr>
            <a:r>
              <a:rPr lang="en-US" sz="2800" b="1" dirty="0">
                <a:solidFill>
                  <a:srgbClr val="27343A"/>
                </a:solidFill>
                <a:latin typeface="Aptos Display" pitchFamily="34" charset="0"/>
                <a:ea typeface="Aptos Display" pitchFamily="34" charset="-122"/>
                <a:cs typeface="Aptos Display" pitchFamily="34" charset="-120"/>
              </a:rPr>
              <a:t>RFP kỳ vọng bốn đầu ra, POC đã có cả bốn</a:t>
            </a:r>
            <a:endParaRPr lang="en-US" sz="2800" dirty="0"/>
          </a:p>
        </p:txBody>
      </p:sp>
      <p:sp>
        <p:nvSpPr>
          <p:cNvPr id="4" name="Text 2"/>
          <p:cNvSpPr txBox="1"/>
          <p:nvPr/>
        </p:nvSpPr>
        <p:spPr>
          <a:xfrm>
            <a:off x="548640" y="6473952"/>
            <a:ext cx="5486400" cy="228600"/>
          </a:xfrm>
          <a:prstGeom prst="rect">
            <a:avLst/>
          </a:prstGeom>
          <a:noFill/>
          <a:ln/>
        </p:spPr>
        <p:txBody>
          <a:bodyPr wrap="square" lIns="0" tIns="0" rIns="0" bIns="0" rtlCol="0" anchor="ctr"/>
          <a:lstStyle/>
          <a:p>
            <a:pPr marL="0" indent="0">
              <a:buNone/>
            </a:pPr>
            <a:r>
              <a:rPr lang="en-US" sz="900" dirty="0">
                <a:solidFill>
                  <a:srgbClr val="5F6B70"/>
                </a:solidFill>
                <a:latin typeface="Aptos" pitchFamily="34" charset="0"/>
                <a:ea typeface="Aptos" pitchFamily="34" charset="-122"/>
                <a:cs typeface="Aptos" pitchFamily="34" charset="-120"/>
              </a:rPr>
              <a:t>UC2 Inventory Health &amp; Traceability</a:t>
            </a:r>
            <a:endParaRPr lang="en-US" sz="900" dirty="0"/>
          </a:p>
        </p:txBody>
      </p:sp>
      <p:sp>
        <p:nvSpPr>
          <p:cNvPr id="5" name="Text 3"/>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5F6B70"/>
                </a:solidFill>
                <a:latin typeface="Aptos" pitchFamily="34" charset="0"/>
                <a:ea typeface="Aptos" pitchFamily="34" charset="-122"/>
                <a:cs typeface="Aptos" pitchFamily="34" charset="-120"/>
              </a:rPr>
              <a:t>2</a:t>
            </a:r>
            <a:endParaRPr lang="en-US" sz="900" dirty="0"/>
          </a:p>
        </p:txBody>
      </p:sp>
      <p:sp>
        <p:nvSpPr>
          <p:cNvPr id="7" name="Shape 4"/>
          <p:cNvSpPr/>
          <p:nvPr/>
        </p:nvSpPr>
        <p:spPr>
          <a:xfrm>
            <a:off x="548640" y="1417320"/>
            <a:ext cx="2602154" cy="2788920"/>
          </a:xfrm>
          <a:prstGeom prst="roundRect">
            <a:avLst>
              <a:gd name="adj" fmla="val 2811"/>
            </a:avLst>
          </a:prstGeom>
          <a:solidFill>
            <a:srgbClr val="F7FAFB"/>
          </a:solidFill>
          <a:ln w="12700">
            <a:solidFill>
              <a:srgbClr val="F7FAFB"/>
            </a:solidFill>
            <a:prstDash val="solid"/>
          </a:ln>
        </p:spPr>
        <p:txBody>
          <a:bodyPr/>
          <a:lstStyle/>
          <a:p>
            <a:endParaRPr lang="en-US"/>
          </a:p>
        </p:txBody>
      </p:sp>
      <p:sp>
        <p:nvSpPr>
          <p:cNvPr id="8" name="Shape 5"/>
          <p:cNvSpPr/>
          <p:nvPr/>
        </p:nvSpPr>
        <p:spPr>
          <a:xfrm>
            <a:off x="777240" y="1645920"/>
            <a:ext cx="457200" cy="457200"/>
          </a:xfrm>
          <a:prstGeom prst="ellipse">
            <a:avLst/>
          </a:prstGeom>
          <a:solidFill>
            <a:srgbClr val="4BACC6"/>
          </a:solidFill>
          <a:ln w="12700">
            <a:solidFill>
              <a:srgbClr val="4BACC6"/>
            </a:solidFill>
            <a:prstDash val="solid"/>
          </a:ln>
        </p:spPr>
        <p:txBody>
          <a:bodyPr/>
          <a:lstStyle/>
          <a:p>
            <a:endParaRPr lang="en-US"/>
          </a:p>
        </p:txBody>
      </p:sp>
      <p:sp>
        <p:nvSpPr>
          <p:cNvPr id="9" name="Text 6"/>
          <p:cNvSpPr txBox="1"/>
          <p:nvPr/>
        </p:nvSpPr>
        <p:spPr>
          <a:xfrm>
            <a:off x="777240" y="164592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0" name="Text 7"/>
          <p:cNvSpPr txBox="1"/>
          <p:nvPr/>
        </p:nvSpPr>
        <p:spPr>
          <a:xfrm>
            <a:off x="777240" y="2240280"/>
            <a:ext cx="2144954" cy="685800"/>
          </a:xfrm>
          <a:prstGeom prst="rect">
            <a:avLst/>
          </a:prstGeom>
          <a:noFill/>
          <a:ln/>
        </p:spPr>
        <p:txBody>
          <a:bodyPr wrap="square" lIns="0" tIns="0" rIns="0" bIns="0" rtlCol="0" anchor="t"/>
          <a:lstStyle/>
          <a:p>
            <a:pPr marL="0" indent="0">
              <a:buNone/>
            </a:pPr>
            <a:r>
              <a:rPr lang="en-US" sz="1500" b="1" dirty="0">
                <a:solidFill>
                  <a:srgbClr val="27343A"/>
                </a:solidFill>
                <a:latin typeface="Aptos" pitchFamily="34" charset="0"/>
                <a:ea typeface="Aptos" pitchFamily="34" charset="-122"/>
                <a:cs typeface="Aptos" pitchFamily="34" charset="-120"/>
              </a:rPr>
              <a:t>Inventory health dashboard</a:t>
            </a:r>
            <a:endParaRPr lang="en-US" sz="1500" dirty="0"/>
          </a:p>
        </p:txBody>
      </p:sp>
      <p:sp>
        <p:nvSpPr>
          <p:cNvPr id="11" name="Text 8"/>
          <p:cNvSpPr txBox="1"/>
          <p:nvPr/>
        </p:nvSpPr>
        <p:spPr>
          <a:xfrm>
            <a:off x="777240" y="2926080"/>
            <a:ext cx="2144954" cy="1188720"/>
          </a:xfrm>
          <a:prstGeom prst="rect">
            <a:avLst/>
          </a:prstGeom>
          <a:noFill/>
          <a:ln/>
        </p:spPr>
        <p:txBody>
          <a:bodyPr wrap="square" lIns="0" tIns="0" rIns="0" bIns="0" rtlCol="0" anchor="t"/>
          <a:lstStyle/>
          <a:p>
            <a:pPr marL="0" indent="0">
              <a:buNone/>
            </a:pPr>
            <a:r>
              <a:rPr lang="en-US" sz="1300" dirty="0">
                <a:solidFill>
                  <a:srgbClr val="27343A"/>
                </a:solidFill>
                <a:latin typeface="Aptos" pitchFamily="34" charset="0"/>
                <a:ea typeface="Aptos" pitchFamily="34" charset="-122"/>
                <a:cs typeface="Aptos" pitchFamily="34" charset="-120"/>
              </a:rPr>
              <a:t>Tab Sức khỏe tồn kho: giá trị và số dòng theo 6 tầng, danh sách lô xếp theo điểm rủi ro, chi tiết nguồn số của từng lô.</a:t>
            </a:r>
            <a:endParaRPr lang="en-US" sz="1300" dirty="0"/>
          </a:p>
        </p:txBody>
      </p:sp>
      <p:sp>
        <p:nvSpPr>
          <p:cNvPr id="12" name="Shape 9"/>
          <p:cNvSpPr/>
          <p:nvPr/>
        </p:nvSpPr>
        <p:spPr>
          <a:xfrm>
            <a:off x="3379394" y="1417320"/>
            <a:ext cx="2602154" cy="2788920"/>
          </a:xfrm>
          <a:prstGeom prst="roundRect">
            <a:avLst>
              <a:gd name="adj" fmla="val 2811"/>
            </a:avLst>
          </a:prstGeom>
          <a:solidFill>
            <a:srgbClr val="F7FAFB"/>
          </a:solidFill>
          <a:ln w="12700">
            <a:solidFill>
              <a:srgbClr val="F7FAFB"/>
            </a:solidFill>
            <a:prstDash val="solid"/>
          </a:ln>
        </p:spPr>
        <p:txBody>
          <a:bodyPr/>
          <a:lstStyle/>
          <a:p>
            <a:endParaRPr lang="en-US"/>
          </a:p>
        </p:txBody>
      </p:sp>
      <p:sp>
        <p:nvSpPr>
          <p:cNvPr id="13" name="Shape 10"/>
          <p:cNvSpPr/>
          <p:nvPr/>
        </p:nvSpPr>
        <p:spPr>
          <a:xfrm>
            <a:off x="3607994" y="1645920"/>
            <a:ext cx="457200" cy="457200"/>
          </a:xfrm>
          <a:prstGeom prst="ellipse">
            <a:avLst/>
          </a:prstGeom>
          <a:solidFill>
            <a:srgbClr val="4BACC6"/>
          </a:solidFill>
          <a:ln w="12700">
            <a:solidFill>
              <a:srgbClr val="4BACC6"/>
            </a:solidFill>
            <a:prstDash val="solid"/>
          </a:ln>
        </p:spPr>
        <p:txBody>
          <a:bodyPr/>
          <a:lstStyle/>
          <a:p>
            <a:endParaRPr lang="en-US"/>
          </a:p>
        </p:txBody>
      </p:sp>
      <p:sp>
        <p:nvSpPr>
          <p:cNvPr id="14" name="Text 11"/>
          <p:cNvSpPr txBox="1"/>
          <p:nvPr/>
        </p:nvSpPr>
        <p:spPr>
          <a:xfrm>
            <a:off x="3607994" y="164592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5" name="Text 12"/>
          <p:cNvSpPr txBox="1"/>
          <p:nvPr/>
        </p:nvSpPr>
        <p:spPr>
          <a:xfrm>
            <a:off x="3607994" y="2240280"/>
            <a:ext cx="2144954" cy="685800"/>
          </a:xfrm>
          <a:prstGeom prst="rect">
            <a:avLst/>
          </a:prstGeom>
          <a:noFill/>
          <a:ln/>
        </p:spPr>
        <p:txBody>
          <a:bodyPr wrap="square" lIns="0" tIns="0" rIns="0" bIns="0" rtlCol="0" anchor="t"/>
          <a:lstStyle/>
          <a:p>
            <a:pPr marL="0" indent="0">
              <a:buNone/>
            </a:pPr>
            <a:r>
              <a:rPr lang="en-US" sz="1500" b="1" dirty="0">
                <a:solidFill>
                  <a:srgbClr val="27343A"/>
                </a:solidFill>
                <a:latin typeface="Aptos" pitchFamily="34" charset="0"/>
                <a:ea typeface="Aptos" pitchFamily="34" charset="-122"/>
                <a:cs typeface="Aptos" pitchFamily="34" charset="-120"/>
              </a:rPr>
              <a:t>Aging and expiry alert</a:t>
            </a:r>
            <a:endParaRPr lang="en-US" sz="1500" dirty="0"/>
          </a:p>
        </p:txBody>
      </p:sp>
      <p:sp>
        <p:nvSpPr>
          <p:cNvPr id="16" name="Text 13"/>
          <p:cNvSpPr txBox="1"/>
          <p:nvPr/>
        </p:nvSpPr>
        <p:spPr>
          <a:xfrm>
            <a:off x="3607994" y="2926080"/>
            <a:ext cx="2144954" cy="1188720"/>
          </a:xfrm>
          <a:prstGeom prst="rect">
            <a:avLst/>
          </a:prstGeom>
          <a:noFill/>
          <a:ln/>
        </p:spPr>
        <p:txBody>
          <a:bodyPr wrap="square" lIns="0" tIns="0" rIns="0" bIns="0" rtlCol="0" anchor="t"/>
          <a:lstStyle/>
          <a:p>
            <a:pPr marL="0" indent="0">
              <a:buNone/>
            </a:pPr>
            <a:r>
              <a:rPr lang="en-US" sz="1300" dirty="0">
                <a:solidFill>
                  <a:srgbClr val="27343A"/>
                </a:solidFill>
                <a:latin typeface="Aptos" pitchFamily="34" charset="0"/>
                <a:ea typeface="Aptos" pitchFamily="34" charset="-122"/>
                <a:cs typeface="Aptos" pitchFamily="34" charset="-120"/>
              </a:rPr>
              <a:t>Tầng Đã quá hạn và Cận date; hỏi hàng hết hạn bằng lời, mỗi vai thấy đúng phạm vi của mình; brief buổi sáng.</a:t>
            </a:r>
            <a:endParaRPr lang="en-US" sz="1300" dirty="0"/>
          </a:p>
        </p:txBody>
      </p:sp>
      <p:sp>
        <p:nvSpPr>
          <p:cNvPr id="17" name="Shape 14"/>
          <p:cNvSpPr/>
          <p:nvPr/>
        </p:nvSpPr>
        <p:spPr>
          <a:xfrm>
            <a:off x="6210148" y="1417320"/>
            <a:ext cx="2602154" cy="2788920"/>
          </a:xfrm>
          <a:prstGeom prst="roundRect">
            <a:avLst>
              <a:gd name="adj" fmla="val 2811"/>
            </a:avLst>
          </a:prstGeom>
          <a:solidFill>
            <a:srgbClr val="F7FAFB"/>
          </a:solidFill>
          <a:ln w="12700">
            <a:solidFill>
              <a:srgbClr val="F7FAFB"/>
            </a:solidFill>
            <a:prstDash val="solid"/>
          </a:ln>
        </p:spPr>
        <p:txBody>
          <a:bodyPr/>
          <a:lstStyle/>
          <a:p>
            <a:endParaRPr lang="en-US"/>
          </a:p>
        </p:txBody>
      </p:sp>
      <p:sp>
        <p:nvSpPr>
          <p:cNvPr id="18" name="Shape 15"/>
          <p:cNvSpPr/>
          <p:nvPr/>
        </p:nvSpPr>
        <p:spPr>
          <a:xfrm>
            <a:off x="6438748" y="1645920"/>
            <a:ext cx="457200" cy="457200"/>
          </a:xfrm>
          <a:prstGeom prst="ellipse">
            <a:avLst/>
          </a:prstGeom>
          <a:solidFill>
            <a:srgbClr val="4BACC6"/>
          </a:solidFill>
          <a:ln w="12700">
            <a:solidFill>
              <a:srgbClr val="4BACC6"/>
            </a:solidFill>
            <a:prstDash val="solid"/>
          </a:ln>
        </p:spPr>
        <p:txBody>
          <a:bodyPr/>
          <a:lstStyle/>
          <a:p>
            <a:endParaRPr lang="en-US"/>
          </a:p>
        </p:txBody>
      </p:sp>
      <p:sp>
        <p:nvSpPr>
          <p:cNvPr id="19" name="Text 16"/>
          <p:cNvSpPr txBox="1"/>
          <p:nvPr/>
        </p:nvSpPr>
        <p:spPr>
          <a:xfrm>
            <a:off x="6438748" y="164592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0" name="Text 17"/>
          <p:cNvSpPr txBox="1"/>
          <p:nvPr/>
        </p:nvSpPr>
        <p:spPr>
          <a:xfrm>
            <a:off x="6438748" y="2240280"/>
            <a:ext cx="2144954" cy="685800"/>
          </a:xfrm>
          <a:prstGeom prst="rect">
            <a:avLst/>
          </a:prstGeom>
          <a:noFill/>
          <a:ln/>
        </p:spPr>
        <p:txBody>
          <a:bodyPr wrap="square" lIns="0" tIns="0" rIns="0" bIns="0" rtlCol="0" anchor="t"/>
          <a:lstStyle/>
          <a:p>
            <a:pPr marL="0" indent="0">
              <a:buNone/>
            </a:pPr>
            <a:r>
              <a:rPr lang="en-US" sz="1500" b="1" dirty="0">
                <a:solidFill>
                  <a:srgbClr val="27343A"/>
                </a:solidFill>
                <a:latin typeface="Aptos" pitchFamily="34" charset="0"/>
                <a:ea typeface="Aptos" pitchFamily="34" charset="-122"/>
                <a:cs typeface="Aptos" pitchFamily="34" charset="-120"/>
              </a:rPr>
              <a:t>Stock-out risk</a:t>
            </a:r>
            <a:endParaRPr lang="en-US" sz="1500" dirty="0"/>
          </a:p>
        </p:txBody>
      </p:sp>
      <p:sp>
        <p:nvSpPr>
          <p:cNvPr id="21" name="Text 18"/>
          <p:cNvSpPr txBox="1"/>
          <p:nvPr/>
        </p:nvSpPr>
        <p:spPr>
          <a:xfrm>
            <a:off x="6438748" y="2926080"/>
            <a:ext cx="2144954" cy="1188720"/>
          </a:xfrm>
          <a:prstGeom prst="rect">
            <a:avLst/>
          </a:prstGeom>
          <a:noFill/>
          <a:ln/>
        </p:spPr>
        <p:txBody>
          <a:bodyPr wrap="square" lIns="0" tIns="0" rIns="0" bIns="0" rtlCol="0" anchor="t"/>
          <a:lstStyle/>
          <a:p>
            <a:pPr marL="0" indent="0">
              <a:buNone/>
            </a:pPr>
            <a:r>
              <a:rPr lang="en-US" sz="1300" dirty="0">
                <a:solidFill>
                  <a:srgbClr val="27343A"/>
                </a:solidFill>
                <a:latin typeface="Aptos" pitchFamily="34" charset="0"/>
                <a:ea typeface="Aptos" pitchFamily="34" charset="-122"/>
                <a:cs typeface="Aptos" pitchFamily="34" charset="-120"/>
              </a:rPr>
              <a:t>Tầng Sắp hết hàng khi số ngày đủ bán dưới 7; hỏi tồn một món ở cửa hàng mình và nơi còn hàng.</a:t>
            </a:r>
            <a:endParaRPr lang="en-US" sz="1300" dirty="0"/>
          </a:p>
        </p:txBody>
      </p:sp>
      <p:sp>
        <p:nvSpPr>
          <p:cNvPr id="22" name="Shape 19"/>
          <p:cNvSpPr/>
          <p:nvPr/>
        </p:nvSpPr>
        <p:spPr>
          <a:xfrm>
            <a:off x="9040901" y="1417320"/>
            <a:ext cx="2602154" cy="2788920"/>
          </a:xfrm>
          <a:prstGeom prst="roundRect">
            <a:avLst>
              <a:gd name="adj" fmla="val 2811"/>
            </a:avLst>
          </a:prstGeom>
          <a:solidFill>
            <a:srgbClr val="F7FAFB"/>
          </a:solidFill>
          <a:ln w="12700">
            <a:solidFill>
              <a:srgbClr val="F7FAFB"/>
            </a:solidFill>
            <a:prstDash val="solid"/>
          </a:ln>
        </p:spPr>
        <p:txBody>
          <a:bodyPr/>
          <a:lstStyle/>
          <a:p>
            <a:endParaRPr lang="en-US"/>
          </a:p>
        </p:txBody>
      </p:sp>
      <p:sp>
        <p:nvSpPr>
          <p:cNvPr id="23" name="Shape 20"/>
          <p:cNvSpPr/>
          <p:nvPr/>
        </p:nvSpPr>
        <p:spPr>
          <a:xfrm>
            <a:off x="9269501" y="1645920"/>
            <a:ext cx="457200" cy="457200"/>
          </a:xfrm>
          <a:prstGeom prst="ellipse">
            <a:avLst/>
          </a:prstGeom>
          <a:solidFill>
            <a:srgbClr val="4BACC6"/>
          </a:solidFill>
          <a:ln w="12700">
            <a:solidFill>
              <a:srgbClr val="4BACC6"/>
            </a:solidFill>
            <a:prstDash val="solid"/>
          </a:ln>
        </p:spPr>
        <p:txBody>
          <a:bodyPr/>
          <a:lstStyle/>
          <a:p>
            <a:endParaRPr lang="en-US"/>
          </a:p>
        </p:txBody>
      </p:sp>
      <p:sp>
        <p:nvSpPr>
          <p:cNvPr id="24" name="Text 21"/>
          <p:cNvSpPr txBox="1"/>
          <p:nvPr/>
        </p:nvSpPr>
        <p:spPr>
          <a:xfrm>
            <a:off x="9269501" y="164592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25" name="Text 22"/>
          <p:cNvSpPr txBox="1"/>
          <p:nvPr/>
        </p:nvSpPr>
        <p:spPr>
          <a:xfrm>
            <a:off x="9269501" y="2240280"/>
            <a:ext cx="2144954" cy="685800"/>
          </a:xfrm>
          <a:prstGeom prst="rect">
            <a:avLst/>
          </a:prstGeom>
          <a:noFill/>
          <a:ln/>
        </p:spPr>
        <p:txBody>
          <a:bodyPr wrap="square" lIns="0" tIns="0" rIns="0" bIns="0" rtlCol="0" anchor="t"/>
          <a:lstStyle/>
          <a:p>
            <a:pPr marL="0" indent="0">
              <a:buNone/>
            </a:pPr>
            <a:r>
              <a:rPr lang="en-US" sz="1500" b="1" dirty="0">
                <a:solidFill>
                  <a:srgbClr val="27343A"/>
                </a:solidFill>
                <a:latin typeface="Aptos" pitchFamily="34" charset="0"/>
                <a:ea typeface="Aptos" pitchFamily="34" charset="-122"/>
                <a:cs typeface="Aptos" pitchFamily="34" charset="-120"/>
              </a:rPr>
              <a:t>Traceability view</a:t>
            </a:r>
            <a:endParaRPr lang="en-US" sz="1500" dirty="0"/>
          </a:p>
        </p:txBody>
      </p:sp>
      <p:sp>
        <p:nvSpPr>
          <p:cNvPr id="26" name="Text 23"/>
          <p:cNvSpPr txBox="1"/>
          <p:nvPr/>
        </p:nvSpPr>
        <p:spPr>
          <a:xfrm>
            <a:off x="9269501" y="2926080"/>
            <a:ext cx="2144954" cy="1188720"/>
          </a:xfrm>
          <a:prstGeom prst="rect">
            <a:avLst/>
          </a:prstGeom>
          <a:noFill/>
          <a:ln/>
        </p:spPr>
        <p:txBody>
          <a:bodyPr wrap="square" lIns="0" tIns="0" rIns="0" bIns="0" rtlCol="0" anchor="t"/>
          <a:lstStyle/>
          <a:p>
            <a:pPr marL="0" indent="0">
              <a:buNone/>
            </a:pPr>
            <a:r>
              <a:rPr lang="en-US" sz="1300" dirty="0">
                <a:solidFill>
                  <a:srgbClr val="27343A"/>
                </a:solidFill>
                <a:latin typeface="Aptos" pitchFamily="34" charset="0"/>
                <a:ea typeface="Aptos" pitchFamily="34" charset="-122"/>
                <a:cs typeface="Aptos" pitchFamily="34" charset="-120"/>
              </a:rPr>
              <a:t>Truy xuất lô: nhập ở đâu, chuyển đi đâu, đã bán bao nhiêu, còn ở đâu, thu hồi lấy lại ở đâu.</a:t>
            </a:r>
            <a:endParaRPr lang="en-US" sz="1300" dirty="0"/>
          </a:p>
        </p:txBody>
      </p:sp>
      <p:sp>
        <p:nvSpPr>
          <p:cNvPr id="27" name="Text 24"/>
          <p:cNvSpPr txBox="1"/>
          <p:nvPr/>
        </p:nvSpPr>
        <p:spPr>
          <a:xfrm>
            <a:off x="548640" y="4526280"/>
            <a:ext cx="2602154" cy="868680"/>
          </a:xfrm>
          <a:prstGeom prst="rect">
            <a:avLst/>
          </a:prstGeom>
          <a:noFill/>
          <a:ln/>
        </p:spPr>
        <p:txBody>
          <a:bodyPr wrap="square" lIns="0" tIns="0" rIns="0" bIns="0" rtlCol="0" anchor="b"/>
          <a:lstStyle/>
          <a:p>
            <a:pPr marL="0" indent="0">
              <a:buNone/>
            </a:pPr>
            <a:r>
              <a:rPr lang="en-US" sz="4400" b="1" dirty="0">
                <a:solidFill>
                  <a:srgbClr val="4BACC6"/>
                </a:solidFill>
                <a:latin typeface="Aptos Display" pitchFamily="34" charset="0"/>
                <a:ea typeface="Aptos Display" pitchFamily="34" charset="-122"/>
                <a:cs typeface="Aptos Display" pitchFamily="34" charset="-120"/>
              </a:rPr>
              <a:t>167</a:t>
            </a:r>
            <a:endParaRPr lang="en-US" sz="4400" dirty="0"/>
          </a:p>
        </p:txBody>
      </p:sp>
      <p:sp>
        <p:nvSpPr>
          <p:cNvPr id="28" name="Text 25"/>
          <p:cNvSpPr txBox="1"/>
          <p:nvPr/>
        </p:nvSpPr>
        <p:spPr>
          <a:xfrm>
            <a:off x="548640" y="5440680"/>
            <a:ext cx="2510714" cy="548640"/>
          </a:xfrm>
          <a:prstGeom prst="rect">
            <a:avLst/>
          </a:prstGeom>
          <a:noFill/>
          <a:ln/>
        </p:spPr>
        <p:txBody>
          <a:bodyPr wrap="square" lIns="0" tIns="0" rIns="0" bIns="0" rtlCol="0" anchor="t"/>
          <a:lstStyle/>
          <a:p>
            <a:pPr marL="0" indent="0">
              <a:buNone/>
            </a:pPr>
            <a:r>
              <a:rPr lang="en-US" sz="1200" dirty="0">
                <a:solidFill>
                  <a:srgbClr val="5F6B70"/>
                </a:solidFill>
                <a:latin typeface="Aptos" pitchFamily="34" charset="0"/>
                <a:ea typeface="Aptos" pitchFamily="34" charset="-122"/>
                <a:cs typeface="Aptos" pitchFamily="34" charset="-120"/>
              </a:rPr>
              <a:t>dòng kết quả theo mặt hàng, địa điểm, lô</a:t>
            </a:r>
            <a:endParaRPr lang="en-US" sz="1200" dirty="0"/>
          </a:p>
        </p:txBody>
      </p:sp>
      <p:sp>
        <p:nvSpPr>
          <p:cNvPr id="29" name="Text 26"/>
          <p:cNvSpPr txBox="1"/>
          <p:nvPr/>
        </p:nvSpPr>
        <p:spPr>
          <a:xfrm>
            <a:off x="3379394" y="4526280"/>
            <a:ext cx="2602154" cy="868680"/>
          </a:xfrm>
          <a:prstGeom prst="rect">
            <a:avLst/>
          </a:prstGeom>
          <a:noFill/>
          <a:ln/>
        </p:spPr>
        <p:txBody>
          <a:bodyPr wrap="square" lIns="0" tIns="0" rIns="0" bIns="0" rtlCol="0" anchor="b"/>
          <a:lstStyle/>
          <a:p>
            <a:pPr marL="0" indent="0">
              <a:buNone/>
            </a:pPr>
            <a:r>
              <a:rPr lang="en-US" sz="4400" b="1" dirty="0">
                <a:solidFill>
                  <a:srgbClr val="4BACC6"/>
                </a:solidFill>
                <a:latin typeface="Aptos Display" pitchFamily="34" charset="0"/>
                <a:ea typeface="Aptos Display" pitchFamily="34" charset="-122"/>
                <a:cs typeface="Aptos Display" pitchFamily="34" charset="-120"/>
              </a:rPr>
              <a:t>6</a:t>
            </a:r>
            <a:endParaRPr lang="en-US" sz="4400" dirty="0"/>
          </a:p>
        </p:txBody>
      </p:sp>
      <p:sp>
        <p:nvSpPr>
          <p:cNvPr id="30" name="Text 27"/>
          <p:cNvSpPr txBox="1"/>
          <p:nvPr/>
        </p:nvSpPr>
        <p:spPr>
          <a:xfrm>
            <a:off x="3379394" y="5440680"/>
            <a:ext cx="2510714" cy="548640"/>
          </a:xfrm>
          <a:prstGeom prst="rect">
            <a:avLst/>
          </a:prstGeom>
          <a:noFill/>
          <a:ln/>
        </p:spPr>
        <p:txBody>
          <a:bodyPr wrap="square" lIns="0" tIns="0" rIns="0" bIns="0" rtlCol="0" anchor="t"/>
          <a:lstStyle/>
          <a:p>
            <a:pPr marL="0" indent="0">
              <a:buNone/>
            </a:pPr>
            <a:r>
              <a:rPr lang="en-US" sz="1200" dirty="0">
                <a:solidFill>
                  <a:srgbClr val="5F6B70"/>
                </a:solidFill>
                <a:latin typeface="Aptos" pitchFamily="34" charset="0"/>
                <a:ea typeface="Aptos" pitchFamily="34" charset="-122"/>
                <a:cs typeface="Aptos" pitchFamily="34" charset="-120"/>
              </a:rPr>
              <a:t>tầng sức khỏe tồn kho</a:t>
            </a:r>
            <a:endParaRPr lang="en-US" sz="1200" dirty="0"/>
          </a:p>
        </p:txBody>
      </p:sp>
      <p:sp>
        <p:nvSpPr>
          <p:cNvPr id="31" name="Text 28"/>
          <p:cNvSpPr txBox="1"/>
          <p:nvPr/>
        </p:nvSpPr>
        <p:spPr>
          <a:xfrm>
            <a:off x="6210148" y="4526280"/>
            <a:ext cx="2602154" cy="868680"/>
          </a:xfrm>
          <a:prstGeom prst="rect">
            <a:avLst/>
          </a:prstGeom>
          <a:noFill/>
          <a:ln/>
        </p:spPr>
        <p:txBody>
          <a:bodyPr wrap="square" lIns="0" tIns="0" rIns="0" bIns="0" rtlCol="0" anchor="b"/>
          <a:lstStyle/>
          <a:p>
            <a:pPr marL="0" indent="0">
              <a:buNone/>
            </a:pPr>
            <a:r>
              <a:rPr lang="en-US" sz="4400" b="1" dirty="0">
                <a:solidFill>
                  <a:srgbClr val="C89B72"/>
                </a:solidFill>
                <a:latin typeface="Aptos Display" pitchFamily="34" charset="0"/>
                <a:ea typeface="Aptos Display" pitchFamily="34" charset="-122"/>
                <a:cs typeface="Aptos Display" pitchFamily="34" charset="-120"/>
              </a:rPr>
              <a:t>5.088,4</a:t>
            </a:r>
            <a:endParaRPr lang="en-US" sz="4400" dirty="0"/>
          </a:p>
        </p:txBody>
      </p:sp>
      <p:sp>
        <p:nvSpPr>
          <p:cNvPr id="32" name="Text 29"/>
          <p:cNvSpPr txBox="1"/>
          <p:nvPr/>
        </p:nvSpPr>
        <p:spPr>
          <a:xfrm>
            <a:off x="6210148" y="5440680"/>
            <a:ext cx="2510714" cy="548640"/>
          </a:xfrm>
          <a:prstGeom prst="rect">
            <a:avLst/>
          </a:prstGeom>
          <a:noFill/>
          <a:ln/>
        </p:spPr>
        <p:txBody>
          <a:bodyPr wrap="square" lIns="0" tIns="0" rIns="0" bIns="0" rtlCol="0" anchor="t"/>
          <a:lstStyle/>
          <a:p>
            <a:pPr marL="0" indent="0">
              <a:buNone/>
            </a:pPr>
            <a:r>
              <a:rPr lang="en-US" sz="1200" dirty="0">
                <a:solidFill>
                  <a:srgbClr val="5F6B70"/>
                </a:solidFill>
                <a:latin typeface="Aptos" pitchFamily="34" charset="0"/>
                <a:ea typeface="Aptos" pitchFamily="34" charset="-122"/>
                <a:cs typeface="Aptos" pitchFamily="34" charset="-120"/>
              </a:rPr>
              <a:t>giá trị ở bốn tầng có vấn đề, 38,1% tồn kho</a:t>
            </a:r>
            <a:endParaRPr lang="en-US" sz="1200" dirty="0"/>
          </a:p>
        </p:txBody>
      </p:sp>
      <p:sp>
        <p:nvSpPr>
          <p:cNvPr id="33" name="Text 30"/>
          <p:cNvSpPr txBox="1"/>
          <p:nvPr/>
        </p:nvSpPr>
        <p:spPr>
          <a:xfrm>
            <a:off x="9040901" y="4526280"/>
            <a:ext cx="2602154" cy="868680"/>
          </a:xfrm>
          <a:prstGeom prst="rect">
            <a:avLst/>
          </a:prstGeom>
          <a:noFill/>
          <a:ln/>
        </p:spPr>
        <p:txBody>
          <a:bodyPr wrap="square" lIns="0" tIns="0" rIns="0" bIns="0" rtlCol="0" anchor="b"/>
          <a:lstStyle/>
          <a:p>
            <a:pPr marL="0" indent="0">
              <a:buNone/>
            </a:pPr>
            <a:r>
              <a:rPr lang="en-US" sz="4400" b="1" dirty="0">
                <a:solidFill>
                  <a:srgbClr val="4BACC6"/>
                </a:solidFill>
                <a:latin typeface="Aptos Display" pitchFamily="34" charset="0"/>
                <a:ea typeface="Aptos Display" pitchFamily="34" charset="-122"/>
                <a:cs typeface="Aptos Display" pitchFamily="34" charset="-120"/>
              </a:rPr>
              <a:t>6/6</a:t>
            </a:r>
            <a:endParaRPr lang="en-US" sz="4400" dirty="0"/>
          </a:p>
        </p:txBody>
      </p:sp>
      <p:sp>
        <p:nvSpPr>
          <p:cNvPr id="34" name="Text 31"/>
          <p:cNvSpPr txBox="1"/>
          <p:nvPr/>
        </p:nvSpPr>
        <p:spPr>
          <a:xfrm>
            <a:off x="9040901" y="5440680"/>
            <a:ext cx="2510714" cy="548640"/>
          </a:xfrm>
          <a:prstGeom prst="rect">
            <a:avLst/>
          </a:prstGeom>
          <a:noFill/>
          <a:ln/>
        </p:spPr>
        <p:txBody>
          <a:bodyPr wrap="square" lIns="0" tIns="0" rIns="0" bIns="0" rtlCol="0" anchor="t"/>
          <a:lstStyle/>
          <a:p>
            <a:pPr marL="0" indent="0">
              <a:buNone/>
            </a:pPr>
            <a:r>
              <a:rPr lang="en-US" sz="1200" dirty="0">
                <a:solidFill>
                  <a:srgbClr val="5F6B70"/>
                </a:solidFill>
                <a:latin typeface="Aptos" pitchFamily="34" charset="0"/>
                <a:ea typeface="Aptos" pitchFamily="34" charset="-122"/>
                <a:cs typeface="Aptos" pitchFamily="34" charset="-120"/>
              </a:rPr>
              <a:t>tầng khớp khi đối chiếu độc lập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100" b="1" kern="0" spc="200" dirty="0">
                <a:solidFill>
                  <a:srgbClr val="4BACC6"/>
                </a:solidFill>
                <a:latin typeface="Aptos" pitchFamily="34" charset="0"/>
                <a:ea typeface="Aptos" pitchFamily="34" charset="-122"/>
                <a:cs typeface="Aptos" pitchFamily="34" charset="-120"/>
              </a:rPr>
              <a:t>KIẾN TRÚC GIẢI PHÁP</a:t>
            </a:r>
            <a:endParaRPr lang="en-US" sz="1100" dirty="0"/>
          </a:p>
        </p:txBody>
      </p:sp>
      <p:sp>
        <p:nvSpPr>
          <p:cNvPr id="3" name="Text 1"/>
          <p:cNvSpPr txBox="1"/>
          <p:nvPr/>
        </p:nvSpPr>
        <p:spPr>
          <a:xfrm>
            <a:off x="548640" y="566928"/>
            <a:ext cx="11094415" cy="640080"/>
          </a:xfrm>
          <a:prstGeom prst="rect">
            <a:avLst/>
          </a:prstGeom>
          <a:noFill/>
          <a:ln/>
        </p:spPr>
        <p:txBody>
          <a:bodyPr wrap="square" lIns="0" tIns="0" rIns="0" bIns="0" rtlCol="0" anchor="t"/>
          <a:lstStyle/>
          <a:p>
            <a:pPr marL="0" indent="0">
              <a:buNone/>
            </a:pPr>
            <a:r>
              <a:rPr lang="en-US" sz="2800" b="1" dirty="0">
                <a:solidFill>
                  <a:srgbClr val="27343A"/>
                </a:solidFill>
                <a:latin typeface="Aptos Display" pitchFamily="34" charset="0"/>
                <a:ea typeface="Aptos Display" pitchFamily="34" charset="-122"/>
                <a:cs typeface="Aptos Display" pitchFamily="34" charset="-120"/>
              </a:rPr>
              <a:t>Ba tầng: người dùng, trợ lý NaviWorld, Business Central</a:t>
            </a:r>
            <a:endParaRPr lang="en-US" sz="2800" dirty="0"/>
          </a:p>
        </p:txBody>
      </p:sp>
      <p:sp>
        <p:nvSpPr>
          <p:cNvPr id="4" name="Text 2"/>
          <p:cNvSpPr txBox="1"/>
          <p:nvPr/>
        </p:nvSpPr>
        <p:spPr>
          <a:xfrm>
            <a:off x="548640" y="6473952"/>
            <a:ext cx="5486400" cy="228600"/>
          </a:xfrm>
          <a:prstGeom prst="rect">
            <a:avLst/>
          </a:prstGeom>
          <a:noFill/>
          <a:ln/>
        </p:spPr>
        <p:txBody>
          <a:bodyPr wrap="square" lIns="0" tIns="0" rIns="0" bIns="0" rtlCol="0" anchor="ctr"/>
          <a:lstStyle/>
          <a:p>
            <a:pPr marL="0" indent="0">
              <a:buNone/>
            </a:pPr>
            <a:r>
              <a:rPr lang="en-US" sz="900" dirty="0">
                <a:solidFill>
                  <a:srgbClr val="5F6B70"/>
                </a:solidFill>
                <a:latin typeface="Aptos" pitchFamily="34" charset="0"/>
                <a:ea typeface="Aptos" pitchFamily="34" charset="-122"/>
                <a:cs typeface="Aptos" pitchFamily="34" charset="-120"/>
              </a:rPr>
              <a:t>UC2 Inventory Health &amp; Traceability</a:t>
            </a:r>
            <a:endParaRPr lang="en-US" sz="900" dirty="0"/>
          </a:p>
        </p:txBody>
      </p:sp>
      <p:sp>
        <p:nvSpPr>
          <p:cNvPr id="5" name="Text 3"/>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5F6B70"/>
                </a:solidFill>
                <a:latin typeface="Aptos" pitchFamily="34" charset="0"/>
                <a:ea typeface="Aptos" pitchFamily="34" charset="-122"/>
                <a:cs typeface="Aptos" pitchFamily="34" charset="-120"/>
              </a:rPr>
              <a:t>3</a:t>
            </a:r>
            <a:endParaRPr lang="en-US" sz="900" dirty="0"/>
          </a:p>
        </p:txBody>
      </p:sp>
      <p:sp>
        <p:nvSpPr>
          <p:cNvPr id="7" name="Shape 4"/>
          <p:cNvSpPr/>
          <p:nvPr/>
        </p:nvSpPr>
        <p:spPr>
          <a:xfrm>
            <a:off x="548640" y="1325880"/>
            <a:ext cx="11094415" cy="1097280"/>
          </a:xfrm>
          <a:prstGeom prst="roundRect">
            <a:avLst>
              <a:gd name="adj" fmla="val 8333"/>
            </a:avLst>
          </a:prstGeom>
          <a:solidFill>
            <a:srgbClr val="F7FAFB"/>
          </a:solidFill>
          <a:ln w="12700">
            <a:solidFill>
              <a:srgbClr val="F7FAFB"/>
            </a:solidFill>
            <a:prstDash val="solid"/>
          </a:ln>
        </p:spPr>
        <p:txBody>
          <a:bodyPr/>
          <a:lstStyle/>
          <a:p>
            <a:endParaRPr lang="en-US"/>
          </a:p>
        </p:txBody>
      </p:sp>
      <p:sp>
        <p:nvSpPr>
          <p:cNvPr id="8" name="Text 5"/>
          <p:cNvSpPr txBox="1"/>
          <p:nvPr/>
        </p:nvSpPr>
        <p:spPr>
          <a:xfrm>
            <a:off x="731520" y="1399032"/>
            <a:ext cx="7315200" cy="256032"/>
          </a:xfrm>
          <a:prstGeom prst="rect">
            <a:avLst/>
          </a:prstGeom>
          <a:noFill/>
          <a:ln/>
        </p:spPr>
        <p:txBody>
          <a:bodyPr wrap="square" lIns="0" tIns="0" rIns="0" bIns="0" rtlCol="0" anchor="ctr"/>
          <a:lstStyle/>
          <a:p>
            <a:pPr marL="0" indent="0">
              <a:buNone/>
            </a:pPr>
            <a:r>
              <a:rPr lang="en-US" sz="1000" b="1" kern="0" spc="200" dirty="0">
                <a:solidFill>
                  <a:srgbClr val="5F6B70"/>
                </a:solidFill>
                <a:latin typeface="Aptos" pitchFamily="34" charset="0"/>
                <a:ea typeface="Aptos" pitchFamily="34" charset="-122"/>
                <a:cs typeface="Aptos" pitchFamily="34" charset="-120"/>
              </a:rPr>
              <a:t>NGƯỜI DÙNG VÀ KÊNH VÀO</a:t>
            </a:r>
            <a:endParaRPr lang="en-US" sz="1000" dirty="0"/>
          </a:p>
        </p:txBody>
      </p:sp>
      <p:sp>
        <p:nvSpPr>
          <p:cNvPr id="9" name="Shape 6"/>
          <p:cNvSpPr/>
          <p:nvPr/>
        </p:nvSpPr>
        <p:spPr>
          <a:xfrm>
            <a:off x="731520" y="1645920"/>
            <a:ext cx="3454298" cy="685800"/>
          </a:xfrm>
          <a:prstGeom prst="roundRect">
            <a:avLst>
              <a:gd name="adj" fmla="val 8000"/>
            </a:avLst>
          </a:prstGeom>
          <a:solidFill>
            <a:srgbClr val="FFFFFF"/>
          </a:solidFill>
          <a:ln w="12700">
            <a:solidFill>
              <a:srgbClr val="A9D5E2"/>
            </a:solidFill>
            <a:prstDash val="solid"/>
          </a:ln>
        </p:spPr>
        <p:txBody>
          <a:bodyPr/>
          <a:lstStyle/>
          <a:p>
            <a:endParaRPr lang="en-US"/>
          </a:p>
        </p:txBody>
      </p:sp>
      <p:sp>
        <p:nvSpPr>
          <p:cNvPr id="10" name="Text 7"/>
          <p:cNvSpPr txBox="1"/>
          <p:nvPr/>
        </p:nvSpPr>
        <p:spPr>
          <a:xfrm>
            <a:off x="822960" y="1691640"/>
            <a:ext cx="3271418" cy="594360"/>
          </a:xfrm>
          <a:prstGeom prst="rect">
            <a:avLst/>
          </a:prstGeom>
          <a:noFill/>
          <a:ln/>
        </p:spPr>
        <p:txBody>
          <a:bodyPr wrap="square" lIns="25400" tIns="25400" rIns="25400" bIns="25400" rtlCol="0" anchor="t"/>
          <a:lstStyle/>
          <a:p>
            <a:pPr marL="0" indent="0">
              <a:spcAft>
                <a:spcPts val="200"/>
              </a:spcAft>
              <a:buNone/>
            </a:pPr>
            <a:r>
              <a:rPr lang="en-US" sz="1200" b="1" dirty="0">
                <a:solidFill>
                  <a:srgbClr val="27343A"/>
                </a:solidFill>
                <a:latin typeface="Aptos" pitchFamily="34" charset="0"/>
                <a:ea typeface="Aptos" pitchFamily="34" charset="-122"/>
                <a:cs typeface="Aptos" pitchFamily="34" charset="-120"/>
              </a:rPr>
              <a:t>Web trợ lý theo vai</a:t>
            </a:r>
            <a:endParaRPr lang="en-US" sz="1200" dirty="0"/>
          </a:p>
          <a:p>
            <a:pPr marL="0" indent="0">
              <a:spcAft>
                <a:spcPts val="200"/>
              </a:spcAft>
              <a:buNone/>
            </a:pPr>
            <a:r>
              <a:rPr lang="en-US" sz="1000" dirty="0">
                <a:solidFill>
                  <a:srgbClr val="5F6B70"/>
                </a:solidFill>
                <a:latin typeface="Aptos" pitchFamily="34" charset="0"/>
                <a:ea typeface="Aptos" pitchFamily="34" charset="-122"/>
                <a:cs typeface="Aptos" pitchFamily="34" charset="-120"/>
              </a:rPr>
              <a:t>Quản lý cửa hàng, điều phối, kho, Supply Chain: dashboard, hỏi đáp, duyệt trên thẻ</a:t>
            </a:r>
            <a:endParaRPr lang="en-US" sz="1200" dirty="0"/>
          </a:p>
        </p:txBody>
      </p:sp>
      <p:sp>
        <p:nvSpPr>
          <p:cNvPr id="11" name="Shape 8"/>
          <p:cNvSpPr/>
          <p:nvPr/>
        </p:nvSpPr>
        <p:spPr>
          <a:xfrm>
            <a:off x="4368698" y="1645920"/>
            <a:ext cx="3454298" cy="685800"/>
          </a:xfrm>
          <a:prstGeom prst="roundRect">
            <a:avLst>
              <a:gd name="adj" fmla="val 8000"/>
            </a:avLst>
          </a:prstGeom>
          <a:solidFill>
            <a:srgbClr val="FFFFFF"/>
          </a:solidFill>
          <a:ln w="12700">
            <a:solidFill>
              <a:srgbClr val="A9D5E2"/>
            </a:solidFill>
            <a:prstDash val="solid"/>
          </a:ln>
        </p:spPr>
        <p:txBody>
          <a:bodyPr/>
          <a:lstStyle/>
          <a:p>
            <a:endParaRPr lang="en-US"/>
          </a:p>
        </p:txBody>
      </p:sp>
      <p:sp>
        <p:nvSpPr>
          <p:cNvPr id="12" name="Text 9"/>
          <p:cNvSpPr txBox="1"/>
          <p:nvPr/>
        </p:nvSpPr>
        <p:spPr>
          <a:xfrm>
            <a:off x="4460138" y="1691640"/>
            <a:ext cx="3271418" cy="594360"/>
          </a:xfrm>
          <a:prstGeom prst="rect">
            <a:avLst/>
          </a:prstGeom>
          <a:noFill/>
          <a:ln/>
        </p:spPr>
        <p:txBody>
          <a:bodyPr wrap="square" lIns="25400" tIns="25400" rIns="25400" bIns="25400" rtlCol="0" anchor="t"/>
          <a:lstStyle/>
          <a:p>
            <a:pPr marL="0" indent="0">
              <a:spcAft>
                <a:spcPts val="200"/>
              </a:spcAft>
              <a:buNone/>
            </a:pPr>
            <a:r>
              <a:rPr lang="en-US" sz="1200" b="1" dirty="0">
                <a:solidFill>
                  <a:srgbClr val="27343A"/>
                </a:solidFill>
                <a:latin typeface="Aptos" pitchFamily="34" charset="0"/>
                <a:ea typeface="Aptos" pitchFamily="34" charset="-122"/>
                <a:cs typeface="Aptos" pitchFamily="34" charset="-120"/>
              </a:rPr>
              <a:t>Business Central</a:t>
            </a:r>
            <a:endParaRPr lang="en-US" sz="1200" dirty="0"/>
          </a:p>
          <a:p>
            <a:pPr marL="0" indent="0">
              <a:spcAft>
                <a:spcPts val="200"/>
              </a:spcAft>
              <a:buNone/>
            </a:pPr>
            <a:r>
              <a:rPr lang="en-US" sz="1000" dirty="0">
                <a:solidFill>
                  <a:srgbClr val="5F6B70"/>
                </a:solidFill>
                <a:latin typeface="Aptos" pitchFamily="34" charset="0"/>
                <a:ea typeface="Aptos" pitchFamily="34" charset="-122"/>
                <a:cs typeface="Aptos" pitchFamily="34" charset="-120"/>
              </a:rPr>
              <a:t>Người duyệt mở đề xuất và Transfer Order; quản trị sửa ngưỡng</a:t>
            </a:r>
            <a:endParaRPr lang="en-US" sz="1200" dirty="0"/>
          </a:p>
        </p:txBody>
      </p:sp>
      <p:sp>
        <p:nvSpPr>
          <p:cNvPr id="13" name="Shape 10"/>
          <p:cNvSpPr/>
          <p:nvPr/>
        </p:nvSpPr>
        <p:spPr>
          <a:xfrm>
            <a:off x="8005877" y="1645920"/>
            <a:ext cx="3454298" cy="685800"/>
          </a:xfrm>
          <a:prstGeom prst="roundRect">
            <a:avLst>
              <a:gd name="adj" fmla="val 8000"/>
            </a:avLst>
          </a:prstGeom>
          <a:solidFill>
            <a:srgbClr val="FFFFFF"/>
          </a:solidFill>
          <a:ln w="12700">
            <a:solidFill>
              <a:srgbClr val="A9D5E2"/>
            </a:solidFill>
            <a:prstDash val="solid"/>
          </a:ln>
        </p:spPr>
        <p:txBody>
          <a:bodyPr/>
          <a:lstStyle/>
          <a:p>
            <a:endParaRPr lang="en-US"/>
          </a:p>
        </p:txBody>
      </p:sp>
      <p:sp>
        <p:nvSpPr>
          <p:cNvPr id="14" name="Text 11"/>
          <p:cNvSpPr txBox="1"/>
          <p:nvPr/>
        </p:nvSpPr>
        <p:spPr>
          <a:xfrm>
            <a:off x="8097317" y="1691640"/>
            <a:ext cx="3271418" cy="594360"/>
          </a:xfrm>
          <a:prstGeom prst="rect">
            <a:avLst/>
          </a:prstGeom>
          <a:noFill/>
          <a:ln/>
        </p:spPr>
        <p:txBody>
          <a:bodyPr wrap="square" lIns="25400" tIns="25400" rIns="25400" bIns="25400" rtlCol="0" anchor="t"/>
          <a:lstStyle/>
          <a:p>
            <a:pPr marL="0" indent="0">
              <a:spcAft>
                <a:spcPts val="200"/>
              </a:spcAft>
              <a:buNone/>
            </a:pPr>
            <a:r>
              <a:rPr lang="en-US" sz="1200" b="1" dirty="0">
                <a:solidFill>
                  <a:srgbClr val="27343A"/>
                </a:solidFill>
                <a:latin typeface="Aptos" pitchFamily="34" charset="0"/>
                <a:ea typeface="Aptos" pitchFamily="34" charset="-122"/>
                <a:cs typeface="Aptos" pitchFamily="34" charset="-120"/>
              </a:rPr>
              <a:t>Cổng MCP</a:t>
            </a:r>
            <a:endParaRPr lang="en-US" sz="1200" dirty="0"/>
          </a:p>
          <a:p>
            <a:pPr marL="0" indent="0">
              <a:spcAft>
                <a:spcPts val="200"/>
              </a:spcAft>
              <a:buNone/>
            </a:pPr>
            <a:r>
              <a:rPr lang="en-US" sz="1000" dirty="0">
                <a:solidFill>
                  <a:srgbClr val="5F6B70"/>
                </a:solidFill>
                <a:latin typeface="Aptos" pitchFamily="34" charset="0"/>
                <a:ea typeface="Aptos" pitchFamily="34" charset="-122"/>
                <a:cs typeface="Aptos" pitchFamily="34" charset="-120"/>
              </a:rPr>
              <a:t>Agent khác gọi cùng công cụ, cùng quy định phê duyệt</a:t>
            </a:r>
            <a:endParaRPr lang="en-US" sz="1200" dirty="0"/>
          </a:p>
        </p:txBody>
      </p:sp>
      <p:sp>
        <p:nvSpPr>
          <p:cNvPr id="15" name="Shape 12"/>
          <p:cNvSpPr/>
          <p:nvPr/>
        </p:nvSpPr>
        <p:spPr>
          <a:xfrm>
            <a:off x="2743200" y="2423160"/>
            <a:ext cx="0" cy="320040"/>
          </a:xfrm>
          <a:prstGeom prst="line">
            <a:avLst/>
          </a:prstGeom>
          <a:noFill/>
          <a:ln w="15875">
            <a:solidFill>
              <a:srgbClr val="27343A"/>
            </a:solidFill>
            <a:prstDash val="solid"/>
            <a:headEnd type="triangle"/>
            <a:tailEnd type="triangle"/>
          </a:ln>
        </p:spPr>
        <p:txBody>
          <a:bodyPr/>
          <a:lstStyle/>
          <a:p>
            <a:endParaRPr lang="en-US"/>
          </a:p>
        </p:txBody>
      </p:sp>
      <p:sp>
        <p:nvSpPr>
          <p:cNvPr id="16" name="Text 13"/>
          <p:cNvSpPr txBox="1"/>
          <p:nvPr/>
        </p:nvSpPr>
        <p:spPr>
          <a:xfrm>
            <a:off x="2834640" y="2455164"/>
            <a:ext cx="3108960" cy="256032"/>
          </a:xfrm>
          <a:prstGeom prst="rect">
            <a:avLst/>
          </a:prstGeom>
          <a:noFill/>
          <a:ln/>
        </p:spPr>
        <p:txBody>
          <a:bodyPr wrap="square" lIns="0" tIns="0" rIns="0" bIns="0" rtlCol="0" anchor="ctr"/>
          <a:lstStyle/>
          <a:p>
            <a:pPr marL="0" indent="0">
              <a:buNone/>
            </a:pPr>
            <a:r>
              <a:rPr lang="en-US" sz="950" dirty="0">
                <a:solidFill>
                  <a:srgbClr val="27343A"/>
                </a:solidFill>
                <a:latin typeface="Aptos" pitchFamily="34" charset="0"/>
                <a:ea typeface="Aptos" pitchFamily="34" charset="-122"/>
                <a:cs typeface="Aptos" pitchFamily="34" charset="-120"/>
              </a:rPr>
              <a:t>Hỏi đáp, bấm nút trên thẻ</a:t>
            </a:r>
            <a:endParaRPr lang="en-US" sz="950" dirty="0"/>
          </a:p>
        </p:txBody>
      </p:sp>
      <p:sp>
        <p:nvSpPr>
          <p:cNvPr id="17" name="Shape 14"/>
          <p:cNvSpPr/>
          <p:nvPr/>
        </p:nvSpPr>
        <p:spPr>
          <a:xfrm>
            <a:off x="7498080" y="2423160"/>
            <a:ext cx="0" cy="320040"/>
          </a:xfrm>
          <a:prstGeom prst="line">
            <a:avLst/>
          </a:prstGeom>
          <a:noFill/>
          <a:ln w="15875">
            <a:solidFill>
              <a:srgbClr val="27343A"/>
            </a:solidFill>
            <a:prstDash val="solid"/>
            <a:tailEnd type="triangle"/>
          </a:ln>
        </p:spPr>
        <p:txBody>
          <a:bodyPr/>
          <a:lstStyle/>
          <a:p>
            <a:endParaRPr lang="en-US"/>
          </a:p>
        </p:txBody>
      </p:sp>
      <p:sp>
        <p:nvSpPr>
          <p:cNvPr id="18" name="Text 15"/>
          <p:cNvSpPr txBox="1"/>
          <p:nvPr/>
        </p:nvSpPr>
        <p:spPr>
          <a:xfrm>
            <a:off x="7589520" y="2455164"/>
            <a:ext cx="3108960" cy="256032"/>
          </a:xfrm>
          <a:prstGeom prst="rect">
            <a:avLst/>
          </a:prstGeom>
          <a:noFill/>
          <a:ln/>
        </p:spPr>
        <p:txBody>
          <a:bodyPr wrap="square" lIns="0" tIns="0" rIns="0" bIns="0" rtlCol="0" anchor="ctr"/>
          <a:lstStyle/>
          <a:p>
            <a:pPr marL="0" indent="0">
              <a:buNone/>
            </a:pPr>
            <a:r>
              <a:rPr lang="en-US" sz="950" dirty="0">
                <a:solidFill>
                  <a:srgbClr val="27343A"/>
                </a:solidFill>
                <a:latin typeface="Aptos" pitchFamily="34" charset="0"/>
                <a:ea typeface="Aptos" pitchFamily="34" charset="-122"/>
                <a:cs typeface="Aptos" pitchFamily="34" charset="-120"/>
              </a:rPr>
              <a:t>Link mở đúng page và bộ lọc trong BC</a:t>
            </a:r>
            <a:endParaRPr lang="en-US" sz="950" dirty="0"/>
          </a:p>
        </p:txBody>
      </p:sp>
      <p:sp>
        <p:nvSpPr>
          <p:cNvPr id="19" name="Shape 16"/>
          <p:cNvSpPr/>
          <p:nvPr/>
        </p:nvSpPr>
        <p:spPr>
          <a:xfrm>
            <a:off x="548640" y="2743200"/>
            <a:ext cx="11094415" cy="1600200"/>
          </a:xfrm>
          <a:prstGeom prst="roundRect">
            <a:avLst>
              <a:gd name="adj" fmla="val 5714"/>
            </a:avLst>
          </a:prstGeom>
          <a:solidFill>
            <a:srgbClr val="DAEEF3"/>
          </a:solidFill>
          <a:ln w="12700">
            <a:solidFill>
              <a:srgbClr val="DAEEF3"/>
            </a:solidFill>
            <a:prstDash val="solid"/>
          </a:ln>
        </p:spPr>
        <p:txBody>
          <a:bodyPr/>
          <a:lstStyle/>
          <a:p>
            <a:endParaRPr lang="en-US"/>
          </a:p>
        </p:txBody>
      </p:sp>
      <p:sp>
        <p:nvSpPr>
          <p:cNvPr id="20" name="Text 17"/>
          <p:cNvSpPr txBox="1"/>
          <p:nvPr/>
        </p:nvSpPr>
        <p:spPr>
          <a:xfrm>
            <a:off x="731520" y="2816352"/>
            <a:ext cx="7315200" cy="256032"/>
          </a:xfrm>
          <a:prstGeom prst="rect">
            <a:avLst/>
          </a:prstGeom>
          <a:noFill/>
          <a:ln/>
        </p:spPr>
        <p:txBody>
          <a:bodyPr wrap="square" lIns="0" tIns="0" rIns="0" bIns="0" rtlCol="0" anchor="ctr"/>
          <a:lstStyle/>
          <a:p>
            <a:pPr marL="0" indent="0">
              <a:buNone/>
            </a:pPr>
            <a:r>
              <a:rPr lang="en-US" sz="1000" b="1" kern="0" spc="200" dirty="0">
                <a:solidFill>
                  <a:srgbClr val="5F6B70"/>
                </a:solidFill>
                <a:latin typeface="Aptos" pitchFamily="34" charset="0"/>
                <a:ea typeface="Aptos" pitchFamily="34" charset="-122"/>
                <a:cs typeface="Aptos" pitchFamily="34" charset="-120"/>
              </a:rPr>
              <a:t>TRỢ LÝ NAVIWORLD</a:t>
            </a:r>
            <a:endParaRPr lang="en-US" sz="1000" dirty="0"/>
          </a:p>
        </p:txBody>
      </p:sp>
      <p:sp>
        <p:nvSpPr>
          <p:cNvPr id="21" name="Shape 18"/>
          <p:cNvSpPr/>
          <p:nvPr/>
        </p:nvSpPr>
        <p:spPr>
          <a:xfrm>
            <a:off x="731520" y="3063240"/>
            <a:ext cx="2036003" cy="1143000"/>
          </a:xfrm>
          <a:prstGeom prst="roundRect">
            <a:avLst>
              <a:gd name="adj" fmla="val 4800"/>
            </a:avLst>
          </a:prstGeom>
          <a:solidFill>
            <a:srgbClr val="FFFFFF"/>
          </a:solidFill>
          <a:ln w="12700">
            <a:solidFill>
              <a:srgbClr val="A9D5E2"/>
            </a:solidFill>
            <a:prstDash val="solid"/>
          </a:ln>
        </p:spPr>
        <p:txBody>
          <a:bodyPr/>
          <a:lstStyle/>
          <a:p>
            <a:endParaRPr lang="en-US"/>
          </a:p>
        </p:txBody>
      </p:sp>
      <p:sp>
        <p:nvSpPr>
          <p:cNvPr id="22" name="Text 19"/>
          <p:cNvSpPr txBox="1"/>
          <p:nvPr/>
        </p:nvSpPr>
        <p:spPr>
          <a:xfrm>
            <a:off x="822960" y="3108960"/>
            <a:ext cx="1853123" cy="1051560"/>
          </a:xfrm>
          <a:prstGeom prst="rect">
            <a:avLst/>
          </a:prstGeom>
          <a:noFill/>
          <a:ln/>
        </p:spPr>
        <p:txBody>
          <a:bodyPr wrap="square" lIns="25400" tIns="25400" rIns="25400" bIns="25400" rtlCol="0" anchor="t"/>
          <a:lstStyle/>
          <a:p>
            <a:pPr marL="0" indent="0">
              <a:spcAft>
                <a:spcPts val="200"/>
              </a:spcAft>
              <a:buNone/>
            </a:pPr>
            <a:r>
              <a:rPr lang="en-US" sz="1200" b="1" dirty="0">
                <a:solidFill>
                  <a:srgbClr val="27343A"/>
                </a:solidFill>
                <a:latin typeface="Aptos" pitchFamily="34" charset="0"/>
                <a:ea typeface="Aptos" pitchFamily="34" charset="-122"/>
                <a:cs typeface="Aptos" pitchFamily="34" charset="-120"/>
              </a:rPr>
              <a:t>Hiểu câu hỏi</a:t>
            </a:r>
            <a:endParaRPr lang="en-US" sz="1200" dirty="0"/>
          </a:p>
          <a:p>
            <a:pPr marL="0" indent="0">
              <a:spcAft>
                <a:spcPts val="200"/>
              </a:spcAft>
              <a:buNone/>
            </a:pPr>
            <a:r>
              <a:rPr lang="en-US" sz="1000" dirty="0">
                <a:solidFill>
                  <a:srgbClr val="5F6B70"/>
                </a:solidFill>
                <a:latin typeface="Aptos" pitchFamily="34" charset="0"/>
                <a:ea typeface="Aptos" pitchFamily="34" charset="-122"/>
                <a:cs typeface="Aptos" pitchFamily="34" charset="-120"/>
              </a:rPr>
              <a:t>Quy tắc nhận dạng chạy trước; gọi model khi câu chưa có mẫu</a:t>
            </a:r>
            <a:endParaRPr lang="en-US" sz="1200" dirty="0"/>
          </a:p>
        </p:txBody>
      </p:sp>
      <p:sp>
        <p:nvSpPr>
          <p:cNvPr id="23" name="Shape 20"/>
          <p:cNvSpPr/>
          <p:nvPr/>
        </p:nvSpPr>
        <p:spPr>
          <a:xfrm>
            <a:off x="2904683" y="3063240"/>
            <a:ext cx="2036003" cy="1143000"/>
          </a:xfrm>
          <a:prstGeom prst="roundRect">
            <a:avLst>
              <a:gd name="adj" fmla="val 4800"/>
            </a:avLst>
          </a:prstGeom>
          <a:solidFill>
            <a:srgbClr val="FFFFFF"/>
          </a:solidFill>
          <a:ln w="12700">
            <a:solidFill>
              <a:srgbClr val="A9D5E2"/>
            </a:solidFill>
            <a:prstDash val="solid"/>
          </a:ln>
        </p:spPr>
        <p:txBody>
          <a:bodyPr/>
          <a:lstStyle/>
          <a:p>
            <a:endParaRPr lang="en-US"/>
          </a:p>
        </p:txBody>
      </p:sp>
      <p:sp>
        <p:nvSpPr>
          <p:cNvPr id="24" name="Text 21"/>
          <p:cNvSpPr txBox="1"/>
          <p:nvPr/>
        </p:nvSpPr>
        <p:spPr>
          <a:xfrm>
            <a:off x="2996123" y="3108960"/>
            <a:ext cx="1853123" cy="1051560"/>
          </a:xfrm>
          <a:prstGeom prst="rect">
            <a:avLst/>
          </a:prstGeom>
          <a:noFill/>
          <a:ln/>
        </p:spPr>
        <p:txBody>
          <a:bodyPr wrap="square" lIns="25400" tIns="25400" rIns="25400" bIns="25400" rtlCol="0" anchor="t"/>
          <a:lstStyle/>
          <a:p>
            <a:pPr marL="0" indent="0">
              <a:spcAft>
                <a:spcPts val="200"/>
              </a:spcAft>
              <a:buNone/>
            </a:pPr>
            <a:r>
              <a:rPr lang="en-US" sz="1200" b="1" dirty="0">
                <a:solidFill>
                  <a:srgbClr val="27343A"/>
                </a:solidFill>
                <a:latin typeface="Aptos" pitchFamily="34" charset="0"/>
                <a:ea typeface="Aptos" pitchFamily="34" charset="-122"/>
                <a:cs typeface="Aptos" pitchFamily="34" charset="-120"/>
              </a:rPr>
              <a:t>Skill UC2</a:t>
            </a:r>
            <a:endParaRPr lang="en-US" sz="1200" dirty="0"/>
          </a:p>
          <a:p>
            <a:pPr marL="0" indent="0">
              <a:spcAft>
                <a:spcPts val="200"/>
              </a:spcAft>
              <a:buNone/>
            </a:pPr>
            <a:r>
              <a:rPr lang="en-US" sz="1000" dirty="0">
                <a:solidFill>
                  <a:srgbClr val="5F6B70"/>
                </a:solidFill>
                <a:latin typeface="Aptos" pitchFamily="34" charset="0"/>
                <a:ea typeface="Aptos" pitchFamily="34" charset="-122"/>
                <a:cs typeface="Aptos" pitchFamily="34" charset="-120"/>
              </a:rPr>
              <a:t>Sức khỏe tồn kho, hàng hết hạn, tồn cửa hàng, truy xuất lô, đề xuất</a:t>
            </a:r>
            <a:endParaRPr lang="en-US" sz="1200" dirty="0"/>
          </a:p>
        </p:txBody>
      </p:sp>
      <p:sp>
        <p:nvSpPr>
          <p:cNvPr id="25" name="Shape 22"/>
          <p:cNvSpPr/>
          <p:nvPr/>
        </p:nvSpPr>
        <p:spPr>
          <a:xfrm>
            <a:off x="5077846" y="3063240"/>
            <a:ext cx="2036003" cy="1143000"/>
          </a:xfrm>
          <a:prstGeom prst="roundRect">
            <a:avLst>
              <a:gd name="adj" fmla="val 4800"/>
            </a:avLst>
          </a:prstGeom>
          <a:solidFill>
            <a:srgbClr val="FFFFFF"/>
          </a:solidFill>
          <a:ln w="12700">
            <a:solidFill>
              <a:srgbClr val="A9D5E2"/>
            </a:solidFill>
            <a:prstDash val="solid"/>
          </a:ln>
        </p:spPr>
        <p:txBody>
          <a:bodyPr/>
          <a:lstStyle/>
          <a:p>
            <a:endParaRPr lang="en-US"/>
          </a:p>
        </p:txBody>
      </p:sp>
      <p:sp>
        <p:nvSpPr>
          <p:cNvPr id="26" name="Text 23"/>
          <p:cNvSpPr txBox="1"/>
          <p:nvPr/>
        </p:nvSpPr>
        <p:spPr>
          <a:xfrm>
            <a:off x="5169286" y="3108960"/>
            <a:ext cx="1853123" cy="1051560"/>
          </a:xfrm>
          <a:prstGeom prst="rect">
            <a:avLst/>
          </a:prstGeom>
          <a:noFill/>
          <a:ln/>
        </p:spPr>
        <p:txBody>
          <a:bodyPr wrap="square" lIns="25400" tIns="25400" rIns="25400" bIns="25400" rtlCol="0" anchor="t"/>
          <a:lstStyle/>
          <a:p>
            <a:pPr marL="0" indent="0">
              <a:spcAft>
                <a:spcPts val="200"/>
              </a:spcAft>
              <a:buNone/>
            </a:pPr>
            <a:r>
              <a:rPr lang="en-US" sz="1200" b="1" dirty="0">
                <a:solidFill>
                  <a:srgbClr val="27343A"/>
                </a:solidFill>
                <a:latin typeface="Aptos" pitchFamily="34" charset="0"/>
                <a:ea typeface="Aptos" pitchFamily="34" charset="-122"/>
                <a:cs typeface="Aptos" pitchFamily="34" charset="-120"/>
              </a:rPr>
              <a:t>Kiểm soát</a:t>
            </a:r>
            <a:endParaRPr lang="en-US" sz="1200" dirty="0"/>
          </a:p>
          <a:p>
            <a:pPr marL="0" indent="0">
              <a:spcAft>
                <a:spcPts val="200"/>
              </a:spcAft>
              <a:buNone/>
            </a:pPr>
            <a:r>
              <a:rPr lang="en-US" sz="1000" dirty="0">
                <a:solidFill>
                  <a:srgbClr val="5F6B70"/>
                </a:solidFill>
                <a:latin typeface="Aptos" pitchFamily="34" charset="0"/>
                <a:ea typeface="Aptos" pitchFamily="34" charset="-122"/>
                <a:cs typeface="Aptos" pitchFamily="34" charset="-120"/>
              </a:rPr>
              <a:t>Quy định phê duyệt, chống đề xuất trùng, trần chi phí AI</a:t>
            </a:r>
            <a:endParaRPr lang="en-US" sz="1200" dirty="0"/>
          </a:p>
        </p:txBody>
      </p:sp>
      <p:sp>
        <p:nvSpPr>
          <p:cNvPr id="27" name="Shape 24"/>
          <p:cNvSpPr/>
          <p:nvPr/>
        </p:nvSpPr>
        <p:spPr>
          <a:xfrm>
            <a:off x="7251009" y="3063240"/>
            <a:ext cx="2036003" cy="1143000"/>
          </a:xfrm>
          <a:prstGeom prst="roundRect">
            <a:avLst>
              <a:gd name="adj" fmla="val 4800"/>
            </a:avLst>
          </a:prstGeom>
          <a:solidFill>
            <a:srgbClr val="FFFFFF"/>
          </a:solidFill>
          <a:ln w="12700">
            <a:solidFill>
              <a:srgbClr val="A9D5E2"/>
            </a:solidFill>
            <a:prstDash val="solid"/>
          </a:ln>
        </p:spPr>
        <p:txBody>
          <a:bodyPr/>
          <a:lstStyle/>
          <a:p>
            <a:endParaRPr lang="en-US"/>
          </a:p>
        </p:txBody>
      </p:sp>
      <p:sp>
        <p:nvSpPr>
          <p:cNvPr id="28" name="Text 25"/>
          <p:cNvSpPr txBox="1"/>
          <p:nvPr/>
        </p:nvSpPr>
        <p:spPr>
          <a:xfrm>
            <a:off x="7342449" y="3108960"/>
            <a:ext cx="1853123" cy="1051560"/>
          </a:xfrm>
          <a:prstGeom prst="rect">
            <a:avLst/>
          </a:prstGeom>
          <a:noFill/>
          <a:ln/>
        </p:spPr>
        <p:txBody>
          <a:bodyPr wrap="square" lIns="25400" tIns="25400" rIns="25400" bIns="25400" rtlCol="0" anchor="t"/>
          <a:lstStyle/>
          <a:p>
            <a:pPr marL="0" indent="0">
              <a:spcAft>
                <a:spcPts val="200"/>
              </a:spcAft>
              <a:buNone/>
            </a:pPr>
            <a:r>
              <a:rPr lang="en-US" sz="1200" b="1" dirty="0">
                <a:solidFill>
                  <a:srgbClr val="27343A"/>
                </a:solidFill>
                <a:latin typeface="Aptos" pitchFamily="34" charset="0"/>
                <a:ea typeface="Aptos" pitchFamily="34" charset="-122"/>
                <a:cs typeface="Aptos" pitchFamily="34" charset="-120"/>
              </a:rPr>
              <a:t>Kết nối BC</a:t>
            </a:r>
            <a:endParaRPr lang="en-US" sz="1200" dirty="0"/>
          </a:p>
          <a:p>
            <a:pPr marL="0" indent="0">
              <a:spcAft>
                <a:spcPts val="200"/>
              </a:spcAft>
              <a:buNone/>
            </a:pPr>
            <a:r>
              <a:rPr lang="en-US" sz="1000" dirty="0">
                <a:solidFill>
                  <a:srgbClr val="5F6B70"/>
                </a:solidFill>
                <a:latin typeface="Aptos" pitchFamily="34" charset="0"/>
                <a:ea typeface="Aptos" pitchFamily="34" charset="-122"/>
                <a:cs typeface="Aptos" pitchFamily="34" charset="-120"/>
              </a:rPr>
              <a:t>OAuth S2S, đọc API chỉ đọc, ghi đề xuất, tạo link BC</a:t>
            </a:r>
            <a:endParaRPr lang="en-US" sz="1200" dirty="0"/>
          </a:p>
        </p:txBody>
      </p:sp>
      <p:sp>
        <p:nvSpPr>
          <p:cNvPr id="29" name="Shape 26"/>
          <p:cNvSpPr/>
          <p:nvPr/>
        </p:nvSpPr>
        <p:spPr>
          <a:xfrm>
            <a:off x="9424172" y="3063240"/>
            <a:ext cx="2036003" cy="1143000"/>
          </a:xfrm>
          <a:prstGeom prst="roundRect">
            <a:avLst>
              <a:gd name="adj" fmla="val 4800"/>
            </a:avLst>
          </a:prstGeom>
          <a:solidFill>
            <a:srgbClr val="FFFFFF"/>
          </a:solidFill>
          <a:ln w="12700">
            <a:solidFill>
              <a:srgbClr val="C89B72"/>
            </a:solidFill>
            <a:prstDash val="dash"/>
          </a:ln>
        </p:spPr>
        <p:txBody>
          <a:bodyPr/>
          <a:lstStyle/>
          <a:p>
            <a:endParaRPr lang="en-US"/>
          </a:p>
        </p:txBody>
      </p:sp>
      <p:sp>
        <p:nvSpPr>
          <p:cNvPr id="30" name="Text 27"/>
          <p:cNvSpPr txBox="1"/>
          <p:nvPr/>
        </p:nvSpPr>
        <p:spPr>
          <a:xfrm>
            <a:off x="9515612" y="3108960"/>
            <a:ext cx="1853123" cy="1051560"/>
          </a:xfrm>
          <a:prstGeom prst="rect">
            <a:avLst/>
          </a:prstGeom>
          <a:noFill/>
          <a:ln/>
        </p:spPr>
        <p:txBody>
          <a:bodyPr wrap="square" lIns="25400" tIns="25400" rIns="25400" bIns="25400" rtlCol="0" anchor="t"/>
          <a:lstStyle/>
          <a:p>
            <a:pPr marL="0" indent="0">
              <a:spcAft>
                <a:spcPts val="200"/>
              </a:spcAft>
              <a:buNone/>
            </a:pPr>
            <a:r>
              <a:rPr lang="en-US" sz="1200" b="1" dirty="0">
                <a:solidFill>
                  <a:srgbClr val="27343A"/>
                </a:solidFill>
                <a:latin typeface="Aptos" pitchFamily="34" charset="0"/>
                <a:ea typeface="Aptos" pitchFamily="34" charset="-122"/>
                <a:cs typeface="Aptos" pitchFamily="34" charset="-120"/>
              </a:rPr>
              <a:t>Azure OpenAI</a:t>
            </a:r>
            <a:endParaRPr lang="en-US" sz="1200" dirty="0"/>
          </a:p>
          <a:p>
            <a:pPr marL="0" indent="0">
              <a:spcAft>
                <a:spcPts val="200"/>
              </a:spcAft>
              <a:buNone/>
            </a:pPr>
            <a:r>
              <a:rPr lang="en-US" sz="1000" dirty="0">
                <a:solidFill>
                  <a:srgbClr val="5F6B70"/>
                </a:solidFill>
                <a:latin typeface="Aptos" pitchFamily="34" charset="0"/>
                <a:ea typeface="Aptos" pitchFamily="34" charset="-122"/>
                <a:cs typeface="Aptos" pitchFamily="34" charset="-120"/>
              </a:rPr>
              <a:t>gpt-4.1-mini. Chỉ nhận kết quả đã lọc; không tính số, không ghi BC</a:t>
            </a:r>
            <a:endParaRPr lang="en-US" sz="1200" dirty="0"/>
          </a:p>
        </p:txBody>
      </p:sp>
      <p:sp>
        <p:nvSpPr>
          <p:cNvPr id="31" name="Shape 28"/>
          <p:cNvSpPr/>
          <p:nvPr/>
        </p:nvSpPr>
        <p:spPr>
          <a:xfrm>
            <a:off x="2743200" y="4343400"/>
            <a:ext cx="0" cy="320040"/>
          </a:xfrm>
          <a:prstGeom prst="line">
            <a:avLst/>
          </a:prstGeom>
          <a:noFill/>
          <a:ln w="15875">
            <a:solidFill>
              <a:srgbClr val="27343A"/>
            </a:solidFill>
            <a:prstDash val="solid"/>
            <a:tailEnd type="triangle"/>
          </a:ln>
        </p:spPr>
        <p:txBody>
          <a:bodyPr/>
          <a:lstStyle/>
          <a:p>
            <a:endParaRPr lang="en-US"/>
          </a:p>
        </p:txBody>
      </p:sp>
      <p:sp>
        <p:nvSpPr>
          <p:cNvPr id="32" name="Text 29"/>
          <p:cNvSpPr txBox="1"/>
          <p:nvPr/>
        </p:nvSpPr>
        <p:spPr>
          <a:xfrm>
            <a:off x="2834640" y="4375404"/>
            <a:ext cx="3108960" cy="256032"/>
          </a:xfrm>
          <a:prstGeom prst="rect">
            <a:avLst/>
          </a:prstGeom>
          <a:noFill/>
          <a:ln/>
        </p:spPr>
        <p:txBody>
          <a:bodyPr wrap="square" lIns="0" tIns="0" rIns="0" bIns="0" rtlCol="0" anchor="ctr"/>
          <a:lstStyle/>
          <a:p>
            <a:pPr marL="0" indent="0">
              <a:buNone/>
            </a:pPr>
            <a:r>
              <a:rPr lang="en-US" sz="950" dirty="0">
                <a:solidFill>
                  <a:srgbClr val="27343A"/>
                </a:solidFill>
                <a:latin typeface="Aptos" pitchFamily="34" charset="0"/>
                <a:ea typeface="Aptos" pitchFamily="34" charset="-122"/>
                <a:cs typeface="Aptos" pitchFamily="34" charset="-120"/>
              </a:rPr>
              <a:t>Đọc: API chỉ đọc (OData v4)</a:t>
            </a:r>
            <a:endParaRPr lang="en-US" sz="950" dirty="0"/>
          </a:p>
        </p:txBody>
      </p:sp>
      <p:sp>
        <p:nvSpPr>
          <p:cNvPr id="33" name="Shape 30"/>
          <p:cNvSpPr/>
          <p:nvPr/>
        </p:nvSpPr>
        <p:spPr>
          <a:xfrm>
            <a:off x="7498080" y="4343400"/>
            <a:ext cx="0" cy="320040"/>
          </a:xfrm>
          <a:prstGeom prst="line">
            <a:avLst/>
          </a:prstGeom>
          <a:noFill/>
          <a:ln w="15875">
            <a:solidFill>
              <a:srgbClr val="27343A"/>
            </a:solidFill>
            <a:prstDash val="solid"/>
            <a:headEnd type="triangle"/>
            <a:tailEnd type="triangle"/>
          </a:ln>
        </p:spPr>
        <p:txBody>
          <a:bodyPr/>
          <a:lstStyle/>
          <a:p>
            <a:endParaRPr lang="en-US"/>
          </a:p>
        </p:txBody>
      </p:sp>
      <p:sp>
        <p:nvSpPr>
          <p:cNvPr id="34" name="Text 31"/>
          <p:cNvSpPr txBox="1"/>
          <p:nvPr/>
        </p:nvSpPr>
        <p:spPr>
          <a:xfrm>
            <a:off x="7589520" y="4375404"/>
            <a:ext cx="3108960" cy="256032"/>
          </a:xfrm>
          <a:prstGeom prst="rect">
            <a:avLst/>
          </a:prstGeom>
          <a:noFill/>
          <a:ln/>
        </p:spPr>
        <p:txBody>
          <a:bodyPr wrap="square" lIns="0" tIns="0" rIns="0" bIns="0" rtlCol="0" anchor="ctr"/>
          <a:lstStyle/>
          <a:p>
            <a:pPr marL="0" indent="0">
              <a:buNone/>
            </a:pPr>
            <a:r>
              <a:rPr lang="en-US" sz="950" dirty="0">
                <a:solidFill>
                  <a:srgbClr val="27343A"/>
                </a:solidFill>
                <a:latin typeface="Aptos" pitchFamily="34" charset="0"/>
                <a:ea typeface="Aptos" pitchFamily="34" charset="-122"/>
                <a:cs typeface="Aptos" pitchFamily="34" charset="-120"/>
              </a:rPr>
              <a:t>Ghi: chỉ đề xuất, trạng thái Proposed</a:t>
            </a:r>
            <a:endParaRPr lang="en-US" sz="950" dirty="0"/>
          </a:p>
        </p:txBody>
      </p:sp>
      <p:sp>
        <p:nvSpPr>
          <p:cNvPr id="35" name="Shape 32"/>
          <p:cNvSpPr/>
          <p:nvPr/>
        </p:nvSpPr>
        <p:spPr>
          <a:xfrm>
            <a:off x="548640" y="4663440"/>
            <a:ext cx="11094415" cy="1691640"/>
          </a:xfrm>
          <a:prstGeom prst="roundRect">
            <a:avLst>
              <a:gd name="adj" fmla="val 5405"/>
            </a:avLst>
          </a:prstGeom>
          <a:solidFill>
            <a:srgbClr val="F4EEE8"/>
          </a:solidFill>
          <a:ln w="12700">
            <a:solidFill>
              <a:srgbClr val="F4EEE8"/>
            </a:solidFill>
            <a:prstDash val="solid"/>
          </a:ln>
        </p:spPr>
        <p:txBody>
          <a:bodyPr/>
          <a:lstStyle/>
          <a:p>
            <a:endParaRPr lang="en-US"/>
          </a:p>
        </p:txBody>
      </p:sp>
      <p:sp>
        <p:nvSpPr>
          <p:cNvPr id="36" name="Text 33"/>
          <p:cNvSpPr txBox="1"/>
          <p:nvPr/>
        </p:nvSpPr>
        <p:spPr>
          <a:xfrm>
            <a:off x="731520" y="4736592"/>
            <a:ext cx="7315200" cy="256032"/>
          </a:xfrm>
          <a:prstGeom prst="rect">
            <a:avLst/>
          </a:prstGeom>
          <a:noFill/>
          <a:ln/>
        </p:spPr>
        <p:txBody>
          <a:bodyPr wrap="square" lIns="0" tIns="0" rIns="0" bIns="0" rtlCol="0" anchor="ctr"/>
          <a:lstStyle/>
          <a:p>
            <a:pPr marL="0" indent="0">
              <a:buNone/>
            </a:pPr>
            <a:r>
              <a:rPr lang="en-US" sz="1000" b="1" kern="0" spc="200" dirty="0">
                <a:solidFill>
                  <a:srgbClr val="5F6B70"/>
                </a:solidFill>
                <a:latin typeface="Aptos" pitchFamily="34" charset="0"/>
                <a:ea typeface="Aptos" pitchFamily="34" charset="-122"/>
                <a:cs typeface="Aptos" pitchFamily="34" charset="-120"/>
              </a:rPr>
              <a:t>BUSINESS CENTRAL VÀ LS CENTRAL</a:t>
            </a:r>
            <a:endParaRPr lang="en-US" sz="1000" dirty="0"/>
          </a:p>
        </p:txBody>
      </p:sp>
      <p:sp>
        <p:nvSpPr>
          <p:cNvPr id="37" name="Shape 34"/>
          <p:cNvSpPr/>
          <p:nvPr/>
        </p:nvSpPr>
        <p:spPr>
          <a:xfrm>
            <a:off x="731520" y="4983480"/>
            <a:ext cx="3301898" cy="1188720"/>
          </a:xfrm>
          <a:prstGeom prst="roundRect">
            <a:avLst>
              <a:gd name="adj" fmla="val 4615"/>
            </a:avLst>
          </a:prstGeom>
          <a:solidFill>
            <a:srgbClr val="FFFFFF"/>
          </a:solidFill>
          <a:ln w="12700">
            <a:solidFill>
              <a:srgbClr val="C89B72"/>
            </a:solidFill>
            <a:prstDash val="solid"/>
          </a:ln>
        </p:spPr>
        <p:txBody>
          <a:bodyPr/>
          <a:lstStyle/>
          <a:p>
            <a:endParaRPr lang="en-US"/>
          </a:p>
        </p:txBody>
      </p:sp>
      <p:sp>
        <p:nvSpPr>
          <p:cNvPr id="38" name="Text 35"/>
          <p:cNvSpPr txBox="1"/>
          <p:nvPr/>
        </p:nvSpPr>
        <p:spPr>
          <a:xfrm>
            <a:off x="822960" y="5029200"/>
            <a:ext cx="3119018" cy="1097280"/>
          </a:xfrm>
          <a:prstGeom prst="rect">
            <a:avLst/>
          </a:prstGeom>
          <a:noFill/>
          <a:ln/>
        </p:spPr>
        <p:txBody>
          <a:bodyPr wrap="square" lIns="25400" tIns="25400" rIns="25400" bIns="25400" rtlCol="0" anchor="t"/>
          <a:lstStyle/>
          <a:p>
            <a:pPr marL="0" indent="0">
              <a:spcAft>
                <a:spcPts val="200"/>
              </a:spcAft>
              <a:buNone/>
            </a:pPr>
            <a:r>
              <a:rPr lang="en-US" sz="1200" b="1" dirty="0">
                <a:solidFill>
                  <a:srgbClr val="27343A"/>
                </a:solidFill>
                <a:latin typeface="Aptos" pitchFamily="34" charset="0"/>
                <a:ea typeface="Aptos" pitchFamily="34" charset="-122"/>
                <a:cs typeface="Aptos" pitchFamily="34" charset="-120"/>
              </a:rPr>
              <a:t>Lớp 1 · Dữ liệu chuẩn</a:t>
            </a:r>
            <a:endParaRPr lang="en-US" sz="1200" dirty="0"/>
          </a:p>
          <a:p>
            <a:pPr marL="0" indent="0">
              <a:spcAft>
                <a:spcPts val="200"/>
              </a:spcAft>
              <a:buNone/>
            </a:pPr>
            <a:r>
              <a:rPr lang="en-US" sz="1000" dirty="0">
                <a:solidFill>
                  <a:srgbClr val="5F6B70"/>
                </a:solidFill>
                <a:latin typeface="Aptos" pitchFamily="34" charset="0"/>
                <a:ea typeface="Aptos" pitchFamily="34" charset="-122"/>
                <a:cs typeface="Aptos" pitchFamily="34" charset="-120"/>
              </a:rPr>
              <a:t>Item Ledger Entry (lô, hạn dùng, bán, chuyển), Item, Location; ngưỡng trên NWV Agent Setup</a:t>
            </a:r>
            <a:endParaRPr lang="en-US" sz="1200" dirty="0"/>
          </a:p>
        </p:txBody>
      </p:sp>
      <p:sp>
        <p:nvSpPr>
          <p:cNvPr id="39" name="Shape 36"/>
          <p:cNvSpPr/>
          <p:nvPr/>
        </p:nvSpPr>
        <p:spPr>
          <a:xfrm>
            <a:off x="4079138" y="5577840"/>
            <a:ext cx="320040" cy="0"/>
          </a:xfrm>
          <a:prstGeom prst="line">
            <a:avLst/>
          </a:prstGeom>
          <a:noFill/>
          <a:ln w="15875">
            <a:solidFill>
              <a:srgbClr val="27343A"/>
            </a:solidFill>
            <a:prstDash val="solid"/>
            <a:tailEnd type="triangle"/>
          </a:ln>
        </p:spPr>
        <p:txBody>
          <a:bodyPr/>
          <a:lstStyle/>
          <a:p>
            <a:endParaRPr lang="en-US"/>
          </a:p>
        </p:txBody>
      </p:sp>
      <p:sp>
        <p:nvSpPr>
          <p:cNvPr id="40" name="Shape 37"/>
          <p:cNvSpPr/>
          <p:nvPr/>
        </p:nvSpPr>
        <p:spPr>
          <a:xfrm>
            <a:off x="4444898" y="4983480"/>
            <a:ext cx="3301898" cy="1188720"/>
          </a:xfrm>
          <a:prstGeom prst="roundRect">
            <a:avLst>
              <a:gd name="adj" fmla="val 4615"/>
            </a:avLst>
          </a:prstGeom>
          <a:solidFill>
            <a:srgbClr val="FFFFFF"/>
          </a:solidFill>
          <a:ln w="12700">
            <a:solidFill>
              <a:srgbClr val="C89B72"/>
            </a:solidFill>
            <a:prstDash val="solid"/>
          </a:ln>
        </p:spPr>
        <p:txBody>
          <a:bodyPr/>
          <a:lstStyle/>
          <a:p>
            <a:endParaRPr lang="en-US"/>
          </a:p>
        </p:txBody>
      </p:sp>
      <p:sp>
        <p:nvSpPr>
          <p:cNvPr id="41" name="Text 38"/>
          <p:cNvSpPr txBox="1"/>
          <p:nvPr/>
        </p:nvSpPr>
        <p:spPr>
          <a:xfrm>
            <a:off x="4536338" y="5029200"/>
            <a:ext cx="3119018" cy="1097280"/>
          </a:xfrm>
          <a:prstGeom prst="rect">
            <a:avLst/>
          </a:prstGeom>
          <a:noFill/>
          <a:ln/>
        </p:spPr>
        <p:txBody>
          <a:bodyPr wrap="square" lIns="25400" tIns="25400" rIns="25400" bIns="25400" rtlCol="0" anchor="t"/>
          <a:lstStyle/>
          <a:p>
            <a:pPr marL="0" indent="0">
              <a:spcAft>
                <a:spcPts val="200"/>
              </a:spcAft>
              <a:buNone/>
            </a:pPr>
            <a:r>
              <a:rPr lang="en-US" sz="1200" b="1" dirty="0">
                <a:solidFill>
                  <a:srgbClr val="27343A"/>
                </a:solidFill>
                <a:latin typeface="Aptos" pitchFamily="34" charset="0"/>
                <a:ea typeface="Aptos" pitchFamily="34" charset="-122"/>
                <a:cs typeface="Aptos" pitchFamily="34" charset="-120"/>
              </a:rPr>
              <a:t>Lớp 2 · Tính toán bằng AL</a:t>
            </a:r>
            <a:endParaRPr lang="en-US" sz="1200" dirty="0"/>
          </a:p>
          <a:p>
            <a:pPr marL="0" indent="0">
              <a:spcAft>
                <a:spcPts val="200"/>
              </a:spcAft>
              <a:buNone/>
            </a:pPr>
            <a:r>
              <a:rPr lang="en-US" sz="1000" dirty="0">
                <a:solidFill>
                  <a:srgbClr val="5F6B70"/>
                </a:solidFill>
                <a:latin typeface="Aptos" pitchFamily="34" charset="0"/>
                <a:ea typeface="Aptos" pitchFamily="34" charset="-122"/>
                <a:cs typeface="Aptos" pitchFamily="34" charset="-120"/>
              </a:rPr>
              <a:t>NWV Inv. Health Calc chạy bằng Job Queue hằng đêm, ghi bảng NWV Inv. Health Line</a:t>
            </a:r>
            <a:endParaRPr lang="en-US" sz="1200" dirty="0"/>
          </a:p>
        </p:txBody>
      </p:sp>
      <p:sp>
        <p:nvSpPr>
          <p:cNvPr id="42" name="Shape 39"/>
          <p:cNvSpPr/>
          <p:nvPr/>
        </p:nvSpPr>
        <p:spPr>
          <a:xfrm>
            <a:off x="7792517" y="5577840"/>
            <a:ext cx="320040" cy="0"/>
          </a:xfrm>
          <a:prstGeom prst="line">
            <a:avLst/>
          </a:prstGeom>
          <a:noFill/>
          <a:ln w="15875">
            <a:solidFill>
              <a:srgbClr val="27343A"/>
            </a:solidFill>
            <a:prstDash val="solid"/>
            <a:tailEnd type="triangle"/>
          </a:ln>
        </p:spPr>
        <p:txBody>
          <a:bodyPr/>
          <a:lstStyle/>
          <a:p>
            <a:endParaRPr lang="en-US"/>
          </a:p>
        </p:txBody>
      </p:sp>
      <p:sp>
        <p:nvSpPr>
          <p:cNvPr id="43" name="Shape 40"/>
          <p:cNvSpPr/>
          <p:nvPr/>
        </p:nvSpPr>
        <p:spPr>
          <a:xfrm>
            <a:off x="8158277" y="4983480"/>
            <a:ext cx="3301898" cy="1188720"/>
          </a:xfrm>
          <a:prstGeom prst="roundRect">
            <a:avLst>
              <a:gd name="adj" fmla="val 4615"/>
            </a:avLst>
          </a:prstGeom>
          <a:solidFill>
            <a:srgbClr val="FFFFFF"/>
          </a:solidFill>
          <a:ln w="12700">
            <a:solidFill>
              <a:srgbClr val="C89B72"/>
            </a:solidFill>
            <a:prstDash val="solid"/>
          </a:ln>
        </p:spPr>
        <p:txBody>
          <a:bodyPr/>
          <a:lstStyle/>
          <a:p>
            <a:endParaRPr lang="en-US"/>
          </a:p>
        </p:txBody>
      </p:sp>
      <p:sp>
        <p:nvSpPr>
          <p:cNvPr id="44" name="Text 41"/>
          <p:cNvSpPr txBox="1"/>
          <p:nvPr/>
        </p:nvSpPr>
        <p:spPr>
          <a:xfrm>
            <a:off x="8249717" y="5029200"/>
            <a:ext cx="3119018" cy="1097280"/>
          </a:xfrm>
          <a:prstGeom prst="rect">
            <a:avLst/>
          </a:prstGeom>
          <a:noFill/>
          <a:ln/>
        </p:spPr>
        <p:txBody>
          <a:bodyPr wrap="square" lIns="25400" tIns="25400" rIns="25400" bIns="25400" rtlCol="0" anchor="t"/>
          <a:lstStyle/>
          <a:p>
            <a:pPr marL="0" indent="0">
              <a:spcAft>
                <a:spcPts val="200"/>
              </a:spcAft>
              <a:buNone/>
            </a:pPr>
            <a:r>
              <a:rPr lang="en-US" sz="1200" b="1" dirty="0">
                <a:solidFill>
                  <a:srgbClr val="27343A"/>
                </a:solidFill>
                <a:latin typeface="Aptos" pitchFamily="34" charset="0"/>
                <a:ea typeface="Aptos" pitchFamily="34" charset="-122"/>
                <a:cs typeface="Aptos" pitchFamily="34" charset="-120"/>
              </a:rPr>
              <a:t>Lớp 3 · Đề xuất và người duyệt</a:t>
            </a:r>
            <a:endParaRPr lang="en-US" sz="1200" dirty="0"/>
          </a:p>
          <a:p>
            <a:pPr marL="0" indent="0">
              <a:spcAft>
                <a:spcPts val="200"/>
              </a:spcAft>
              <a:buNone/>
            </a:pPr>
            <a:r>
              <a:rPr lang="en-US" sz="1000" dirty="0">
                <a:solidFill>
                  <a:srgbClr val="5F6B70"/>
                </a:solidFill>
                <a:latin typeface="Aptos" pitchFamily="34" charset="0"/>
                <a:ea typeface="Aptos" pitchFamily="34" charset="-122"/>
                <a:cs typeface="Aptos" pitchFamily="34" charset="-120"/>
              </a:rPr>
              <a:t>NWV Agent Proposal chờ duyệt; duyệt chuyển hàng thì BC tạo Transfer Order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100" b="1" kern="0" spc="200" dirty="0">
                <a:solidFill>
                  <a:srgbClr val="4BACC6"/>
                </a:solidFill>
                <a:latin typeface="Aptos" pitchFamily="34" charset="0"/>
                <a:ea typeface="Aptos" pitchFamily="34" charset="-122"/>
                <a:cs typeface="Aptos" pitchFamily="34" charset="-120"/>
              </a:rPr>
              <a:t>PHÂN VAI</a:t>
            </a:r>
            <a:endParaRPr lang="en-US" sz="1100" dirty="0"/>
          </a:p>
        </p:txBody>
      </p:sp>
      <p:sp>
        <p:nvSpPr>
          <p:cNvPr id="3" name="Text 1"/>
          <p:cNvSpPr txBox="1"/>
          <p:nvPr/>
        </p:nvSpPr>
        <p:spPr>
          <a:xfrm>
            <a:off x="548640" y="566928"/>
            <a:ext cx="11094415" cy="640080"/>
          </a:xfrm>
          <a:prstGeom prst="rect">
            <a:avLst/>
          </a:prstGeom>
          <a:noFill/>
          <a:ln/>
        </p:spPr>
        <p:txBody>
          <a:bodyPr wrap="square" lIns="0" tIns="0" rIns="0" bIns="0" rtlCol="0" anchor="t"/>
          <a:lstStyle/>
          <a:p>
            <a:pPr marL="0" indent="0">
              <a:buNone/>
            </a:pPr>
            <a:r>
              <a:rPr lang="en-US" sz="2800" b="1" dirty="0">
                <a:solidFill>
                  <a:srgbClr val="27343A"/>
                </a:solidFill>
                <a:latin typeface="Aptos Display" pitchFamily="34" charset="0"/>
                <a:ea typeface="Aptos Display" pitchFamily="34" charset="-122"/>
                <a:cs typeface="Aptos Display" pitchFamily="34" charset="-120"/>
              </a:rPr>
              <a:t>Số do Business Central tính, AI chỉ tham gia ở hai chỗ</a:t>
            </a:r>
            <a:endParaRPr lang="en-US" sz="2800" dirty="0"/>
          </a:p>
        </p:txBody>
      </p:sp>
      <p:sp>
        <p:nvSpPr>
          <p:cNvPr id="4" name="Text 2"/>
          <p:cNvSpPr txBox="1"/>
          <p:nvPr/>
        </p:nvSpPr>
        <p:spPr>
          <a:xfrm>
            <a:off x="548640" y="6473952"/>
            <a:ext cx="5486400" cy="228600"/>
          </a:xfrm>
          <a:prstGeom prst="rect">
            <a:avLst/>
          </a:prstGeom>
          <a:noFill/>
          <a:ln/>
        </p:spPr>
        <p:txBody>
          <a:bodyPr wrap="square" lIns="0" tIns="0" rIns="0" bIns="0" rtlCol="0" anchor="ctr"/>
          <a:lstStyle/>
          <a:p>
            <a:pPr marL="0" indent="0">
              <a:buNone/>
            </a:pPr>
            <a:r>
              <a:rPr lang="en-US" sz="900" dirty="0">
                <a:solidFill>
                  <a:srgbClr val="5F6B70"/>
                </a:solidFill>
                <a:latin typeface="Aptos" pitchFamily="34" charset="0"/>
                <a:ea typeface="Aptos" pitchFamily="34" charset="-122"/>
                <a:cs typeface="Aptos" pitchFamily="34" charset="-120"/>
              </a:rPr>
              <a:t>UC2 Inventory Health &amp; Traceability</a:t>
            </a:r>
            <a:endParaRPr lang="en-US" sz="900" dirty="0"/>
          </a:p>
        </p:txBody>
      </p:sp>
      <p:sp>
        <p:nvSpPr>
          <p:cNvPr id="5" name="Text 3"/>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5F6B70"/>
                </a:solidFill>
                <a:latin typeface="Aptos" pitchFamily="34" charset="0"/>
                <a:ea typeface="Aptos" pitchFamily="34" charset="-122"/>
                <a:cs typeface="Aptos" pitchFamily="34" charset="-120"/>
              </a:rPr>
              <a:t>4</a:t>
            </a:r>
            <a:endParaRPr lang="en-US" sz="900" dirty="0"/>
          </a:p>
        </p:txBody>
      </p:sp>
      <p:sp>
        <p:nvSpPr>
          <p:cNvPr id="7" name="Shape 4"/>
          <p:cNvSpPr/>
          <p:nvPr/>
        </p:nvSpPr>
        <p:spPr>
          <a:xfrm>
            <a:off x="548640" y="1417320"/>
            <a:ext cx="2602154" cy="3749040"/>
          </a:xfrm>
          <a:prstGeom prst="roundRect">
            <a:avLst>
              <a:gd name="adj" fmla="val 2811"/>
            </a:avLst>
          </a:prstGeom>
          <a:solidFill>
            <a:srgbClr val="F7FAFB"/>
          </a:solidFill>
          <a:ln w="12700">
            <a:solidFill>
              <a:srgbClr val="F7FAFB"/>
            </a:solidFill>
            <a:prstDash val="solid"/>
          </a:ln>
        </p:spPr>
        <p:txBody>
          <a:bodyPr/>
          <a:lstStyle/>
          <a:p>
            <a:endParaRPr lang="en-US"/>
          </a:p>
        </p:txBody>
      </p:sp>
      <p:sp>
        <p:nvSpPr>
          <p:cNvPr id="8" name="Shape 5"/>
          <p:cNvSpPr/>
          <p:nvPr/>
        </p:nvSpPr>
        <p:spPr>
          <a:xfrm>
            <a:off x="777240" y="1691640"/>
            <a:ext cx="548640" cy="548640"/>
          </a:xfrm>
          <a:prstGeom prst="ellipse">
            <a:avLst/>
          </a:prstGeom>
          <a:solidFill>
            <a:srgbClr val="27343A"/>
          </a:solidFill>
          <a:ln w="12700">
            <a:solidFill>
              <a:srgbClr val="27343A"/>
            </a:solidFill>
            <a:prstDash val="solid"/>
          </a:ln>
        </p:spPr>
        <p:txBody>
          <a:bodyPr/>
          <a:lstStyle/>
          <a:p>
            <a:endParaRPr lang="en-US"/>
          </a:p>
        </p:txBody>
      </p:sp>
      <p:sp>
        <p:nvSpPr>
          <p:cNvPr id="9" name="Text 6"/>
          <p:cNvSpPr txBox="1"/>
          <p:nvPr/>
        </p:nvSpPr>
        <p:spPr>
          <a:xfrm>
            <a:off x="777240" y="169164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1</a:t>
            </a:r>
            <a:endParaRPr lang="en-US" sz="1600" dirty="0"/>
          </a:p>
        </p:txBody>
      </p:sp>
      <p:sp>
        <p:nvSpPr>
          <p:cNvPr id="10" name="Text 7"/>
          <p:cNvSpPr txBox="1"/>
          <p:nvPr/>
        </p:nvSpPr>
        <p:spPr>
          <a:xfrm>
            <a:off x="777240" y="2423160"/>
            <a:ext cx="2144954" cy="731520"/>
          </a:xfrm>
          <a:prstGeom prst="rect">
            <a:avLst/>
          </a:prstGeom>
          <a:noFill/>
          <a:ln/>
        </p:spPr>
        <p:txBody>
          <a:bodyPr wrap="square" lIns="0" tIns="0" rIns="0" bIns="0" rtlCol="0" anchor="t"/>
          <a:lstStyle/>
          <a:p>
            <a:pPr marL="0" indent="0">
              <a:buNone/>
            </a:pPr>
            <a:r>
              <a:rPr lang="en-US" sz="1700" b="1" dirty="0">
                <a:solidFill>
                  <a:srgbClr val="27343A"/>
                </a:solidFill>
                <a:latin typeface="Aptos" pitchFamily="34" charset="0"/>
                <a:ea typeface="Aptos" pitchFamily="34" charset="-122"/>
                <a:cs typeface="Aptos" pitchFamily="34" charset="-120"/>
              </a:rPr>
              <a:t>Business Central tính số</a:t>
            </a:r>
            <a:endParaRPr lang="en-US" sz="1700" dirty="0"/>
          </a:p>
        </p:txBody>
      </p:sp>
      <p:sp>
        <p:nvSpPr>
          <p:cNvPr id="11" name="Text 8"/>
          <p:cNvSpPr txBox="1"/>
          <p:nvPr/>
        </p:nvSpPr>
        <p:spPr>
          <a:xfrm>
            <a:off x="777240" y="3154680"/>
            <a:ext cx="2144954" cy="1920240"/>
          </a:xfrm>
          <a:prstGeom prst="rect">
            <a:avLst/>
          </a:prstGeom>
          <a:noFill/>
          <a:ln/>
        </p:spPr>
        <p:txBody>
          <a:bodyPr wrap="square" lIns="0" tIns="0" rIns="0" bIns="0" rtlCol="0" anchor="t"/>
          <a:lstStyle/>
          <a:p>
            <a:pPr marL="0" indent="0">
              <a:buNone/>
            </a:pPr>
            <a:r>
              <a:rPr lang="en-US" sz="1400" dirty="0">
                <a:solidFill>
                  <a:srgbClr val="27343A"/>
                </a:solidFill>
                <a:latin typeface="Aptos" pitchFamily="34" charset="0"/>
                <a:ea typeface="Aptos" pitchFamily="34" charset="-122"/>
                <a:cs typeface="Aptos" pitchFamily="34" charset="-120"/>
              </a:rPr>
              <a:t>Tồn theo lô, hạn dùng, bán bình quân ngày, phân tầng, điểm rủi ro. Chạy bằng AL, kết quả nằm trong bảng của BC, mở và đối chiếu được.</a:t>
            </a:r>
            <a:endParaRPr lang="en-US" sz="1400" dirty="0"/>
          </a:p>
        </p:txBody>
      </p:sp>
      <p:sp>
        <p:nvSpPr>
          <p:cNvPr id="12" name="Shape 9"/>
          <p:cNvSpPr/>
          <p:nvPr/>
        </p:nvSpPr>
        <p:spPr>
          <a:xfrm>
            <a:off x="3379394" y="1417320"/>
            <a:ext cx="2602154" cy="3749040"/>
          </a:xfrm>
          <a:prstGeom prst="roundRect">
            <a:avLst>
              <a:gd name="adj" fmla="val 2811"/>
            </a:avLst>
          </a:prstGeom>
          <a:solidFill>
            <a:srgbClr val="F7FAFB"/>
          </a:solidFill>
          <a:ln w="12700">
            <a:solidFill>
              <a:srgbClr val="F7FAFB"/>
            </a:solidFill>
            <a:prstDash val="solid"/>
          </a:ln>
        </p:spPr>
        <p:txBody>
          <a:bodyPr/>
          <a:lstStyle/>
          <a:p>
            <a:endParaRPr lang="en-US"/>
          </a:p>
        </p:txBody>
      </p:sp>
      <p:sp>
        <p:nvSpPr>
          <p:cNvPr id="13" name="Shape 10"/>
          <p:cNvSpPr/>
          <p:nvPr/>
        </p:nvSpPr>
        <p:spPr>
          <a:xfrm>
            <a:off x="3607994" y="1691640"/>
            <a:ext cx="548640" cy="548640"/>
          </a:xfrm>
          <a:prstGeom prst="ellipse">
            <a:avLst/>
          </a:prstGeom>
          <a:solidFill>
            <a:srgbClr val="4BACC6"/>
          </a:solidFill>
          <a:ln w="12700">
            <a:solidFill>
              <a:srgbClr val="4BACC6"/>
            </a:solidFill>
            <a:prstDash val="solid"/>
          </a:ln>
        </p:spPr>
        <p:txBody>
          <a:bodyPr/>
          <a:lstStyle/>
          <a:p>
            <a:endParaRPr lang="en-US"/>
          </a:p>
        </p:txBody>
      </p:sp>
      <p:sp>
        <p:nvSpPr>
          <p:cNvPr id="14" name="Text 11"/>
          <p:cNvSpPr txBox="1"/>
          <p:nvPr/>
        </p:nvSpPr>
        <p:spPr>
          <a:xfrm>
            <a:off x="3607994" y="169164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2</a:t>
            </a:r>
            <a:endParaRPr lang="en-US" sz="1600" dirty="0"/>
          </a:p>
        </p:txBody>
      </p:sp>
      <p:sp>
        <p:nvSpPr>
          <p:cNvPr id="15" name="Text 12"/>
          <p:cNvSpPr txBox="1"/>
          <p:nvPr/>
        </p:nvSpPr>
        <p:spPr>
          <a:xfrm>
            <a:off x="3607994" y="2423160"/>
            <a:ext cx="2144954" cy="731520"/>
          </a:xfrm>
          <a:prstGeom prst="rect">
            <a:avLst/>
          </a:prstGeom>
          <a:noFill/>
          <a:ln/>
        </p:spPr>
        <p:txBody>
          <a:bodyPr wrap="square" lIns="0" tIns="0" rIns="0" bIns="0" rtlCol="0" anchor="t"/>
          <a:lstStyle/>
          <a:p>
            <a:pPr marL="0" indent="0">
              <a:buNone/>
            </a:pPr>
            <a:r>
              <a:rPr lang="en-US" sz="1700" b="1" dirty="0">
                <a:solidFill>
                  <a:srgbClr val="27343A"/>
                </a:solidFill>
                <a:latin typeface="Aptos" pitchFamily="34" charset="0"/>
                <a:ea typeface="Aptos" pitchFamily="34" charset="-122"/>
                <a:cs typeface="Aptos" pitchFamily="34" charset="-120"/>
              </a:rPr>
              <a:t>Trợ lý đọc và trả lời</a:t>
            </a:r>
            <a:endParaRPr lang="en-US" sz="1700" dirty="0"/>
          </a:p>
        </p:txBody>
      </p:sp>
      <p:sp>
        <p:nvSpPr>
          <p:cNvPr id="16" name="Text 13"/>
          <p:cNvSpPr txBox="1"/>
          <p:nvPr/>
        </p:nvSpPr>
        <p:spPr>
          <a:xfrm>
            <a:off x="3607994" y="3154680"/>
            <a:ext cx="2144954" cy="1920240"/>
          </a:xfrm>
          <a:prstGeom prst="rect">
            <a:avLst/>
          </a:prstGeom>
          <a:noFill/>
          <a:ln/>
        </p:spPr>
        <p:txBody>
          <a:bodyPr wrap="square" lIns="0" tIns="0" rIns="0" bIns="0" rtlCol="0" anchor="t"/>
          <a:lstStyle/>
          <a:p>
            <a:pPr marL="0" indent="0">
              <a:buNone/>
            </a:pPr>
            <a:r>
              <a:rPr lang="en-US" sz="1400" dirty="0">
                <a:solidFill>
                  <a:srgbClr val="27343A"/>
                </a:solidFill>
                <a:latin typeface="Aptos" pitchFamily="34" charset="0"/>
                <a:ea typeface="Aptos" pitchFamily="34" charset="-122"/>
                <a:cs typeface="Aptos" pitchFamily="34" charset="-120"/>
              </a:rPr>
              <a:t>Nhận dạng câu hỏi quen thuộc bằng quy tắc, đọc bảng đã tính, trả lời trong phạm vi của vai. Cùng câu hỏi, cùng dữ liệu thì cùng câu trả lời.</a:t>
            </a:r>
            <a:endParaRPr lang="en-US" sz="1400" dirty="0"/>
          </a:p>
        </p:txBody>
      </p:sp>
      <p:sp>
        <p:nvSpPr>
          <p:cNvPr id="17" name="Shape 14"/>
          <p:cNvSpPr/>
          <p:nvPr/>
        </p:nvSpPr>
        <p:spPr>
          <a:xfrm>
            <a:off x="6210148" y="1417320"/>
            <a:ext cx="2602154" cy="3749040"/>
          </a:xfrm>
          <a:prstGeom prst="roundRect">
            <a:avLst>
              <a:gd name="adj" fmla="val 2811"/>
            </a:avLst>
          </a:prstGeom>
          <a:solidFill>
            <a:srgbClr val="F4EEE8"/>
          </a:solidFill>
          <a:ln w="12700">
            <a:solidFill>
              <a:srgbClr val="F4EEE8"/>
            </a:solidFill>
            <a:prstDash val="solid"/>
          </a:ln>
        </p:spPr>
        <p:txBody>
          <a:bodyPr/>
          <a:lstStyle/>
          <a:p>
            <a:endParaRPr lang="en-US"/>
          </a:p>
        </p:txBody>
      </p:sp>
      <p:sp>
        <p:nvSpPr>
          <p:cNvPr id="18" name="Shape 15"/>
          <p:cNvSpPr/>
          <p:nvPr/>
        </p:nvSpPr>
        <p:spPr>
          <a:xfrm>
            <a:off x="6438748" y="1691640"/>
            <a:ext cx="548640" cy="548640"/>
          </a:xfrm>
          <a:prstGeom prst="ellipse">
            <a:avLst/>
          </a:prstGeom>
          <a:solidFill>
            <a:srgbClr val="C89B72"/>
          </a:solidFill>
          <a:ln w="12700">
            <a:solidFill>
              <a:srgbClr val="C89B72"/>
            </a:solidFill>
            <a:prstDash val="solid"/>
          </a:ln>
        </p:spPr>
        <p:txBody>
          <a:bodyPr/>
          <a:lstStyle/>
          <a:p>
            <a:endParaRPr lang="en-US"/>
          </a:p>
        </p:txBody>
      </p:sp>
      <p:sp>
        <p:nvSpPr>
          <p:cNvPr id="19" name="Text 16"/>
          <p:cNvSpPr txBox="1"/>
          <p:nvPr/>
        </p:nvSpPr>
        <p:spPr>
          <a:xfrm>
            <a:off x="6438748" y="169164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3</a:t>
            </a:r>
            <a:endParaRPr lang="en-US" sz="1600" dirty="0"/>
          </a:p>
        </p:txBody>
      </p:sp>
      <p:sp>
        <p:nvSpPr>
          <p:cNvPr id="20" name="Text 17"/>
          <p:cNvSpPr txBox="1"/>
          <p:nvPr/>
        </p:nvSpPr>
        <p:spPr>
          <a:xfrm>
            <a:off x="6438748" y="2423160"/>
            <a:ext cx="2144954" cy="731520"/>
          </a:xfrm>
          <a:prstGeom prst="rect">
            <a:avLst/>
          </a:prstGeom>
          <a:noFill/>
          <a:ln/>
        </p:spPr>
        <p:txBody>
          <a:bodyPr wrap="square" lIns="0" tIns="0" rIns="0" bIns="0" rtlCol="0" anchor="t"/>
          <a:lstStyle/>
          <a:p>
            <a:pPr marL="0" indent="0">
              <a:buNone/>
            </a:pPr>
            <a:r>
              <a:rPr lang="en-US" sz="1700" b="1" dirty="0">
                <a:solidFill>
                  <a:srgbClr val="27343A"/>
                </a:solidFill>
                <a:latin typeface="Aptos" pitchFamily="34" charset="0"/>
                <a:ea typeface="Aptos" pitchFamily="34" charset="-122"/>
                <a:cs typeface="Aptos" pitchFamily="34" charset="-120"/>
              </a:rPr>
              <a:t>AI ở hai chỗ</a:t>
            </a:r>
            <a:endParaRPr lang="en-US" sz="1700" dirty="0"/>
          </a:p>
        </p:txBody>
      </p:sp>
      <p:sp>
        <p:nvSpPr>
          <p:cNvPr id="21" name="Text 18"/>
          <p:cNvSpPr txBox="1"/>
          <p:nvPr/>
        </p:nvSpPr>
        <p:spPr>
          <a:xfrm>
            <a:off x="6438748" y="3154680"/>
            <a:ext cx="2144954" cy="1920240"/>
          </a:xfrm>
          <a:prstGeom prst="rect">
            <a:avLst/>
          </a:prstGeom>
          <a:noFill/>
          <a:ln/>
        </p:spPr>
        <p:txBody>
          <a:bodyPr wrap="square" lIns="0" tIns="0" rIns="0" bIns="0" rtlCol="0" anchor="t"/>
          <a:lstStyle/>
          <a:p>
            <a:pPr marL="0" indent="0">
              <a:buNone/>
            </a:pPr>
            <a:r>
              <a:rPr lang="en-US" sz="1400" dirty="0">
                <a:solidFill>
                  <a:srgbClr val="27343A"/>
                </a:solidFill>
                <a:latin typeface="Aptos" pitchFamily="34" charset="0"/>
                <a:ea typeface="Aptos" pitchFamily="34" charset="-122"/>
                <a:cs typeface="Aptos" pitchFamily="34" charset="-120"/>
              </a:rPr>
              <a:t>Câu hỏi chưa có mẫu: model chọn dữ liệu cần đọc rồi trả lời, số phải lấy từ kết quả đọc. Viết lại lý do đề xuất, giữ nguyên số. Bật tắt được, có trần chi phí.</a:t>
            </a:r>
            <a:endParaRPr lang="en-US" sz="1400" dirty="0"/>
          </a:p>
        </p:txBody>
      </p:sp>
      <p:sp>
        <p:nvSpPr>
          <p:cNvPr id="22" name="Shape 19"/>
          <p:cNvSpPr/>
          <p:nvPr/>
        </p:nvSpPr>
        <p:spPr>
          <a:xfrm>
            <a:off x="9040901" y="1417320"/>
            <a:ext cx="2602154" cy="3749040"/>
          </a:xfrm>
          <a:prstGeom prst="roundRect">
            <a:avLst>
              <a:gd name="adj" fmla="val 2811"/>
            </a:avLst>
          </a:prstGeom>
          <a:solidFill>
            <a:srgbClr val="F7FAFB"/>
          </a:solidFill>
          <a:ln w="12700">
            <a:solidFill>
              <a:srgbClr val="F7FAFB"/>
            </a:solidFill>
            <a:prstDash val="solid"/>
          </a:ln>
        </p:spPr>
        <p:txBody>
          <a:bodyPr/>
          <a:lstStyle/>
          <a:p>
            <a:endParaRPr lang="en-US"/>
          </a:p>
        </p:txBody>
      </p:sp>
      <p:sp>
        <p:nvSpPr>
          <p:cNvPr id="23" name="Shape 20"/>
          <p:cNvSpPr/>
          <p:nvPr/>
        </p:nvSpPr>
        <p:spPr>
          <a:xfrm>
            <a:off x="9269501" y="1691640"/>
            <a:ext cx="548640" cy="548640"/>
          </a:xfrm>
          <a:prstGeom prst="ellipse">
            <a:avLst/>
          </a:prstGeom>
          <a:solidFill>
            <a:srgbClr val="27343A"/>
          </a:solidFill>
          <a:ln w="12700">
            <a:solidFill>
              <a:srgbClr val="27343A"/>
            </a:solidFill>
            <a:prstDash val="solid"/>
          </a:ln>
        </p:spPr>
        <p:txBody>
          <a:bodyPr/>
          <a:lstStyle/>
          <a:p>
            <a:endParaRPr lang="en-US"/>
          </a:p>
        </p:txBody>
      </p:sp>
      <p:sp>
        <p:nvSpPr>
          <p:cNvPr id="24" name="Text 21"/>
          <p:cNvSpPr txBox="1"/>
          <p:nvPr/>
        </p:nvSpPr>
        <p:spPr>
          <a:xfrm>
            <a:off x="9269501" y="169164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4</a:t>
            </a:r>
            <a:endParaRPr lang="en-US" sz="1600" dirty="0"/>
          </a:p>
        </p:txBody>
      </p:sp>
      <p:sp>
        <p:nvSpPr>
          <p:cNvPr id="25" name="Text 22"/>
          <p:cNvSpPr txBox="1"/>
          <p:nvPr/>
        </p:nvSpPr>
        <p:spPr>
          <a:xfrm>
            <a:off x="9269501" y="2423160"/>
            <a:ext cx="2144954" cy="731520"/>
          </a:xfrm>
          <a:prstGeom prst="rect">
            <a:avLst/>
          </a:prstGeom>
          <a:noFill/>
          <a:ln/>
        </p:spPr>
        <p:txBody>
          <a:bodyPr wrap="square" lIns="0" tIns="0" rIns="0" bIns="0" rtlCol="0" anchor="t"/>
          <a:lstStyle/>
          <a:p>
            <a:pPr marL="0" indent="0">
              <a:buNone/>
            </a:pPr>
            <a:r>
              <a:rPr lang="en-US" sz="1700" b="1" dirty="0">
                <a:solidFill>
                  <a:srgbClr val="27343A"/>
                </a:solidFill>
                <a:latin typeface="Aptos" pitchFamily="34" charset="0"/>
                <a:ea typeface="Aptos" pitchFamily="34" charset="-122"/>
                <a:cs typeface="Aptos" pitchFamily="34" charset="-120"/>
              </a:rPr>
              <a:t>Người Marou quyết định</a:t>
            </a:r>
            <a:endParaRPr lang="en-US" sz="1700" dirty="0"/>
          </a:p>
        </p:txBody>
      </p:sp>
      <p:sp>
        <p:nvSpPr>
          <p:cNvPr id="26" name="Text 23"/>
          <p:cNvSpPr txBox="1"/>
          <p:nvPr/>
        </p:nvSpPr>
        <p:spPr>
          <a:xfrm>
            <a:off x="9269501" y="3154680"/>
            <a:ext cx="2144954" cy="1920240"/>
          </a:xfrm>
          <a:prstGeom prst="rect">
            <a:avLst/>
          </a:prstGeom>
          <a:noFill/>
          <a:ln/>
        </p:spPr>
        <p:txBody>
          <a:bodyPr wrap="square" lIns="0" tIns="0" rIns="0" bIns="0" rtlCol="0" anchor="t"/>
          <a:lstStyle/>
          <a:p>
            <a:pPr marL="0" indent="0">
              <a:buNone/>
            </a:pPr>
            <a:r>
              <a:rPr lang="en-US" sz="1400" dirty="0">
                <a:solidFill>
                  <a:srgbClr val="27343A"/>
                </a:solidFill>
                <a:latin typeface="Aptos" pitchFamily="34" charset="0"/>
                <a:ea typeface="Aptos" pitchFamily="34" charset="-122"/>
                <a:cs typeface="Aptos" pitchFamily="34" charset="-120"/>
              </a:rPr>
              <a:t>Trợ lý chỉ ghi đề xuất. Người duyệt bấm Duyệt hoặc Từ chối; chứng từ chỉ sinh ra khi được duyệt.</a:t>
            </a:r>
            <a:endParaRPr lang="en-US" sz="1400" dirty="0"/>
          </a:p>
        </p:txBody>
      </p:sp>
      <p:sp>
        <p:nvSpPr>
          <p:cNvPr id="27" name="Text 24"/>
          <p:cNvSpPr txBox="1"/>
          <p:nvPr/>
        </p:nvSpPr>
        <p:spPr>
          <a:xfrm>
            <a:off x="548640" y="5440680"/>
            <a:ext cx="11094415" cy="548640"/>
          </a:xfrm>
          <a:prstGeom prst="roundRect">
            <a:avLst>
              <a:gd name="adj" fmla="val 13333"/>
            </a:avLst>
          </a:prstGeom>
          <a:solidFill>
            <a:srgbClr val="DAEEF3"/>
          </a:solidFill>
          <a:ln>
            <a:solidFill>
              <a:srgbClr val="DAEEF3"/>
            </a:solidFill>
          </a:ln>
        </p:spPr>
        <p:txBody>
          <a:bodyPr wrap="square" lIns="0" tIns="203200" rIns="203200" bIns="0" rtlCol="0" anchor="ctr"/>
          <a:lstStyle/>
          <a:p>
            <a:pPr marL="0" indent="0">
              <a:buNone/>
            </a:pPr>
            <a:r>
              <a:rPr lang="en-US" sz="1400" b="1" dirty="0">
                <a:solidFill>
                  <a:srgbClr val="27343A"/>
                </a:solidFill>
                <a:latin typeface="Aptos" pitchFamily="34" charset="0"/>
                <a:ea typeface="Aptos" pitchFamily="34" charset="-122"/>
                <a:cs typeface="Aptos" pitchFamily="34" charset="-120"/>
              </a:rPr>
              <a:t>Tắt AI thì dashboard, số liệu, đề xuất và luồng duyệt vẫn chạy như cũ.</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100" b="1" kern="0" spc="200" dirty="0">
                <a:solidFill>
                  <a:srgbClr val="4BACC6"/>
                </a:solidFill>
                <a:latin typeface="Aptos" pitchFamily="34" charset="0"/>
                <a:ea typeface="Aptos" pitchFamily="34" charset="-122"/>
                <a:cs typeface="Aptos" pitchFamily="34" charset="-120"/>
              </a:rPr>
              <a:t>LUỒNG DỮ LIỆU UC2</a:t>
            </a:r>
            <a:endParaRPr lang="en-US" sz="1100" dirty="0"/>
          </a:p>
        </p:txBody>
      </p:sp>
      <p:sp>
        <p:nvSpPr>
          <p:cNvPr id="3" name="Text 1"/>
          <p:cNvSpPr txBox="1"/>
          <p:nvPr/>
        </p:nvSpPr>
        <p:spPr>
          <a:xfrm>
            <a:off x="548640" y="566928"/>
            <a:ext cx="11094415" cy="640080"/>
          </a:xfrm>
          <a:prstGeom prst="rect">
            <a:avLst/>
          </a:prstGeom>
          <a:noFill/>
          <a:ln/>
        </p:spPr>
        <p:txBody>
          <a:bodyPr wrap="square" lIns="0" tIns="0" rIns="0" bIns="0" rtlCol="0" anchor="t"/>
          <a:lstStyle/>
          <a:p>
            <a:pPr marL="0" indent="0">
              <a:buNone/>
            </a:pPr>
            <a:r>
              <a:rPr lang="en-US" sz="2800" b="1" dirty="0">
                <a:solidFill>
                  <a:srgbClr val="27343A"/>
                </a:solidFill>
                <a:latin typeface="Aptos Display" pitchFamily="34" charset="0"/>
                <a:ea typeface="Aptos Display" pitchFamily="34" charset="-122"/>
                <a:cs typeface="Aptos Display" pitchFamily="34" charset="-120"/>
              </a:rPr>
              <a:t>Từ sổ kho đến thẻ việc của từng vai</a:t>
            </a:r>
            <a:endParaRPr lang="en-US" sz="2800" dirty="0"/>
          </a:p>
        </p:txBody>
      </p:sp>
      <p:sp>
        <p:nvSpPr>
          <p:cNvPr id="4" name="Text 2"/>
          <p:cNvSpPr txBox="1"/>
          <p:nvPr/>
        </p:nvSpPr>
        <p:spPr>
          <a:xfrm>
            <a:off x="548640" y="6473952"/>
            <a:ext cx="5486400" cy="228600"/>
          </a:xfrm>
          <a:prstGeom prst="rect">
            <a:avLst/>
          </a:prstGeom>
          <a:noFill/>
          <a:ln/>
        </p:spPr>
        <p:txBody>
          <a:bodyPr wrap="square" lIns="0" tIns="0" rIns="0" bIns="0" rtlCol="0" anchor="ctr"/>
          <a:lstStyle/>
          <a:p>
            <a:pPr marL="0" indent="0">
              <a:buNone/>
            </a:pPr>
            <a:r>
              <a:rPr lang="en-US" sz="900" dirty="0">
                <a:solidFill>
                  <a:srgbClr val="5F6B70"/>
                </a:solidFill>
                <a:latin typeface="Aptos" pitchFamily="34" charset="0"/>
                <a:ea typeface="Aptos" pitchFamily="34" charset="-122"/>
                <a:cs typeface="Aptos" pitchFamily="34" charset="-120"/>
              </a:rPr>
              <a:t>UC2 Inventory Health &amp; Traceability</a:t>
            </a:r>
            <a:endParaRPr lang="en-US" sz="900" dirty="0"/>
          </a:p>
        </p:txBody>
      </p:sp>
      <p:sp>
        <p:nvSpPr>
          <p:cNvPr id="5" name="Text 3"/>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5F6B70"/>
                </a:solidFill>
                <a:latin typeface="Aptos" pitchFamily="34" charset="0"/>
                <a:ea typeface="Aptos" pitchFamily="34" charset="-122"/>
                <a:cs typeface="Aptos" pitchFamily="34" charset="-120"/>
              </a:rPr>
              <a:t>5</a:t>
            </a:r>
            <a:endParaRPr lang="en-US" sz="900" dirty="0"/>
          </a:p>
        </p:txBody>
      </p:sp>
      <p:sp>
        <p:nvSpPr>
          <p:cNvPr id="7" name="Shape 4"/>
          <p:cNvSpPr/>
          <p:nvPr/>
        </p:nvSpPr>
        <p:spPr>
          <a:xfrm>
            <a:off x="548640" y="1417320"/>
            <a:ext cx="2464994" cy="4526280"/>
          </a:xfrm>
          <a:prstGeom prst="roundRect">
            <a:avLst>
              <a:gd name="adj" fmla="val 2968"/>
            </a:avLst>
          </a:prstGeom>
          <a:solidFill>
            <a:srgbClr val="F7FAFB"/>
          </a:solidFill>
          <a:ln w="12700">
            <a:solidFill>
              <a:srgbClr val="F7FAFB"/>
            </a:solidFill>
            <a:prstDash val="solid"/>
          </a:ln>
        </p:spPr>
        <p:txBody>
          <a:bodyPr/>
          <a:lstStyle/>
          <a:p>
            <a:endParaRPr lang="en-US"/>
          </a:p>
        </p:txBody>
      </p:sp>
      <p:sp>
        <p:nvSpPr>
          <p:cNvPr id="8" name="Shape 5"/>
          <p:cNvSpPr/>
          <p:nvPr/>
        </p:nvSpPr>
        <p:spPr>
          <a:xfrm>
            <a:off x="731520" y="1600200"/>
            <a:ext cx="411480" cy="411480"/>
          </a:xfrm>
          <a:prstGeom prst="ellipse">
            <a:avLst/>
          </a:prstGeom>
          <a:solidFill>
            <a:srgbClr val="4BACC6"/>
          </a:solidFill>
          <a:ln w="12700">
            <a:solidFill>
              <a:srgbClr val="4BACC6"/>
            </a:solidFill>
            <a:prstDash val="solid"/>
          </a:ln>
        </p:spPr>
        <p:txBody>
          <a:bodyPr/>
          <a:lstStyle/>
          <a:p>
            <a:endParaRPr lang="en-US"/>
          </a:p>
        </p:txBody>
      </p:sp>
      <p:sp>
        <p:nvSpPr>
          <p:cNvPr id="9" name="Text 6"/>
          <p:cNvSpPr txBox="1"/>
          <p:nvPr/>
        </p:nvSpPr>
        <p:spPr>
          <a:xfrm>
            <a:off x="731520" y="160020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0" name="Text 7"/>
          <p:cNvSpPr txBox="1"/>
          <p:nvPr/>
        </p:nvSpPr>
        <p:spPr>
          <a:xfrm>
            <a:off x="1261872" y="1600200"/>
            <a:ext cx="1642034" cy="411480"/>
          </a:xfrm>
          <a:prstGeom prst="rect">
            <a:avLst/>
          </a:prstGeom>
          <a:noFill/>
          <a:ln/>
        </p:spPr>
        <p:txBody>
          <a:bodyPr wrap="square" lIns="0" tIns="0" rIns="0" bIns="0" rtlCol="0" anchor="ctr"/>
          <a:lstStyle/>
          <a:p>
            <a:pPr marL="0" indent="0">
              <a:buNone/>
            </a:pPr>
            <a:r>
              <a:rPr lang="en-US" sz="1600" b="1" dirty="0">
                <a:solidFill>
                  <a:srgbClr val="27343A"/>
                </a:solidFill>
                <a:latin typeface="Aptos" pitchFamily="34" charset="0"/>
                <a:ea typeface="Aptos" pitchFamily="34" charset="-122"/>
                <a:cs typeface="Aptos" pitchFamily="34" charset="-120"/>
              </a:rPr>
              <a:t>Đầu vào</a:t>
            </a:r>
            <a:endParaRPr lang="en-US" sz="1600" dirty="0"/>
          </a:p>
        </p:txBody>
      </p:sp>
      <p:sp>
        <p:nvSpPr>
          <p:cNvPr id="11" name="Text 8"/>
          <p:cNvSpPr txBox="1"/>
          <p:nvPr/>
        </p:nvSpPr>
        <p:spPr>
          <a:xfrm>
            <a:off x="685800" y="2194560"/>
            <a:ext cx="2190674" cy="3657600"/>
          </a:xfrm>
          <a:prstGeom prst="rect">
            <a:avLst/>
          </a:prstGeom>
          <a:noFill/>
          <a:ln/>
        </p:spPr>
        <p:txBody>
          <a:bodyPr wrap="square" lIns="25400" tIns="25400" rIns="25400" bIns="25400" rtlCol="0" anchor="t"/>
          <a:lstStyle/>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Item Ledger Entry: tồn theo lô, hạn dùng, bán, xuất, chuyển</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Item, Location, Item Category</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Ngưỡng trên NWV Agent Setup: cận date 45 ngày, đủ bán dưới 7 ngày, trên 90 ngày, 60 ngày không bán</a:t>
            </a:r>
            <a:endParaRPr lang="en-US" sz="1400" dirty="0"/>
          </a:p>
        </p:txBody>
      </p:sp>
      <p:sp>
        <p:nvSpPr>
          <p:cNvPr id="12" name="Shape 9"/>
          <p:cNvSpPr/>
          <p:nvPr/>
        </p:nvSpPr>
        <p:spPr>
          <a:xfrm>
            <a:off x="3123362" y="3474720"/>
            <a:ext cx="201168" cy="365760"/>
          </a:xfrm>
          <a:prstGeom prst="chevron">
            <a:avLst/>
          </a:prstGeom>
          <a:solidFill>
            <a:srgbClr val="4BACC6"/>
          </a:solidFill>
          <a:ln w="12700">
            <a:solidFill>
              <a:srgbClr val="4BACC6"/>
            </a:solidFill>
            <a:prstDash val="solid"/>
          </a:ln>
        </p:spPr>
        <p:txBody>
          <a:bodyPr/>
          <a:lstStyle/>
          <a:p>
            <a:endParaRPr lang="en-US"/>
          </a:p>
        </p:txBody>
      </p:sp>
      <p:sp>
        <p:nvSpPr>
          <p:cNvPr id="13" name="Shape 10"/>
          <p:cNvSpPr/>
          <p:nvPr/>
        </p:nvSpPr>
        <p:spPr>
          <a:xfrm>
            <a:off x="3425114" y="1417320"/>
            <a:ext cx="2464994" cy="4526280"/>
          </a:xfrm>
          <a:prstGeom prst="roundRect">
            <a:avLst>
              <a:gd name="adj" fmla="val 2968"/>
            </a:avLst>
          </a:prstGeom>
          <a:solidFill>
            <a:srgbClr val="F7FAFB"/>
          </a:solidFill>
          <a:ln w="12700">
            <a:solidFill>
              <a:srgbClr val="F7FAFB"/>
            </a:solidFill>
            <a:prstDash val="solid"/>
          </a:ln>
        </p:spPr>
        <p:txBody>
          <a:bodyPr/>
          <a:lstStyle/>
          <a:p>
            <a:endParaRPr lang="en-US"/>
          </a:p>
        </p:txBody>
      </p:sp>
      <p:sp>
        <p:nvSpPr>
          <p:cNvPr id="14" name="Shape 11"/>
          <p:cNvSpPr/>
          <p:nvPr/>
        </p:nvSpPr>
        <p:spPr>
          <a:xfrm>
            <a:off x="3607994" y="1600200"/>
            <a:ext cx="411480" cy="411480"/>
          </a:xfrm>
          <a:prstGeom prst="ellipse">
            <a:avLst/>
          </a:prstGeom>
          <a:solidFill>
            <a:srgbClr val="4BACC6"/>
          </a:solidFill>
          <a:ln w="12700">
            <a:solidFill>
              <a:srgbClr val="4BACC6"/>
            </a:solidFill>
            <a:prstDash val="solid"/>
          </a:ln>
        </p:spPr>
        <p:txBody>
          <a:bodyPr/>
          <a:lstStyle/>
          <a:p>
            <a:endParaRPr lang="en-US"/>
          </a:p>
        </p:txBody>
      </p:sp>
      <p:sp>
        <p:nvSpPr>
          <p:cNvPr id="15" name="Text 12"/>
          <p:cNvSpPr txBox="1"/>
          <p:nvPr/>
        </p:nvSpPr>
        <p:spPr>
          <a:xfrm>
            <a:off x="3607994" y="160020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6" name="Text 13"/>
          <p:cNvSpPr txBox="1"/>
          <p:nvPr/>
        </p:nvSpPr>
        <p:spPr>
          <a:xfrm>
            <a:off x="4138346" y="1600200"/>
            <a:ext cx="1642034" cy="411480"/>
          </a:xfrm>
          <a:prstGeom prst="rect">
            <a:avLst/>
          </a:prstGeom>
          <a:noFill/>
          <a:ln/>
        </p:spPr>
        <p:txBody>
          <a:bodyPr wrap="square" lIns="0" tIns="0" rIns="0" bIns="0" rtlCol="0" anchor="ctr"/>
          <a:lstStyle/>
          <a:p>
            <a:pPr marL="0" indent="0">
              <a:buNone/>
            </a:pPr>
            <a:r>
              <a:rPr lang="en-US" sz="1600" b="1" dirty="0">
                <a:solidFill>
                  <a:srgbClr val="27343A"/>
                </a:solidFill>
                <a:latin typeface="Aptos" pitchFamily="34" charset="0"/>
                <a:ea typeface="Aptos" pitchFamily="34" charset="-122"/>
                <a:cs typeface="Aptos" pitchFamily="34" charset="-120"/>
              </a:rPr>
              <a:t>Xử lý trong BC</a:t>
            </a:r>
            <a:endParaRPr lang="en-US" sz="1600" dirty="0"/>
          </a:p>
        </p:txBody>
      </p:sp>
      <p:sp>
        <p:nvSpPr>
          <p:cNvPr id="17" name="Text 14"/>
          <p:cNvSpPr txBox="1"/>
          <p:nvPr/>
        </p:nvSpPr>
        <p:spPr>
          <a:xfrm>
            <a:off x="3562274" y="2194560"/>
            <a:ext cx="2190674" cy="3657600"/>
          </a:xfrm>
          <a:prstGeom prst="rect">
            <a:avLst/>
          </a:prstGeom>
          <a:noFill/>
          <a:ln/>
        </p:spPr>
        <p:txBody>
          <a:bodyPr wrap="square" lIns="25400" tIns="25400" rIns="25400" bIns="25400" rtlCol="0" anchor="t"/>
          <a:lstStyle/>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NWV Demand Calc: bán bình quân ngày theo mặt hàng và địa điểm, bỏ ngày hết hàng</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NWV Inv. Health Calc: gom tồn theo lô, xếp tầng, chấm điểm rủi ro</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Job Queue chạy hằng đêm</a:t>
            </a:r>
            <a:endParaRPr lang="en-US" sz="1400" dirty="0"/>
          </a:p>
        </p:txBody>
      </p:sp>
      <p:sp>
        <p:nvSpPr>
          <p:cNvPr id="18" name="Shape 15"/>
          <p:cNvSpPr/>
          <p:nvPr/>
        </p:nvSpPr>
        <p:spPr>
          <a:xfrm>
            <a:off x="5999836" y="3474720"/>
            <a:ext cx="201168" cy="365760"/>
          </a:xfrm>
          <a:prstGeom prst="chevron">
            <a:avLst/>
          </a:prstGeom>
          <a:solidFill>
            <a:srgbClr val="4BACC6"/>
          </a:solidFill>
          <a:ln w="12700">
            <a:solidFill>
              <a:srgbClr val="4BACC6"/>
            </a:solidFill>
            <a:prstDash val="solid"/>
          </a:ln>
        </p:spPr>
        <p:txBody>
          <a:bodyPr/>
          <a:lstStyle/>
          <a:p>
            <a:endParaRPr lang="en-US"/>
          </a:p>
        </p:txBody>
      </p:sp>
      <p:sp>
        <p:nvSpPr>
          <p:cNvPr id="19" name="Shape 16"/>
          <p:cNvSpPr/>
          <p:nvPr/>
        </p:nvSpPr>
        <p:spPr>
          <a:xfrm>
            <a:off x="6301588" y="1417320"/>
            <a:ext cx="2464994" cy="4526280"/>
          </a:xfrm>
          <a:prstGeom prst="roundRect">
            <a:avLst>
              <a:gd name="adj" fmla="val 2968"/>
            </a:avLst>
          </a:prstGeom>
          <a:solidFill>
            <a:srgbClr val="DAEEF3"/>
          </a:solidFill>
          <a:ln w="12700">
            <a:solidFill>
              <a:srgbClr val="DAEEF3"/>
            </a:solidFill>
            <a:prstDash val="solid"/>
          </a:ln>
        </p:spPr>
        <p:txBody>
          <a:bodyPr/>
          <a:lstStyle/>
          <a:p>
            <a:endParaRPr lang="en-US"/>
          </a:p>
        </p:txBody>
      </p:sp>
      <p:sp>
        <p:nvSpPr>
          <p:cNvPr id="20" name="Shape 17"/>
          <p:cNvSpPr/>
          <p:nvPr/>
        </p:nvSpPr>
        <p:spPr>
          <a:xfrm>
            <a:off x="6484468" y="1600200"/>
            <a:ext cx="411480" cy="411480"/>
          </a:xfrm>
          <a:prstGeom prst="ellipse">
            <a:avLst/>
          </a:prstGeom>
          <a:solidFill>
            <a:srgbClr val="27343A"/>
          </a:solidFill>
          <a:ln w="12700">
            <a:solidFill>
              <a:srgbClr val="27343A"/>
            </a:solidFill>
            <a:prstDash val="solid"/>
          </a:ln>
        </p:spPr>
        <p:txBody>
          <a:bodyPr/>
          <a:lstStyle/>
          <a:p>
            <a:endParaRPr lang="en-US"/>
          </a:p>
        </p:txBody>
      </p:sp>
      <p:sp>
        <p:nvSpPr>
          <p:cNvPr id="21" name="Text 18"/>
          <p:cNvSpPr txBox="1"/>
          <p:nvPr/>
        </p:nvSpPr>
        <p:spPr>
          <a:xfrm>
            <a:off x="6484468" y="160020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2" name="Text 19"/>
          <p:cNvSpPr txBox="1"/>
          <p:nvPr/>
        </p:nvSpPr>
        <p:spPr>
          <a:xfrm>
            <a:off x="7014820" y="1600200"/>
            <a:ext cx="1642034" cy="411480"/>
          </a:xfrm>
          <a:prstGeom prst="rect">
            <a:avLst/>
          </a:prstGeom>
          <a:noFill/>
          <a:ln/>
        </p:spPr>
        <p:txBody>
          <a:bodyPr wrap="square" lIns="0" tIns="0" rIns="0" bIns="0" rtlCol="0" anchor="ctr"/>
          <a:lstStyle/>
          <a:p>
            <a:pPr marL="0" indent="0">
              <a:buNone/>
            </a:pPr>
            <a:r>
              <a:rPr lang="en-US" sz="1600" b="1" dirty="0">
                <a:solidFill>
                  <a:srgbClr val="27343A"/>
                </a:solidFill>
                <a:latin typeface="Aptos" pitchFamily="34" charset="0"/>
                <a:ea typeface="Aptos" pitchFamily="34" charset="-122"/>
                <a:cs typeface="Aptos" pitchFamily="34" charset="-120"/>
              </a:rPr>
              <a:t>Đầu ra</a:t>
            </a:r>
            <a:endParaRPr lang="en-US" sz="1600" dirty="0"/>
          </a:p>
        </p:txBody>
      </p:sp>
      <p:sp>
        <p:nvSpPr>
          <p:cNvPr id="23" name="Text 20"/>
          <p:cNvSpPr txBox="1"/>
          <p:nvPr/>
        </p:nvSpPr>
        <p:spPr>
          <a:xfrm>
            <a:off x="6438748" y="2194560"/>
            <a:ext cx="2190674" cy="3657600"/>
          </a:xfrm>
          <a:prstGeom prst="rect">
            <a:avLst/>
          </a:prstGeom>
          <a:noFill/>
          <a:ln/>
        </p:spPr>
        <p:txBody>
          <a:bodyPr wrap="square" lIns="25400" tIns="25400" rIns="25400" bIns="25400" rtlCol="0" anchor="t"/>
          <a:lstStyle/>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Bảng NWV Inv. Health Line: mỗi dòng là mặt hàng, địa điểm, lô</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Tầng, điểm rủi ro 0 đến 100, số ngày đủ bán, hạn còn, giá trị, lý do</a:t>
            </a:r>
            <a:endParaRPr lang="en-US" sz="1400" dirty="0"/>
          </a:p>
        </p:txBody>
      </p:sp>
      <p:sp>
        <p:nvSpPr>
          <p:cNvPr id="24" name="Shape 21"/>
          <p:cNvSpPr/>
          <p:nvPr/>
        </p:nvSpPr>
        <p:spPr>
          <a:xfrm>
            <a:off x="8876309" y="3474720"/>
            <a:ext cx="201168" cy="365760"/>
          </a:xfrm>
          <a:prstGeom prst="chevron">
            <a:avLst/>
          </a:prstGeom>
          <a:solidFill>
            <a:srgbClr val="4BACC6"/>
          </a:solidFill>
          <a:ln w="12700">
            <a:solidFill>
              <a:srgbClr val="4BACC6"/>
            </a:solidFill>
            <a:prstDash val="solid"/>
          </a:ln>
        </p:spPr>
        <p:txBody>
          <a:bodyPr/>
          <a:lstStyle/>
          <a:p>
            <a:endParaRPr lang="en-US"/>
          </a:p>
        </p:txBody>
      </p:sp>
      <p:sp>
        <p:nvSpPr>
          <p:cNvPr id="25" name="Shape 22"/>
          <p:cNvSpPr/>
          <p:nvPr/>
        </p:nvSpPr>
        <p:spPr>
          <a:xfrm>
            <a:off x="9178061" y="1417320"/>
            <a:ext cx="2464994" cy="4526280"/>
          </a:xfrm>
          <a:prstGeom prst="roundRect">
            <a:avLst>
              <a:gd name="adj" fmla="val 2968"/>
            </a:avLst>
          </a:prstGeom>
          <a:solidFill>
            <a:srgbClr val="F7FAFB"/>
          </a:solidFill>
          <a:ln w="12700">
            <a:solidFill>
              <a:srgbClr val="F7FAFB"/>
            </a:solidFill>
            <a:prstDash val="solid"/>
          </a:ln>
        </p:spPr>
        <p:txBody>
          <a:bodyPr/>
          <a:lstStyle/>
          <a:p>
            <a:endParaRPr lang="en-US"/>
          </a:p>
        </p:txBody>
      </p:sp>
      <p:sp>
        <p:nvSpPr>
          <p:cNvPr id="26" name="Shape 23"/>
          <p:cNvSpPr/>
          <p:nvPr/>
        </p:nvSpPr>
        <p:spPr>
          <a:xfrm>
            <a:off x="9360941" y="1600200"/>
            <a:ext cx="411480" cy="411480"/>
          </a:xfrm>
          <a:prstGeom prst="ellipse">
            <a:avLst/>
          </a:prstGeom>
          <a:solidFill>
            <a:srgbClr val="4BACC6"/>
          </a:solidFill>
          <a:ln w="12700">
            <a:solidFill>
              <a:srgbClr val="4BACC6"/>
            </a:solidFill>
            <a:prstDash val="solid"/>
          </a:ln>
        </p:spPr>
        <p:txBody>
          <a:bodyPr/>
          <a:lstStyle/>
          <a:p>
            <a:endParaRPr lang="en-US"/>
          </a:p>
        </p:txBody>
      </p:sp>
      <p:sp>
        <p:nvSpPr>
          <p:cNvPr id="27" name="Text 24"/>
          <p:cNvSpPr txBox="1"/>
          <p:nvPr/>
        </p:nvSpPr>
        <p:spPr>
          <a:xfrm>
            <a:off x="9360941" y="160020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28" name="Text 25"/>
          <p:cNvSpPr txBox="1"/>
          <p:nvPr/>
        </p:nvSpPr>
        <p:spPr>
          <a:xfrm>
            <a:off x="9891293" y="1600200"/>
            <a:ext cx="1642034" cy="411480"/>
          </a:xfrm>
          <a:prstGeom prst="rect">
            <a:avLst/>
          </a:prstGeom>
          <a:noFill/>
          <a:ln/>
        </p:spPr>
        <p:txBody>
          <a:bodyPr wrap="square" lIns="0" tIns="0" rIns="0" bIns="0" rtlCol="0" anchor="ctr"/>
          <a:lstStyle/>
          <a:p>
            <a:pPr marL="0" indent="0">
              <a:buNone/>
            </a:pPr>
            <a:r>
              <a:rPr lang="en-US" sz="1600" b="1" dirty="0">
                <a:solidFill>
                  <a:srgbClr val="27343A"/>
                </a:solidFill>
                <a:latin typeface="Aptos" pitchFamily="34" charset="0"/>
                <a:ea typeface="Aptos" pitchFamily="34" charset="-122"/>
                <a:cs typeface="Aptos" pitchFamily="34" charset="-120"/>
              </a:rPr>
              <a:t>Người dùng nhận</a:t>
            </a:r>
            <a:endParaRPr lang="en-US" sz="1600" dirty="0"/>
          </a:p>
        </p:txBody>
      </p:sp>
      <p:sp>
        <p:nvSpPr>
          <p:cNvPr id="29" name="Text 26"/>
          <p:cNvSpPr txBox="1"/>
          <p:nvPr/>
        </p:nvSpPr>
        <p:spPr>
          <a:xfrm>
            <a:off x="9315221" y="2194560"/>
            <a:ext cx="2190674" cy="3657600"/>
          </a:xfrm>
          <a:prstGeom prst="rect">
            <a:avLst/>
          </a:prstGeom>
          <a:noFill/>
          <a:ln/>
        </p:spPr>
        <p:txBody>
          <a:bodyPr wrap="square" lIns="25400" tIns="25400" rIns="25400" bIns="25400" rtlCol="0" anchor="t"/>
          <a:lstStyle/>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Dashboard và chi tiết lô</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Brief buổi sáng, hỏi đáp theo vai</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Đề xuất xử lý, thẻ duyệt</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Truy xuất lô, link mở sổ kho trong BC</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100" b="1" kern="0" spc="200" dirty="0">
                <a:solidFill>
                  <a:srgbClr val="4BACC6"/>
                </a:solidFill>
                <a:latin typeface="Aptos" pitchFamily="34" charset="0"/>
                <a:ea typeface="Aptos" pitchFamily="34" charset="-122"/>
                <a:cs typeface="Aptos" pitchFamily="34" charset="-120"/>
              </a:rPr>
              <a:t>QUY TẮC PHÂN TẦNG</a:t>
            </a:r>
            <a:endParaRPr lang="en-US" sz="1100" dirty="0"/>
          </a:p>
        </p:txBody>
      </p:sp>
      <p:sp>
        <p:nvSpPr>
          <p:cNvPr id="3" name="Text 1"/>
          <p:cNvSpPr txBox="1"/>
          <p:nvPr/>
        </p:nvSpPr>
        <p:spPr>
          <a:xfrm>
            <a:off x="548640" y="566928"/>
            <a:ext cx="11094415" cy="640080"/>
          </a:xfrm>
          <a:prstGeom prst="rect">
            <a:avLst/>
          </a:prstGeom>
          <a:noFill/>
          <a:ln/>
        </p:spPr>
        <p:txBody>
          <a:bodyPr wrap="square" lIns="0" tIns="0" rIns="0" bIns="0" rtlCol="0" anchor="t"/>
          <a:lstStyle/>
          <a:p>
            <a:pPr marL="0" indent="0">
              <a:buNone/>
            </a:pPr>
            <a:r>
              <a:rPr lang="en-US" sz="2800" b="1" dirty="0">
                <a:solidFill>
                  <a:srgbClr val="27343A"/>
                </a:solidFill>
                <a:latin typeface="Aptos Display" pitchFamily="34" charset="0"/>
                <a:ea typeface="Aptos Display" pitchFamily="34" charset="-122"/>
                <a:cs typeface="Aptos Display" pitchFamily="34" charset="-120"/>
              </a:rPr>
              <a:t>Mỗi lô dừng ở tầng đầu tiên khớp điều kiện</a:t>
            </a:r>
            <a:endParaRPr lang="en-US" sz="2800" dirty="0"/>
          </a:p>
        </p:txBody>
      </p:sp>
      <p:sp>
        <p:nvSpPr>
          <p:cNvPr id="4" name="Text 2"/>
          <p:cNvSpPr txBox="1"/>
          <p:nvPr/>
        </p:nvSpPr>
        <p:spPr>
          <a:xfrm>
            <a:off x="548640" y="6473952"/>
            <a:ext cx="5486400" cy="228600"/>
          </a:xfrm>
          <a:prstGeom prst="rect">
            <a:avLst/>
          </a:prstGeom>
          <a:noFill/>
          <a:ln/>
        </p:spPr>
        <p:txBody>
          <a:bodyPr wrap="square" lIns="0" tIns="0" rIns="0" bIns="0" rtlCol="0" anchor="ctr"/>
          <a:lstStyle/>
          <a:p>
            <a:pPr marL="0" indent="0">
              <a:buNone/>
            </a:pPr>
            <a:r>
              <a:rPr lang="en-US" sz="900" dirty="0">
                <a:solidFill>
                  <a:srgbClr val="5F6B70"/>
                </a:solidFill>
                <a:latin typeface="Aptos" pitchFamily="34" charset="0"/>
                <a:ea typeface="Aptos" pitchFamily="34" charset="-122"/>
                <a:cs typeface="Aptos" pitchFamily="34" charset="-120"/>
              </a:rPr>
              <a:t>UC2 Inventory Health &amp; Traceability</a:t>
            </a:r>
            <a:endParaRPr lang="en-US" sz="900" dirty="0"/>
          </a:p>
        </p:txBody>
      </p:sp>
      <p:sp>
        <p:nvSpPr>
          <p:cNvPr id="5" name="Text 3"/>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5F6B70"/>
                </a:solidFill>
                <a:latin typeface="Aptos" pitchFamily="34" charset="0"/>
                <a:ea typeface="Aptos" pitchFamily="34" charset="-122"/>
                <a:cs typeface="Aptos" pitchFamily="34" charset="-120"/>
              </a:rPr>
              <a:t>6</a:t>
            </a:r>
            <a:endParaRPr lang="en-US" sz="900" dirty="0"/>
          </a:p>
        </p:txBody>
      </p:sp>
      <p:sp>
        <p:nvSpPr>
          <p:cNvPr id="7" name="Shape 4"/>
          <p:cNvSpPr/>
          <p:nvPr/>
        </p:nvSpPr>
        <p:spPr>
          <a:xfrm>
            <a:off x="548640" y="1417320"/>
            <a:ext cx="5760720" cy="640080"/>
          </a:xfrm>
          <a:prstGeom prst="roundRect">
            <a:avLst>
              <a:gd name="adj" fmla="val 11429"/>
            </a:avLst>
          </a:prstGeom>
          <a:solidFill>
            <a:srgbClr val="F4EEE8"/>
          </a:solidFill>
          <a:ln w="12700">
            <a:solidFill>
              <a:srgbClr val="F4EEE8"/>
            </a:solidFill>
            <a:prstDash val="solid"/>
          </a:ln>
        </p:spPr>
        <p:txBody>
          <a:bodyPr/>
          <a:lstStyle/>
          <a:p>
            <a:endParaRPr lang="en-US"/>
          </a:p>
        </p:txBody>
      </p:sp>
      <p:sp>
        <p:nvSpPr>
          <p:cNvPr id="8" name="Shape 5"/>
          <p:cNvSpPr/>
          <p:nvPr/>
        </p:nvSpPr>
        <p:spPr>
          <a:xfrm>
            <a:off x="685800" y="1554480"/>
            <a:ext cx="365760" cy="365760"/>
          </a:xfrm>
          <a:prstGeom prst="ellipse">
            <a:avLst/>
          </a:prstGeom>
          <a:solidFill>
            <a:srgbClr val="C89B72"/>
          </a:solidFill>
          <a:ln w="12700">
            <a:solidFill>
              <a:srgbClr val="C89B72"/>
            </a:solidFill>
            <a:prstDash val="solid"/>
          </a:ln>
        </p:spPr>
        <p:txBody>
          <a:bodyPr/>
          <a:lstStyle/>
          <a:p>
            <a:endParaRPr lang="en-US"/>
          </a:p>
        </p:txBody>
      </p:sp>
      <p:sp>
        <p:nvSpPr>
          <p:cNvPr id="9" name="Text 6"/>
          <p:cNvSpPr txBox="1"/>
          <p:nvPr/>
        </p:nvSpPr>
        <p:spPr>
          <a:xfrm>
            <a:off x="685800" y="15544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0" name="Text 7"/>
          <p:cNvSpPr txBox="1"/>
          <p:nvPr/>
        </p:nvSpPr>
        <p:spPr>
          <a:xfrm>
            <a:off x="1188720" y="1453896"/>
            <a:ext cx="4023360" cy="566928"/>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Đã quá hạn</a:t>
            </a:r>
            <a:endParaRPr lang="en-US" sz="1300" dirty="0"/>
          </a:p>
          <a:p>
            <a:pPr marL="0" indent="0">
              <a:buNone/>
            </a:pPr>
            <a:r>
              <a:rPr lang="en-US" sz="1100" dirty="0">
                <a:solidFill>
                  <a:srgbClr val="5F6B70"/>
                </a:solidFill>
                <a:latin typeface="Aptos" pitchFamily="34" charset="0"/>
                <a:ea typeface="Aptos" pitchFamily="34" charset="-122"/>
                <a:cs typeface="Aptos" pitchFamily="34" charset="-120"/>
              </a:rPr>
              <a:t>Hạn còn dưới 0 ngày</a:t>
            </a:r>
            <a:endParaRPr lang="en-US" sz="1300" dirty="0"/>
          </a:p>
        </p:txBody>
      </p:sp>
      <p:sp>
        <p:nvSpPr>
          <p:cNvPr id="11" name="Text 8"/>
          <p:cNvSpPr txBox="1"/>
          <p:nvPr/>
        </p:nvSpPr>
        <p:spPr>
          <a:xfrm>
            <a:off x="4846320" y="1435608"/>
            <a:ext cx="1325880" cy="603504"/>
          </a:xfrm>
          <a:prstGeom prst="rect">
            <a:avLst/>
          </a:prstGeom>
          <a:noFill/>
          <a:ln/>
        </p:spPr>
        <p:txBody>
          <a:bodyPr wrap="square" lIns="0" tIns="0" rIns="0" bIns="0" rtlCol="0" anchor="ctr"/>
          <a:lstStyle/>
          <a:p>
            <a:pPr marL="0" indent="0" algn="r">
              <a:buNone/>
            </a:pPr>
            <a:r>
              <a:rPr lang="en-US" sz="1800" b="1" dirty="0">
                <a:solidFill>
                  <a:srgbClr val="27343A"/>
                </a:solidFill>
                <a:latin typeface="Aptos" pitchFamily="34" charset="0"/>
                <a:ea typeface="Aptos" pitchFamily="34" charset="-122"/>
                <a:cs typeface="Aptos" pitchFamily="34" charset="-120"/>
              </a:rPr>
              <a:t>45</a:t>
            </a:r>
            <a:r>
              <a:rPr lang="en-US" sz="1100" dirty="0">
                <a:solidFill>
                  <a:srgbClr val="5F6B70"/>
                </a:solidFill>
                <a:latin typeface="Aptos" pitchFamily="34" charset="0"/>
                <a:ea typeface="Aptos" pitchFamily="34" charset="-122"/>
                <a:cs typeface="Aptos" pitchFamily="34" charset="-120"/>
              </a:rPr>
              <a:t> dòng</a:t>
            </a:r>
            <a:endParaRPr lang="en-US" sz="1800" dirty="0"/>
          </a:p>
          <a:p>
            <a:pPr marL="0" indent="0" algn="r">
              <a:buNone/>
            </a:pPr>
            <a:r>
              <a:rPr lang="en-US" sz="1100" dirty="0">
                <a:solidFill>
                  <a:srgbClr val="5F6B70"/>
                </a:solidFill>
                <a:latin typeface="Aptos" pitchFamily="34" charset="0"/>
                <a:ea typeface="Aptos" pitchFamily="34" charset="-122"/>
                <a:cs typeface="Aptos" pitchFamily="34" charset="-120"/>
              </a:rPr>
              <a:t>1.273,3</a:t>
            </a:r>
            <a:endParaRPr lang="en-US" sz="1800" dirty="0"/>
          </a:p>
        </p:txBody>
      </p:sp>
      <p:sp>
        <p:nvSpPr>
          <p:cNvPr id="12" name="Shape 9"/>
          <p:cNvSpPr/>
          <p:nvPr/>
        </p:nvSpPr>
        <p:spPr>
          <a:xfrm>
            <a:off x="548640" y="2148840"/>
            <a:ext cx="5760720" cy="640080"/>
          </a:xfrm>
          <a:prstGeom prst="roundRect">
            <a:avLst>
              <a:gd name="adj" fmla="val 11429"/>
            </a:avLst>
          </a:prstGeom>
          <a:solidFill>
            <a:srgbClr val="F4EEE8"/>
          </a:solidFill>
          <a:ln w="12700">
            <a:solidFill>
              <a:srgbClr val="F4EEE8"/>
            </a:solidFill>
            <a:prstDash val="solid"/>
          </a:ln>
        </p:spPr>
        <p:txBody>
          <a:bodyPr/>
          <a:lstStyle/>
          <a:p>
            <a:endParaRPr lang="en-US"/>
          </a:p>
        </p:txBody>
      </p:sp>
      <p:sp>
        <p:nvSpPr>
          <p:cNvPr id="13" name="Shape 10"/>
          <p:cNvSpPr/>
          <p:nvPr/>
        </p:nvSpPr>
        <p:spPr>
          <a:xfrm>
            <a:off x="685800" y="2286000"/>
            <a:ext cx="365760" cy="365760"/>
          </a:xfrm>
          <a:prstGeom prst="ellipse">
            <a:avLst/>
          </a:prstGeom>
          <a:solidFill>
            <a:srgbClr val="C89B72"/>
          </a:solidFill>
          <a:ln w="12700">
            <a:solidFill>
              <a:srgbClr val="C89B72"/>
            </a:solidFill>
            <a:prstDash val="solid"/>
          </a:ln>
        </p:spPr>
        <p:txBody>
          <a:bodyPr/>
          <a:lstStyle/>
          <a:p>
            <a:endParaRPr lang="en-US"/>
          </a:p>
        </p:txBody>
      </p:sp>
      <p:sp>
        <p:nvSpPr>
          <p:cNvPr id="14" name="Text 11"/>
          <p:cNvSpPr txBox="1"/>
          <p:nvPr/>
        </p:nvSpPr>
        <p:spPr>
          <a:xfrm>
            <a:off x="685800" y="228600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5" name="Text 12"/>
          <p:cNvSpPr txBox="1"/>
          <p:nvPr/>
        </p:nvSpPr>
        <p:spPr>
          <a:xfrm>
            <a:off x="1188720" y="2185416"/>
            <a:ext cx="4023360" cy="566928"/>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Cận date</a:t>
            </a:r>
            <a:endParaRPr lang="en-US" sz="1300" dirty="0"/>
          </a:p>
          <a:p>
            <a:pPr marL="0" indent="0">
              <a:buNone/>
            </a:pPr>
            <a:r>
              <a:rPr lang="en-US" sz="1100" dirty="0">
                <a:solidFill>
                  <a:srgbClr val="5F6B70"/>
                </a:solidFill>
                <a:latin typeface="Aptos" pitchFamily="34" charset="0"/>
                <a:ea typeface="Aptos" pitchFamily="34" charset="-122"/>
                <a:cs typeface="Aptos" pitchFamily="34" charset="-120"/>
              </a:rPr>
              <a:t>Hạn còn từ 0 đến 45 ngày</a:t>
            </a:r>
            <a:endParaRPr lang="en-US" sz="1300" dirty="0"/>
          </a:p>
        </p:txBody>
      </p:sp>
      <p:sp>
        <p:nvSpPr>
          <p:cNvPr id="16" name="Text 13"/>
          <p:cNvSpPr txBox="1"/>
          <p:nvPr/>
        </p:nvSpPr>
        <p:spPr>
          <a:xfrm>
            <a:off x="4846320" y="2167128"/>
            <a:ext cx="1325880" cy="603504"/>
          </a:xfrm>
          <a:prstGeom prst="rect">
            <a:avLst/>
          </a:prstGeom>
          <a:noFill/>
          <a:ln/>
        </p:spPr>
        <p:txBody>
          <a:bodyPr wrap="square" lIns="0" tIns="0" rIns="0" bIns="0" rtlCol="0" anchor="ctr"/>
          <a:lstStyle/>
          <a:p>
            <a:pPr marL="0" indent="0" algn="r">
              <a:buNone/>
            </a:pPr>
            <a:r>
              <a:rPr lang="en-US" sz="1800" b="1" dirty="0">
                <a:solidFill>
                  <a:srgbClr val="27343A"/>
                </a:solidFill>
                <a:latin typeface="Aptos" pitchFamily="34" charset="0"/>
                <a:ea typeface="Aptos" pitchFamily="34" charset="-122"/>
                <a:cs typeface="Aptos" pitchFamily="34" charset="-120"/>
              </a:rPr>
              <a:t>32</a:t>
            </a:r>
            <a:r>
              <a:rPr lang="en-US" sz="1100" dirty="0">
                <a:solidFill>
                  <a:srgbClr val="5F6B70"/>
                </a:solidFill>
                <a:latin typeface="Aptos" pitchFamily="34" charset="0"/>
                <a:ea typeface="Aptos" pitchFamily="34" charset="-122"/>
                <a:cs typeface="Aptos" pitchFamily="34" charset="-120"/>
              </a:rPr>
              <a:t> dòng</a:t>
            </a:r>
            <a:endParaRPr lang="en-US" sz="1800" dirty="0"/>
          </a:p>
          <a:p>
            <a:pPr marL="0" indent="0" algn="r">
              <a:buNone/>
            </a:pPr>
            <a:r>
              <a:rPr lang="en-US" sz="1100" dirty="0">
                <a:solidFill>
                  <a:srgbClr val="5F6B70"/>
                </a:solidFill>
                <a:latin typeface="Aptos" pitchFamily="34" charset="0"/>
                <a:ea typeface="Aptos" pitchFamily="34" charset="-122"/>
                <a:cs typeface="Aptos" pitchFamily="34" charset="-120"/>
              </a:rPr>
              <a:t>2.099,7</a:t>
            </a:r>
            <a:endParaRPr lang="en-US" sz="1800" dirty="0"/>
          </a:p>
        </p:txBody>
      </p:sp>
      <p:sp>
        <p:nvSpPr>
          <p:cNvPr id="17" name="Shape 14"/>
          <p:cNvSpPr/>
          <p:nvPr/>
        </p:nvSpPr>
        <p:spPr>
          <a:xfrm>
            <a:off x="548640" y="2880360"/>
            <a:ext cx="5760720" cy="640080"/>
          </a:xfrm>
          <a:prstGeom prst="roundRect">
            <a:avLst>
              <a:gd name="adj" fmla="val 11429"/>
            </a:avLst>
          </a:prstGeom>
          <a:solidFill>
            <a:srgbClr val="F7FAFB"/>
          </a:solidFill>
          <a:ln w="12700">
            <a:solidFill>
              <a:srgbClr val="F7FAFB"/>
            </a:solidFill>
            <a:prstDash val="solid"/>
          </a:ln>
        </p:spPr>
        <p:txBody>
          <a:bodyPr/>
          <a:lstStyle/>
          <a:p>
            <a:endParaRPr lang="en-US"/>
          </a:p>
        </p:txBody>
      </p:sp>
      <p:sp>
        <p:nvSpPr>
          <p:cNvPr id="18" name="Shape 15"/>
          <p:cNvSpPr/>
          <p:nvPr/>
        </p:nvSpPr>
        <p:spPr>
          <a:xfrm>
            <a:off x="685800" y="3017520"/>
            <a:ext cx="365760" cy="365760"/>
          </a:xfrm>
          <a:prstGeom prst="ellipse">
            <a:avLst/>
          </a:prstGeom>
          <a:solidFill>
            <a:srgbClr val="4BACC6"/>
          </a:solidFill>
          <a:ln w="12700">
            <a:solidFill>
              <a:srgbClr val="4BACC6"/>
            </a:solidFill>
            <a:prstDash val="solid"/>
          </a:ln>
        </p:spPr>
        <p:txBody>
          <a:bodyPr/>
          <a:lstStyle/>
          <a:p>
            <a:endParaRPr lang="en-US"/>
          </a:p>
        </p:txBody>
      </p:sp>
      <p:sp>
        <p:nvSpPr>
          <p:cNvPr id="19" name="Text 16"/>
          <p:cNvSpPr txBox="1"/>
          <p:nvPr/>
        </p:nvSpPr>
        <p:spPr>
          <a:xfrm>
            <a:off x="685800" y="30175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0" name="Text 17"/>
          <p:cNvSpPr txBox="1"/>
          <p:nvPr/>
        </p:nvSpPr>
        <p:spPr>
          <a:xfrm>
            <a:off x="1188720" y="2916936"/>
            <a:ext cx="4023360" cy="566928"/>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Sắp hết hàng</a:t>
            </a:r>
            <a:endParaRPr lang="en-US" sz="1300" dirty="0"/>
          </a:p>
          <a:p>
            <a:pPr marL="0" indent="0">
              <a:buNone/>
            </a:pPr>
            <a:r>
              <a:rPr lang="en-US" sz="1100" dirty="0">
                <a:solidFill>
                  <a:srgbClr val="5F6B70"/>
                </a:solidFill>
                <a:latin typeface="Aptos" pitchFamily="34" charset="0"/>
                <a:ea typeface="Aptos" pitchFamily="34" charset="-122"/>
                <a:cs typeface="Aptos" pitchFamily="34" charset="-120"/>
              </a:rPr>
              <a:t>Có bán và đủ bán dưới 7 ngày</a:t>
            </a:r>
            <a:endParaRPr lang="en-US" sz="1300" dirty="0"/>
          </a:p>
        </p:txBody>
      </p:sp>
      <p:sp>
        <p:nvSpPr>
          <p:cNvPr id="21" name="Text 18"/>
          <p:cNvSpPr txBox="1"/>
          <p:nvPr/>
        </p:nvSpPr>
        <p:spPr>
          <a:xfrm>
            <a:off x="4846320" y="2898648"/>
            <a:ext cx="1325880" cy="603504"/>
          </a:xfrm>
          <a:prstGeom prst="rect">
            <a:avLst/>
          </a:prstGeom>
          <a:noFill/>
          <a:ln/>
        </p:spPr>
        <p:txBody>
          <a:bodyPr wrap="square" lIns="0" tIns="0" rIns="0" bIns="0" rtlCol="0" anchor="ctr"/>
          <a:lstStyle/>
          <a:p>
            <a:pPr marL="0" indent="0" algn="r">
              <a:buNone/>
            </a:pPr>
            <a:r>
              <a:rPr lang="en-US" sz="1800" b="1" dirty="0">
                <a:solidFill>
                  <a:srgbClr val="27343A"/>
                </a:solidFill>
                <a:latin typeface="Aptos" pitchFamily="34" charset="0"/>
                <a:ea typeface="Aptos" pitchFamily="34" charset="-122"/>
                <a:cs typeface="Aptos" pitchFamily="34" charset="-120"/>
              </a:rPr>
              <a:t>47</a:t>
            </a:r>
            <a:r>
              <a:rPr lang="en-US" sz="1100" dirty="0">
                <a:solidFill>
                  <a:srgbClr val="5F6B70"/>
                </a:solidFill>
                <a:latin typeface="Aptos" pitchFamily="34" charset="0"/>
                <a:ea typeface="Aptos" pitchFamily="34" charset="-122"/>
                <a:cs typeface="Aptos" pitchFamily="34" charset="-120"/>
              </a:rPr>
              <a:t> dòng</a:t>
            </a:r>
            <a:endParaRPr lang="en-US" sz="1800" dirty="0"/>
          </a:p>
          <a:p>
            <a:pPr marL="0" indent="0" algn="r">
              <a:buNone/>
            </a:pPr>
            <a:r>
              <a:rPr lang="en-US" sz="1100" dirty="0">
                <a:solidFill>
                  <a:srgbClr val="5F6B70"/>
                </a:solidFill>
                <a:latin typeface="Aptos" pitchFamily="34" charset="0"/>
                <a:ea typeface="Aptos" pitchFamily="34" charset="-122"/>
                <a:cs typeface="Aptos" pitchFamily="34" charset="-120"/>
              </a:rPr>
              <a:t>3.818,2</a:t>
            </a:r>
            <a:endParaRPr lang="en-US" sz="1800" dirty="0"/>
          </a:p>
        </p:txBody>
      </p:sp>
      <p:sp>
        <p:nvSpPr>
          <p:cNvPr id="22" name="Shape 19"/>
          <p:cNvSpPr/>
          <p:nvPr/>
        </p:nvSpPr>
        <p:spPr>
          <a:xfrm>
            <a:off x="548640" y="3611880"/>
            <a:ext cx="5760720" cy="640080"/>
          </a:xfrm>
          <a:prstGeom prst="roundRect">
            <a:avLst>
              <a:gd name="adj" fmla="val 11429"/>
            </a:avLst>
          </a:prstGeom>
          <a:solidFill>
            <a:srgbClr val="F4EEE8"/>
          </a:solidFill>
          <a:ln w="12700">
            <a:solidFill>
              <a:srgbClr val="F4EEE8"/>
            </a:solidFill>
            <a:prstDash val="solid"/>
          </a:ln>
        </p:spPr>
        <p:txBody>
          <a:bodyPr/>
          <a:lstStyle/>
          <a:p>
            <a:endParaRPr lang="en-US"/>
          </a:p>
        </p:txBody>
      </p:sp>
      <p:sp>
        <p:nvSpPr>
          <p:cNvPr id="23" name="Shape 20"/>
          <p:cNvSpPr/>
          <p:nvPr/>
        </p:nvSpPr>
        <p:spPr>
          <a:xfrm>
            <a:off x="685800" y="3749040"/>
            <a:ext cx="365760" cy="365760"/>
          </a:xfrm>
          <a:prstGeom prst="ellipse">
            <a:avLst/>
          </a:prstGeom>
          <a:solidFill>
            <a:srgbClr val="C89B72"/>
          </a:solidFill>
          <a:ln w="12700">
            <a:solidFill>
              <a:srgbClr val="C89B72"/>
            </a:solidFill>
            <a:prstDash val="solid"/>
          </a:ln>
        </p:spPr>
        <p:txBody>
          <a:bodyPr/>
          <a:lstStyle/>
          <a:p>
            <a:endParaRPr lang="en-US"/>
          </a:p>
        </p:txBody>
      </p:sp>
      <p:sp>
        <p:nvSpPr>
          <p:cNvPr id="24" name="Text 21"/>
          <p:cNvSpPr txBox="1"/>
          <p:nvPr/>
        </p:nvSpPr>
        <p:spPr>
          <a:xfrm>
            <a:off x="685800" y="374904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25" name="Text 22"/>
          <p:cNvSpPr txBox="1"/>
          <p:nvPr/>
        </p:nvSpPr>
        <p:spPr>
          <a:xfrm>
            <a:off x="1188720" y="3648456"/>
            <a:ext cx="4023360" cy="566928"/>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Chậm luân chuyển</a:t>
            </a:r>
            <a:endParaRPr lang="en-US" sz="1300" dirty="0"/>
          </a:p>
          <a:p>
            <a:pPr marL="0" indent="0">
              <a:buNone/>
            </a:pPr>
            <a:r>
              <a:rPr lang="en-US" sz="1100" dirty="0">
                <a:solidFill>
                  <a:srgbClr val="5F6B70"/>
                </a:solidFill>
                <a:latin typeface="Aptos" pitchFamily="34" charset="0"/>
                <a:ea typeface="Aptos" pitchFamily="34" charset="-122"/>
                <a:cs typeface="Aptos" pitchFamily="34" charset="-120"/>
              </a:rPr>
              <a:t>Từ 60 ngày không bán, hoặc không có nhu cầu</a:t>
            </a:r>
            <a:endParaRPr lang="en-US" sz="1300" dirty="0"/>
          </a:p>
        </p:txBody>
      </p:sp>
      <p:sp>
        <p:nvSpPr>
          <p:cNvPr id="26" name="Text 23"/>
          <p:cNvSpPr txBox="1"/>
          <p:nvPr/>
        </p:nvSpPr>
        <p:spPr>
          <a:xfrm>
            <a:off x="4846320" y="3630168"/>
            <a:ext cx="1325880" cy="603504"/>
          </a:xfrm>
          <a:prstGeom prst="rect">
            <a:avLst/>
          </a:prstGeom>
          <a:noFill/>
          <a:ln/>
        </p:spPr>
        <p:txBody>
          <a:bodyPr wrap="square" lIns="0" tIns="0" rIns="0" bIns="0" rtlCol="0" anchor="ctr"/>
          <a:lstStyle/>
          <a:p>
            <a:pPr marL="0" indent="0" algn="r">
              <a:buNone/>
            </a:pPr>
            <a:r>
              <a:rPr lang="en-US" sz="1800" b="1" dirty="0">
                <a:solidFill>
                  <a:srgbClr val="27343A"/>
                </a:solidFill>
                <a:latin typeface="Aptos" pitchFamily="34" charset="0"/>
                <a:ea typeface="Aptos" pitchFamily="34" charset="-122"/>
                <a:cs typeface="Aptos" pitchFamily="34" charset="-120"/>
              </a:rPr>
              <a:t>4</a:t>
            </a:r>
            <a:r>
              <a:rPr lang="en-US" sz="1100" dirty="0">
                <a:solidFill>
                  <a:srgbClr val="5F6B70"/>
                </a:solidFill>
                <a:latin typeface="Aptos" pitchFamily="34" charset="0"/>
                <a:ea typeface="Aptos" pitchFamily="34" charset="-122"/>
                <a:cs typeface="Aptos" pitchFamily="34" charset="-120"/>
              </a:rPr>
              <a:t> dòng</a:t>
            </a:r>
            <a:endParaRPr lang="en-US" sz="1800" dirty="0"/>
          </a:p>
          <a:p>
            <a:pPr marL="0" indent="0" algn="r">
              <a:buNone/>
            </a:pPr>
            <a:r>
              <a:rPr lang="en-US" sz="1100" dirty="0">
                <a:solidFill>
                  <a:srgbClr val="5F6B70"/>
                </a:solidFill>
                <a:latin typeface="Aptos" pitchFamily="34" charset="0"/>
                <a:ea typeface="Aptos" pitchFamily="34" charset="-122"/>
                <a:cs typeface="Aptos" pitchFamily="34" charset="-120"/>
              </a:rPr>
              <a:t>46,6</a:t>
            </a:r>
            <a:endParaRPr lang="en-US" sz="1800" dirty="0"/>
          </a:p>
        </p:txBody>
      </p:sp>
      <p:sp>
        <p:nvSpPr>
          <p:cNvPr id="27" name="Shape 24"/>
          <p:cNvSpPr/>
          <p:nvPr/>
        </p:nvSpPr>
        <p:spPr>
          <a:xfrm>
            <a:off x="548640" y="4343400"/>
            <a:ext cx="5760720" cy="640080"/>
          </a:xfrm>
          <a:prstGeom prst="roundRect">
            <a:avLst>
              <a:gd name="adj" fmla="val 11429"/>
            </a:avLst>
          </a:prstGeom>
          <a:solidFill>
            <a:srgbClr val="F4EEE8"/>
          </a:solidFill>
          <a:ln w="12700">
            <a:solidFill>
              <a:srgbClr val="F4EEE8"/>
            </a:solidFill>
            <a:prstDash val="solid"/>
          </a:ln>
        </p:spPr>
        <p:txBody>
          <a:bodyPr/>
          <a:lstStyle/>
          <a:p>
            <a:endParaRPr lang="en-US"/>
          </a:p>
        </p:txBody>
      </p:sp>
      <p:sp>
        <p:nvSpPr>
          <p:cNvPr id="28" name="Shape 25"/>
          <p:cNvSpPr/>
          <p:nvPr/>
        </p:nvSpPr>
        <p:spPr>
          <a:xfrm>
            <a:off x="685800" y="4480560"/>
            <a:ext cx="365760" cy="365760"/>
          </a:xfrm>
          <a:prstGeom prst="ellipse">
            <a:avLst/>
          </a:prstGeom>
          <a:solidFill>
            <a:srgbClr val="C89B72"/>
          </a:solidFill>
          <a:ln w="12700">
            <a:solidFill>
              <a:srgbClr val="C89B72"/>
            </a:solidFill>
            <a:prstDash val="solid"/>
          </a:ln>
        </p:spPr>
        <p:txBody>
          <a:bodyPr/>
          <a:lstStyle/>
          <a:p>
            <a:endParaRPr lang="en-US"/>
          </a:p>
        </p:txBody>
      </p:sp>
      <p:sp>
        <p:nvSpPr>
          <p:cNvPr id="29" name="Text 26"/>
          <p:cNvSpPr txBox="1"/>
          <p:nvPr/>
        </p:nvSpPr>
        <p:spPr>
          <a:xfrm>
            <a:off x="685800" y="44805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5</a:t>
            </a:r>
            <a:endParaRPr lang="en-US" sz="1200" dirty="0"/>
          </a:p>
        </p:txBody>
      </p:sp>
      <p:sp>
        <p:nvSpPr>
          <p:cNvPr id="30" name="Text 27"/>
          <p:cNvSpPr txBox="1"/>
          <p:nvPr/>
        </p:nvSpPr>
        <p:spPr>
          <a:xfrm>
            <a:off x="1188720" y="4379976"/>
            <a:ext cx="4023360" cy="566928"/>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Dư tồn</a:t>
            </a:r>
            <a:endParaRPr lang="en-US" sz="1300" dirty="0"/>
          </a:p>
          <a:p>
            <a:pPr marL="0" indent="0">
              <a:buNone/>
            </a:pPr>
            <a:r>
              <a:rPr lang="en-US" sz="1100" dirty="0">
                <a:solidFill>
                  <a:srgbClr val="5F6B70"/>
                </a:solidFill>
                <a:latin typeface="Aptos" pitchFamily="34" charset="0"/>
                <a:ea typeface="Aptos" pitchFamily="34" charset="-122"/>
                <a:cs typeface="Aptos" pitchFamily="34" charset="-120"/>
              </a:rPr>
              <a:t>Đủ bán trên 90 ngày</a:t>
            </a:r>
            <a:endParaRPr lang="en-US" sz="1300" dirty="0"/>
          </a:p>
        </p:txBody>
      </p:sp>
      <p:sp>
        <p:nvSpPr>
          <p:cNvPr id="31" name="Text 28"/>
          <p:cNvSpPr txBox="1"/>
          <p:nvPr/>
        </p:nvSpPr>
        <p:spPr>
          <a:xfrm>
            <a:off x="4846320" y="4361688"/>
            <a:ext cx="1325880" cy="603504"/>
          </a:xfrm>
          <a:prstGeom prst="rect">
            <a:avLst/>
          </a:prstGeom>
          <a:noFill/>
          <a:ln/>
        </p:spPr>
        <p:txBody>
          <a:bodyPr wrap="square" lIns="0" tIns="0" rIns="0" bIns="0" rtlCol="0" anchor="ctr"/>
          <a:lstStyle/>
          <a:p>
            <a:pPr marL="0" indent="0" algn="r">
              <a:buNone/>
            </a:pPr>
            <a:r>
              <a:rPr lang="en-US" sz="1800" b="1" dirty="0">
                <a:solidFill>
                  <a:srgbClr val="27343A"/>
                </a:solidFill>
                <a:latin typeface="Aptos" pitchFamily="34" charset="0"/>
                <a:ea typeface="Aptos" pitchFamily="34" charset="-122"/>
                <a:cs typeface="Aptos" pitchFamily="34" charset="-120"/>
              </a:rPr>
              <a:t>1</a:t>
            </a:r>
            <a:r>
              <a:rPr lang="en-US" sz="1100" dirty="0">
                <a:solidFill>
                  <a:srgbClr val="5F6B70"/>
                </a:solidFill>
                <a:latin typeface="Aptos" pitchFamily="34" charset="0"/>
                <a:ea typeface="Aptos" pitchFamily="34" charset="-122"/>
                <a:cs typeface="Aptos" pitchFamily="34" charset="-120"/>
              </a:rPr>
              <a:t> dòng</a:t>
            </a:r>
            <a:endParaRPr lang="en-US" sz="1800" dirty="0"/>
          </a:p>
          <a:p>
            <a:pPr marL="0" indent="0" algn="r">
              <a:buNone/>
            </a:pPr>
            <a:r>
              <a:rPr lang="en-US" sz="1100" dirty="0">
                <a:solidFill>
                  <a:srgbClr val="5F6B70"/>
                </a:solidFill>
                <a:latin typeface="Aptos" pitchFamily="34" charset="0"/>
                <a:ea typeface="Aptos" pitchFamily="34" charset="-122"/>
                <a:cs typeface="Aptos" pitchFamily="34" charset="-120"/>
              </a:rPr>
              <a:t>1.668,8</a:t>
            </a:r>
            <a:endParaRPr lang="en-US" sz="1800" dirty="0"/>
          </a:p>
        </p:txBody>
      </p:sp>
      <p:sp>
        <p:nvSpPr>
          <p:cNvPr id="32" name="Shape 29"/>
          <p:cNvSpPr/>
          <p:nvPr/>
        </p:nvSpPr>
        <p:spPr>
          <a:xfrm>
            <a:off x="548640" y="5074920"/>
            <a:ext cx="5760720" cy="640080"/>
          </a:xfrm>
          <a:prstGeom prst="roundRect">
            <a:avLst>
              <a:gd name="adj" fmla="val 11429"/>
            </a:avLst>
          </a:prstGeom>
          <a:solidFill>
            <a:srgbClr val="F7FAFB"/>
          </a:solidFill>
          <a:ln w="12700">
            <a:solidFill>
              <a:srgbClr val="F7FAFB"/>
            </a:solidFill>
            <a:prstDash val="solid"/>
          </a:ln>
        </p:spPr>
        <p:txBody>
          <a:bodyPr/>
          <a:lstStyle/>
          <a:p>
            <a:endParaRPr lang="en-US"/>
          </a:p>
        </p:txBody>
      </p:sp>
      <p:sp>
        <p:nvSpPr>
          <p:cNvPr id="33" name="Shape 30"/>
          <p:cNvSpPr/>
          <p:nvPr/>
        </p:nvSpPr>
        <p:spPr>
          <a:xfrm>
            <a:off x="685800" y="5212080"/>
            <a:ext cx="365760" cy="365760"/>
          </a:xfrm>
          <a:prstGeom prst="ellipse">
            <a:avLst/>
          </a:prstGeom>
          <a:solidFill>
            <a:srgbClr val="4BACC6"/>
          </a:solidFill>
          <a:ln w="12700">
            <a:solidFill>
              <a:srgbClr val="4BACC6"/>
            </a:solidFill>
            <a:prstDash val="solid"/>
          </a:ln>
        </p:spPr>
        <p:txBody>
          <a:bodyPr/>
          <a:lstStyle/>
          <a:p>
            <a:endParaRPr lang="en-US"/>
          </a:p>
        </p:txBody>
      </p:sp>
      <p:sp>
        <p:nvSpPr>
          <p:cNvPr id="34" name="Text 31"/>
          <p:cNvSpPr txBox="1"/>
          <p:nvPr/>
        </p:nvSpPr>
        <p:spPr>
          <a:xfrm>
            <a:off x="685800" y="52120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6</a:t>
            </a:r>
            <a:endParaRPr lang="en-US" sz="1200" dirty="0"/>
          </a:p>
        </p:txBody>
      </p:sp>
      <p:sp>
        <p:nvSpPr>
          <p:cNvPr id="35" name="Text 32"/>
          <p:cNvSpPr txBox="1"/>
          <p:nvPr/>
        </p:nvSpPr>
        <p:spPr>
          <a:xfrm>
            <a:off x="1188720" y="5111496"/>
            <a:ext cx="4023360" cy="566928"/>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Trong ngưỡng</a:t>
            </a:r>
            <a:endParaRPr lang="en-US" sz="1300" dirty="0"/>
          </a:p>
          <a:p>
            <a:pPr marL="0" indent="0">
              <a:buNone/>
            </a:pPr>
            <a:r>
              <a:rPr lang="en-US" sz="1100" dirty="0">
                <a:solidFill>
                  <a:srgbClr val="5F6B70"/>
                </a:solidFill>
                <a:latin typeface="Aptos" pitchFamily="34" charset="0"/>
                <a:ea typeface="Aptos" pitchFamily="34" charset="-122"/>
                <a:cs typeface="Aptos" pitchFamily="34" charset="-120"/>
              </a:rPr>
              <a:t>Còn lại</a:t>
            </a:r>
            <a:endParaRPr lang="en-US" sz="1300" dirty="0"/>
          </a:p>
        </p:txBody>
      </p:sp>
      <p:sp>
        <p:nvSpPr>
          <p:cNvPr id="36" name="Text 33"/>
          <p:cNvSpPr txBox="1"/>
          <p:nvPr/>
        </p:nvSpPr>
        <p:spPr>
          <a:xfrm>
            <a:off x="4846320" y="5093208"/>
            <a:ext cx="1325880" cy="603504"/>
          </a:xfrm>
          <a:prstGeom prst="rect">
            <a:avLst/>
          </a:prstGeom>
          <a:noFill/>
          <a:ln/>
        </p:spPr>
        <p:txBody>
          <a:bodyPr wrap="square" lIns="0" tIns="0" rIns="0" bIns="0" rtlCol="0" anchor="ctr"/>
          <a:lstStyle/>
          <a:p>
            <a:pPr marL="0" indent="0" algn="r">
              <a:buNone/>
            </a:pPr>
            <a:r>
              <a:rPr lang="en-US" sz="1800" b="1" dirty="0">
                <a:solidFill>
                  <a:srgbClr val="27343A"/>
                </a:solidFill>
                <a:latin typeface="Aptos" pitchFamily="34" charset="0"/>
                <a:ea typeface="Aptos" pitchFamily="34" charset="-122"/>
                <a:cs typeface="Aptos" pitchFamily="34" charset="-120"/>
              </a:rPr>
              <a:t>38</a:t>
            </a:r>
            <a:r>
              <a:rPr lang="en-US" sz="1100" dirty="0">
                <a:solidFill>
                  <a:srgbClr val="5F6B70"/>
                </a:solidFill>
                <a:latin typeface="Aptos" pitchFamily="34" charset="0"/>
                <a:ea typeface="Aptos" pitchFamily="34" charset="-122"/>
                <a:cs typeface="Aptos" pitchFamily="34" charset="-120"/>
              </a:rPr>
              <a:t> dòng</a:t>
            </a:r>
            <a:endParaRPr lang="en-US" sz="1800" dirty="0"/>
          </a:p>
          <a:p>
            <a:pPr marL="0" indent="0" algn="r">
              <a:buNone/>
            </a:pPr>
            <a:r>
              <a:rPr lang="en-US" sz="1100" dirty="0">
                <a:solidFill>
                  <a:srgbClr val="5F6B70"/>
                </a:solidFill>
                <a:latin typeface="Aptos" pitchFamily="34" charset="0"/>
                <a:ea typeface="Aptos" pitchFamily="34" charset="-122"/>
                <a:cs typeface="Aptos" pitchFamily="34" charset="-120"/>
              </a:rPr>
              <a:t>4.463,6</a:t>
            </a:r>
            <a:endParaRPr lang="en-US" sz="1800" dirty="0"/>
          </a:p>
        </p:txBody>
      </p:sp>
      <p:graphicFrame>
        <p:nvGraphicFramePr>
          <p:cNvPr id="37" name="Chart 0"/>
          <p:cNvGraphicFramePr/>
          <p:nvPr/>
        </p:nvGraphicFramePr>
        <p:xfrm>
          <a:off x="6583680" y="1325880"/>
          <a:ext cx="50749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38" name="Text 34"/>
          <p:cNvSpPr txBox="1"/>
          <p:nvPr/>
        </p:nvSpPr>
        <p:spPr>
          <a:xfrm>
            <a:off x="6583680" y="5852160"/>
            <a:ext cx="5074920" cy="457200"/>
          </a:xfrm>
          <a:prstGeom prst="rect">
            <a:avLst/>
          </a:prstGeom>
          <a:noFill/>
          <a:ln/>
        </p:spPr>
        <p:txBody>
          <a:bodyPr wrap="square" lIns="0" tIns="0" rIns="0" bIns="0" rtlCol="0" anchor="t"/>
          <a:lstStyle/>
          <a:p>
            <a:pPr marL="0" indent="0">
              <a:buNone/>
            </a:pPr>
            <a:r>
              <a:rPr lang="en-US" sz="1000" i="1" dirty="0">
                <a:solidFill>
                  <a:srgbClr val="5F6B70"/>
                </a:solidFill>
                <a:latin typeface="Aptos" pitchFamily="34" charset="0"/>
                <a:ea typeface="Aptos" pitchFamily="34" charset="-122"/>
                <a:cs typeface="Aptos" pitchFamily="34" charset="-120"/>
              </a:rPr>
              <a:t>Điểm rủi ro 0 đến 100 để xếp thứ tự trong bảng: quá hạn 100; cận date từ 60, lô dự kiến bán hết trước hạn tối đa 65.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100" b="1" kern="0" spc="200" dirty="0">
                <a:solidFill>
                  <a:srgbClr val="4BACC6"/>
                </a:solidFill>
                <a:latin typeface="Aptos" pitchFamily="34" charset="0"/>
                <a:ea typeface="Aptos" pitchFamily="34" charset="-122"/>
                <a:cs typeface="Aptos" pitchFamily="34" charset="-120"/>
              </a:rPr>
              <a:t>KỊCH BẢN ĐÁP ỨNG</a:t>
            </a:r>
            <a:endParaRPr lang="en-US" sz="1100" dirty="0"/>
          </a:p>
        </p:txBody>
      </p:sp>
      <p:sp>
        <p:nvSpPr>
          <p:cNvPr id="3" name="Text 1"/>
          <p:cNvSpPr txBox="1"/>
          <p:nvPr/>
        </p:nvSpPr>
        <p:spPr>
          <a:xfrm>
            <a:off x="548640" y="566928"/>
            <a:ext cx="11094415" cy="640080"/>
          </a:xfrm>
          <a:prstGeom prst="rect">
            <a:avLst/>
          </a:prstGeom>
          <a:noFill/>
          <a:ln/>
        </p:spPr>
        <p:txBody>
          <a:bodyPr wrap="square" lIns="0" tIns="0" rIns="0" bIns="0" rtlCol="0" anchor="t"/>
          <a:lstStyle/>
          <a:p>
            <a:pPr marL="0" indent="0">
              <a:buNone/>
            </a:pPr>
            <a:r>
              <a:rPr lang="en-US" sz="2800" b="1" dirty="0">
                <a:solidFill>
                  <a:srgbClr val="27343A"/>
                </a:solidFill>
                <a:latin typeface="Aptos Display" pitchFamily="34" charset="0"/>
                <a:ea typeface="Aptos Display" pitchFamily="34" charset="-122"/>
                <a:cs typeface="Aptos Display" pitchFamily="34" charset="-120"/>
              </a:rPr>
              <a:t>Mười kịch bản đang chạy trên môi trường demo</a:t>
            </a:r>
            <a:endParaRPr lang="en-US" sz="2800" dirty="0"/>
          </a:p>
        </p:txBody>
      </p:sp>
      <p:sp>
        <p:nvSpPr>
          <p:cNvPr id="4" name="Text 2"/>
          <p:cNvSpPr txBox="1"/>
          <p:nvPr/>
        </p:nvSpPr>
        <p:spPr>
          <a:xfrm>
            <a:off x="548640" y="6473952"/>
            <a:ext cx="5486400" cy="228600"/>
          </a:xfrm>
          <a:prstGeom prst="rect">
            <a:avLst/>
          </a:prstGeom>
          <a:noFill/>
          <a:ln/>
        </p:spPr>
        <p:txBody>
          <a:bodyPr wrap="square" lIns="0" tIns="0" rIns="0" bIns="0" rtlCol="0" anchor="ctr"/>
          <a:lstStyle/>
          <a:p>
            <a:pPr marL="0" indent="0">
              <a:buNone/>
            </a:pPr>
            <a:r>
              <a:rPr lang="en-US" sz="900" dirty="0">
                <a:solidFill>
                  <a:srgbClr val="5F6B70"/>
                </a:solidFill>
                <a:latin typeface="Aptos" pitchFamily="34" charset="0"/>
                <a:ea typeface="Aptos" pitchFamily="34" charset="-122"/>
                <a:cs typeface="Aptos" pitchFamily="34" charset="-120"/>
              </a:rPr>
              <a:t>UC2 Inventory Health &amp; Traceability</a:t>
            </a:r>
            <a:endParaRPr lang="en-US" sz="900" dirty="0"/>
          </a:p>
        </p:txBody>
      </p:sp>
      <p:sp>
        <p:nvSpPr>
          <p:cNvPr id="5" name="Text 3"/>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5F6B70"/>
                </a:solidFill>
                <a:latin typeface="Aptos" pitchFamily="34" charset="0"/>
                <a:ea typeface="Aptos" pitchFamily="34" charset="-122"/>
                <a:cs typeface="Aptos"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9409605"/>
              </p:ext>
            </p:extLst>
          </p:nvPr>
        </p:nvGraphicFramePr>
        <p:xfrm>
          <a:off x="548640" y="1325880"/>
          <a:ext cx="11094415" cy="4626864"/>
        </p:xfrm>
        <a:graphic>
          <a:graphicData uri="http://schemas.openxmlformats.org/drawingml/2006/table">
            <a:tbl>
              <a:tblPr/>
              <a:tblGrid>
                <a:gridCol w="41148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3063240">
                  <a:extLst>
                    <a:ext uri="{9D8B030D-6E8A-4147-A177-3AD203B41FA5}">
                      <a16:colId xmlns:a16="http://schemas.microsoft.com/office/drawing/2014/main" val="20003"/>
                    </a:ext>
                  </a:extLst>
                </a:gridCol>
                <a:gridCol w="3139135">
                  <a:extLst>
                    <a:ext uri="{9D8B030D-6E8A-4147-A177-3AD203B41FA5}">
                      <a16:colId xmlns:a16="http://schemas.microsoft.com/office/drawing/2014/main" val="20004"/>
                    </a:ext>
                  </a:extLst>
                </a:gridCol>
              </a:tblGrid>
              <a:tr h="420624">
                <a:tc>
                  <a:txBody>
                    <a:bodyPr/>
                    <a:lstStyle/>
                    <a:p>
                      <a:pPr marL="0" indent="0">
                        <a:buNone/>
                      </a:pPr>
                      <a:r>
                        <a:rPr lang="en-US" sz="1100" b="1" dirty="0">
                          <a:solidFill>
                            <a:srgbClr val="27343A"/>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4BACC6"/>
                    </a:solidFill>
                  </a:tcPr>
                </a:tc>
                <a:tc>
                  <a:txBody>
                    <a:bodyPr/>
                    <a:lstStyle/>
                    <a:p>
                      <a:pPr marL="0" indent="0">
                        <a:buNone/>
                      </a:pPr>
                      <a:r>
                        <a:rPr lang="en-US" sz="1100" b="1" dirty="0">
                          <a:solidFill>
                            <a:srgbClr val="27343A"/>
                          </a:solidFill>
                          <a:latin typeface="Aptos" pitchFamily="34" charset="0"/>
                          <a:ea typeface="Aptos" pitchFamily="34" charset="-122"/>
                          <a:cs typeface="Aptos" pitchFamily="34" charset="-120"/>
                        </a:rPr>
                        <a:t>Kịch bản</a:t>
                      </a:r>
                      <a:endParaRPr lang="en-US" sz="110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4BACC6"/>
                    </a:solidFill>
                  </a:tcPr>
                </a:tc>
                <a:tc>
                  <a:txBody>
                    <a:bodyPr/>
                    <a:lstStyle/>
                    <a:p>
                      <a:pPr marL="0" indent="0">
                        <a:buNone/>
                      </a:pPr>
                      <a:r>
                        <a:rPr lang="en-US" sz="1100" b="1" dirty="0">
                          <a:solidFill>
                            <a:srgbClr val="27343A"/>
                          </a:solidFill>
                          <a:latin typeface="Aptos" pitchFamily="34" charset="0"/>
                          <a:ea typeface="Aptos" pitchFamily="34" charset="-122"/>
                          <a:cs typeface="Aptos" pitchFamily="34" charset="-120"/>
                        </a:rPr>
                        <a:t>Vai</a:t>
                      </a:r>
                      <a:endParaRPr lang="en-US" sz="110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4BACC6"/>
                    </a:solidFill>
                  </a:tcPr>
                </a:tc>
                <a:tc>
                  <a:txBody>
                    <a:bodyPr/>
                    <a:lstStyle/>
                    <a:p>
                      <a:pPr marL="0" indent="0">
                        <a:buNone/>
                      </a:pPr>
                      <a:r>
                        <a:rPr lang="en-US" sz="1100" b="1" dirty="0">
                          <a:solidFill>
                            <a:srgbClr val="27343A"/>
                          </a:solidFill>
                          <a:latin typeface="Aptos" pitchFamily="34" charset="0"/>
                          <a:ea typeface="Aptos" pitchFamily="34" charset="-122"/>
                          <a:cs typeface="Aptos" pitchFamily="34" charset="-120"/>
                        </a:rPr>
                        <a:t>Người dùng làm gì</a:t>
                      </a:r>
                      <a:endParaRPr lang="en-US" sz="110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4BACC6"/>
                    </a:solidFill>
                  </a:tcPr>
                </a:tc>
                <a:tc>
                  <a:txBody>
                    <a:bodyPr/>
                    <a:lstStyle/>
                    <a:p>
                      <a:pPr marL="0" indent="0">
                        <a:buNone/>
                      </a:pPr>
                      <a:r>
                        <a:rPr lang="en-US" sz="1100" b="1" dirty="0">
                          <a:solidFill>
                            <a:srgbClr val="27343A"/>
                          </a:solidFill>
                          <a:latin typeface="Aptos" pitchFamily="34" charset="0"/>
                          <a:ea typeface="Aptos" pitchFamily="34" charset="-122"/>
                          <a:cs typeface="Aptos" pitchFamily="34" charset="-120"/>
                        </a:rPr>
                        <a:t>Nhận được</a:t>
                      </a:r>
                      <a:endParaRPr lang="en-US" sz="110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4BACC6"/>
                    </a:solidFill>
                  </a:tcPr>
                </a:tc>
                <a:extLst>
                  <a:ext uri="{0D108BD9-81ED-4DB2-BD59-A6C34878D82A}">
                    <a16:rowId xmlns:a16="http://schemas.microsoft.com/office/drawing/2014/main" val="10000"/>
                  </a:ext>
                </a:extLst>
              </a:tr>
              <a:tr h="420624">
                <a:tc>
                  <a:txBody>
                    <a:bodyPr/>
                    <a:lstStyle/>
                    <a:p>
                      <a:pPr marL="0" indent="0" algn="ctr">
                        <a:buNone/>
                      </a:pPr>
                      <a:r>
                        <a:rPr lang="en-US" sz="1050" b="1" dirty="0">
                          <a:solidFill>
                            <a:srgbClr val="27343A"/>
                          </a:solidFill>
                          <a:latin typeface="Aptos" pitchFamily="34" charset="0"/>
                          <a:ea typeface="Aptos" pitchFamily="34" charset="-122"/>
                          <a:cs typeface="Aptos" pitchFamily="34" charset="-120"/>
                        </a:rPr>
                        <a:t>1</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b="1" dirty="0">
                          <a:solidFill>
                            <a:srgbClr val="27343A"/>
                          </a:solidFill>
                          <a:latin typeface="Aptos" pitchFamily="34" charset="0"/>
                          <a:ea typeface="Aptos" pitchFamily="34" charset="-122"/>
                          <a:cs typeface="Aptos" pitchFamily="34" charset="-120"/>
                        </a:rPr>
                        <a:t>Xem sức khỏe tồn kho</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Supply Chain</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Mở tab Sức khỏe tồn kho, bấm ô tầng, tìm theo mã hoặc lô</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Giá trị theo 6 tầng, lô xếp theo điểm rủi ro</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ctr">
                        <a:buNone/>
                      </a:pPr>
                      <a:r>
                        <a:rPr lang="en-US" sz="1050" b="1" dirty="0">
                          <a:solidFill>
                            <a:srgbClr val="27343A"/>
                          </a:solidFill>
                          <a:latin typeface="Aptos" pitchFamily="34" charset="0"/>
                          <a:ea typeface="Aptos" pitchFamily="34" charset="-122"/>
                          <a:cs typeface="Aptos" pitchFamily="34" charset="-120"/>
                        </a:rPr>
                        <a:t>2</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b="1" dirty="0">
                          <a:solidFill>
                            <a:srgbClr val="27343A"/>
                          </a:solidFill>
                          <a:latin typeface="Aptos" pitchFamily="34" charset="0"/>
                          <a:ea typeface="Aptos" pitchFamily="34" charset="-122"/>
                          <a:cs typeface="Aptos" pitchFamily="34" charset="-120"/>
                        </a:rPr>
                        <a:t>Vì sao lô vào tầng này</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Supply Chain, người kiểm tra số</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Bấm một dòng trên bảng</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Nguồn từng con số, quy tắc dừng ở bậc nào, bán theo ngày</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extLst>
                  <a:ext uri="{0D108BD9-81ED-4DB2-BD59-A6C34878D82A}">
                    <a16:rowId xmlns:a16="http://schemas.microsoft.com/office/drawing/2014/main" val="10002"/>
                  </a:ext>
                </a:extLst>
              </a:tr>
              <a:tr h="420624">
                <a:tc>
                  <a:txBody>
                    <a:bodyPr/>
                    <a:lstStyle/>
                    <a:p>
                      <a:pPr marL="0" indent="0" algn="ctr">
                        <a:buNone/>
                      </a:pPr>
                      <a:r>
                        <a:rPr lang="en-US" sz="1050" b="1" dirty="0">
                          <a:solidFill>
                            <a:srgbClr val="27343A"/>
                          </a:solidFill>
                          <a:latin typeface="Aptos" pitchFamily="34" charset="0"/>
                          <a:ea typeface="Aptos" pitchFamily="34" charset="-122"/>
                          <a:cs typeface="Aptos" pitchFamily="34" charset="-120"/>
                        </a:rPr>
                        <a:t>3</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b="1" dirty="0">
                          <a:solidFill>
                            <a:srgbClr val="27343A"/>
                          </a:solidFill>
                          <a:latin typeface="Aptos" pitchFamily="34" charset="0"/>
                          <a:ea typeface="Aptos" pitchFamily="34" charset="-122"/>
                          <a:cs typeface="Aptos" pitchFamily="34" charset="-120"/>
                        </a:rPr>
                        <a:t>Dữ liệu có đủ để tin không</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Supply Chain, IT</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Bấm Độ phủ dữ liệu</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Tỷ lệ dòng có lô, hạn dùng, độ dài lịch sử; Đạt hoặc Cần xem lại</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ctr">
                        <a:buNone/>
                      </a:pPr>
                      <a:r>
                        <a:rPr lang="en-US" sz="1050" b="1" dirty="0">
                          <a:solidFill>
                            <a:srgbClr val="27343A"/>
                          </a:solidFill>
                          <a:latin typeface="Aptos" pitchFamily="34" charset="0"/>
                          <a:ea typeface="Aptos" pitchFamily="34" charset="-122"/>
                          <a:cs typeface="Aptos" pitchFamily="34" charset="-120"/>
                        </a:rPr>
                        <a:t>4</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b="1" dirty="0">
                          <a:solidFill>
                            <a:srgbClr val="27343A"/>
                          </a:solidFill>
                          <a:latin typeface="Aptos" pitchFamily="34" charset="0"/>
                          <a:ea typeface="Aptos" pitchFamily="34" charset="-122"/>
                          <a:cs typeface="Aptos" pitchFamily="34" charset="-120"/>
                        </a:rPr>
                        <a:t>Brief buổi sáng</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Supply Chain, điều phối</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Bấm Brief hoặc gõ brief</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Các lô rủi ro nhất, mỗi thẻ có nút xử lý</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extLst>
                  <a:ext uri="{0D108BD9-81ED-4DB2-BD59-A6C34878D82A}">
                    <a16:rowId xmlns:a16="http://schemas.microsoft.com/office/drawing/2014/main" val="10004"/>
                  </a:ext>
                </a:extLst>
              </a:tr>
              <a:tr h="420624">
                <a:tc>
                  <a:txBody>
                    <a:bodyPr/>
                    <a:lstStyle/>
                    <a:p>
                      <a:pPr marL="0" indent="0" algn="ctr">
                        <a:buNone/>
                      </a:pPr>
                      <a:r>
                        <a:rPr lang="en-US" sz="1050" b="1" dirty="0">
                          <a:solidFill>
                            <a:srgbClr val="27343A"/>
                          </a:solidFill>
                          <a:latin typeface="Aptos" pitchFamily="34" charset="0"/>
                          <a:ea typeface="Aptos" pitchFamily="34" charset="-122"/>
                          <a:cs typeface="Aptos" pitchFamily="34" charset="-120"/>
                        </a:rPr>
                        <a:t>5</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b="1" dirty="0">
                          <a:solidFill>
                            <a:srgbClr val="27343A"/>
                          </a:solidFill>
                          <a:latin typeface="Aptos" pitchFamily="34" charset="0"/>
                          <a:ea typeface="Aptos" pitchFamily="34" charset="-122"/>
                          <a:cs typeface="Aptos" pitchFamily="34" charset="-120"/>
                        </a:rPr>
                        <a:t>Hỏi hàng hết hạn theo vai</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Điều phối, quản lý cửa hàng</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Gõ câu hỏi bằng lời</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Số lô, tồn, giá trị theo địa điểm; cửa hàng chỉ thấy của mình</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lgn="ctr">
                        <a:buNone/>
                      </a:pPr>
                      <a:r>
                        <a:rPr lang="en-US" sz="1050" b="1" dirty="0">
                          <a:solidFill>
                            <a:srgbClr val="27343A"/>
                          </a:solidFill>
                          <a:latin typeface="Aptos" pitchFamily="34" charset="0"/>
                          <a:ea typeface="Aptos" pitchFamily="34" charset="-122"/>
                          <a:cs typeface="Aptos" pitchFamily="34" charset="-120"/>
                        </a:rPr>
                        <a:t>6</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b="1" dirty="0">
                          <a:solidFill>
                            <a:srgbClr val="27343A"/>
                          </a:solidFill>
                          <a:latin typeface="Aptos" pitchFamily="34" charset="0"/>
                          <a:ea typeface="Aptos" pitchFamily="34" charset="-122"/>
                          <a:cs typeface="Aptos" pitchFamily="34" charset="-120"/>
                        </a:rPr>
                        <a:t>Hỏi tồn một món</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Quản lý cửa hàng</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Gõ tên món</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Cửa hàng mình trước, rồi nơi còn hàng và số ngày đủ bán</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extLst>
                  <a:ext uri="{0D108BD9-81ED-4DB2-BD59-A6C34878D82A}">
                    <a16:rowId xmlns:a16="http://schemas.microsoft.com/office/drawing/2014/main" val="10006"/>
                  </a:ext>
                </a:extLst>
              </a:tr>
              <a:tr h="420624">
                <a:tc>
                  <a:txBody>
                    <a:bodyPr/>
                    <a:lstStyle/>
                    <a:p>
                      <a:pPr marL="0" indent="0" algn="ctr">
                        <a:buNone/>
                      </a:pPr>
                      <a:r>
                        <a:rPr lang="en-US" sz="1050" b="1" dirty="0">
                          <a:solidFill>
                            <a:srgbClr val="27343A"/>
                          </a:solidFill>
                          <a:latin typeface="Aptos" pitchFamily="34" charset="0"/>
                          <a:ea typeface="Aptos" pitchFamily="34" charset="-122"/>
                          <a:cs typeface="Aptos" pitchFamily="34" charset="-120"/>
                        </a:rPr>
                        <a:t>7</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b="1" dirty="0">
                          <a:solidFill>
                            <a:srgbClr val="27343A"/>
                          </a:solidFill>
                          <a:latin typeface="Aptos" pitchFamily="34" charset="0"/>
                          <a:ea typeface="Aptos" pitchFamily="34" charset="-122"/>
                          <a:cs typeface="Aptos" pitchFamily="34" charset="-120"/>
                        </a:rPr>
                        <a:t>Đề xuất xử lý lô</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Supply Chain</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Bấm Đề xuất hủy hoặc Chuyển sang cửa hàng bán nhanh</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Đề xuất có số lô ghi vào BC, trạng thái Proposed</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0624">
                <a:tc>
                  <a:txBody>
                    <a:bodyPr/>
                    <a:lstStyle/>
                    <a:p>
                      <a:pPr marL="0" indent="0" algn="ctr">
                        <a:buNone/>
                      </a:pPr>
                      <a:r>
                        <a:rPr lang="en-US" sz="1050" b="1" dirty="0">
                          <a:solidFill>
                            <a:srgbClr val="27343A"/>
                          </a:solidFill>
                          <a:latin typeface="Aptos" pitchFamily="34" charset="0"/>
                          <a:ea typeface="Aptos" pitchFamily="34" charset="-122"/>
                          <a:cs typeface="Aptos" pitchFamily="34" charset="-120"/>
                        </a:rPr>
                        <a:t>8</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b="1" dirty="0">
                          <a:solidFill>
                            <a:srgbClr val="27343A"/>
                          </a:solidFill>
                          <a:latin typeface="Aptos" pitchFamily="34" charset="0"/>
                          <a:ea typeface="Aptos" pitchFamily="34" charset="-122"/>
                          <a:cs typeface="Aptos" pitchFamily="34" charset="-120"/>
                        </a:rPr>
                        <a:t>Duyệt đề xuất</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Người duyệt</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Bấm Duyệt hoặc Từ chối trên thẻ</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Quyết định ghi vào BC; duyệt chuyển hàng thì có Transfer Order</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extLst>
                  <a:ext uri="{0D108BD9-81ED-4DB2-BD59-A6C34878D82A}">
                    <a16:rowId xmlns:a16="http://schemas.microsoft.com/office/drawing/2014/main" val="10008"/>
                  </a:ext>
                </a:extLst>
              </a:tr>
              <a:tr h="420624">
                <a:tc>
                  <a:txBody>
                    <a:bodyPr/>
                    <a:lstStyle/>
                    <a:p>
                      <a:pPr marL="0" indent="0" algn="ctr">
                        <a:buNone/>
                      </a:pPr>
                      <a:r>
                        <a:rPr lang="en-US" sz="1050" b="1" dirty="0">
                          <a:solidFill>
                            <a:srgbClr val="27343A"/>
                          </a:solidFill>
                          <a:latin typeface="Aptos" pitchFamily="34" charset="0"/>
                          <a:ea typeface="Aptos" pitchFamily="34" charset="-122"/>
                          <a:cs typeface="Aptos" pitchFamily="34" charset="-120"/>
                        </a:rPr>
                        <a:t>9</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b="1" dirty="0">
                          <a:solidFill>
                            <a:srgbClr val="27343A"/>
                          </a:solidFill>
                          <a:latin typeface="Aptos" pitchFamily="34" charset="0"/>
                          <a:ea typeface="Aptos" pitchFamily="34" charset="-122"/>
                          <a:cs typeface="Aptos" pitchFamily="34" charset="-120"/>
                        </a:rPr>
                        <a:t>Truy xuất lô</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QA, điều phối</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Gõ số lô</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Hành trình lô, nơi còn tồn, số thu hồi được</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20624">
                <a:tc>
                  <a:txBody>
                    <a:bodyPr/>
                    <a:lstStyle/>
                    <a:p>
                      <a:pPr marL="0" indent="0" algn="ctr">
                        <a:buNone/>
                      </a:pPr>
                      <a:r>
                        <a:rPr lang="en-US" sz="1050" b="1" dirty="0">
                          <a:solidFill>
                            <a:srgbClr val="27343A"/>
                          </a:solidFill>
                          <a:latin typeface="Aptos" pitchFamily="34" charset="0"/>
                          <a:ea typeface="Aptos" pitchFamily="34" charset="-122"/>
                          <a:cs typeface="Aptos" pitchFamily="34" charset="-120"/>
                        </a:rPr>
                        <a:t>10</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b="1" dirty="0">
                          <a:solidFill>
                            <a:srgbClr val="27343A"/>
                          </a:solidFill>
                          <a:latin typeface="Aptos" pitchFamily="34" charset="0"/>
                          <a:ea typeface="Aptos" pitchFamily="34" charset="-122"/>
                          <a:cs typeface="Aptos" pitchFamily="34" charset="-120"/>
                        </a:rPr>
                        <a:t>Hỏi tự do khi bật AI</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Supply Chain, quản lý</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Gõ câu hỏi chưa có mẫu</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tc>
                  <a:txBody>
                    <a:bodyPr/>
                    <a:lstStyle/>
                    <a:p>
                      <a:pPr marL="0" indent="0">
                        <a:buNone/>
                      </a:pPr>
                      <a:r>
                        <a:rPr lang="en-US" sz="1050" dirty="0">
                          <a:solidFill>
                            <a:srgbClr val="27343A"/>
                          </a:solidFill>
                          <a:latin typeface="Aptos" pitchFamily="34" charset="0"/>
                          <a:ea typeface="Aptos" pitchFamily="34" charset="-122"/>
                          <a:cs typeface="Aptos" pitchFamily="34" charset="-120"/>
                        </a:rPr>
                        <a:t>Câu trả lời kèm số và các bước đã tra</a:t>
                      </a:r>
                      <a:endParaRPr lang="en-US" sz="1050" dirty="0">
                        <a:latin typeface="Aptos" charset="0"/>
                        <a:ea typeface="Aptos" charset="0"/>
                        <a:cs typeface="Aptos" charset="0"/>
                      </a:endParaRPr>
                    </a:p>
                  </a:txBody>
                  <a:tcPr marL="73152" marR="73152" marT="27432" marB="27432" anchor="ctr">
                    <a:lnL w="6350" cap="flat" cmpd="sng" algn="ctr">
                      <a:solidFill>
                        <a:srgbClr val="A9D5E2"/>
                      </a:solidFill>
                      <a:prstDash val="solid"/>
                      <a:round/>
                      <a:headEnd type="none" w="med" len="med"/>
                      <a:tailEnd type="none" w="med" len="med"/>
                    </a:lnL>
                    <a:lnR w="6350" cap="flat" cmpd="sng" algn="ctr">
                      <a:solidFill>
                        <a:srgbClr val="A9D5E2"/>
                      </a:solidFill>
                      <a:prstDash val="solid"/>
                      <a:round/>
                      <a:headEnd type="none" w="med" len="med"/>
                      <a:tailEnd type="none" w="med" len="med"/>
                    </a:lnR>
                    <a:lnT w="6350" cap="flat" cmpd="sng" algn="ctr">
                      <a:solidFill>
                        <a:srgbClr val="A9D5E2"/>
                      </a:solidFill>
                      <a:prstDash val="solid"/>
                      <a:round/>
                      <a:headEnd type="none" w="med" len="med"/>
                      <a:tailEnd type="none" w="med" len="med"/>
                    </a:lnT>
                    <a:lnB w="6350" cap="flat" cmpd="sng" algn="ctr">
                      <a:solidFill>
                        <a:srgbClr val="A9D5E2"/>
                      </a:solidFill>
                      <a:prstDash val="solid"/>
                      <a:round/>
                      <a:headEnd type="none" w="med" len="med"/>
                      <a:tailEnd type="none" w="med" len="med"/>
                    </a:lnB>
                    <a:solidFill>
                      <a:srgbClr val="F7FAFB"/>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100" b="1" kern="0" spc="200" dirty="0">
                <a:solidFill>
                  <a:srgbClr val="4BACC6"/>
                </a:solidFill>
                <a:latin typeface="Aptos" pitchFamily="34" charset="0"/>
                <a:ea typeface="Aptos" pitchFamily="34" charset="-122"/>
                <a:cs typeface="Aptos" pitchFamily="34" charset="-120"/>
              </a:rPr>
              <a:t>KỊCH BẢN 1/10 · XEM SỨC KHỎE TỒN KHO</a:t>
            </a:r>
            <a:endParaRPr lang="en-US" sz="1100" dirty="0"/>
          </a:p>
        </p:txBody>
      </p:sp>
      <p:sp>
        <p:nvSpPr>
          <p:cNvPr id="3" name="Text 1"/>
          <p:cNvSpPr txBox="1"/>
          <p:nvPr/>
        </p:nvSpPr>
        <p:spPr>
          <a:xfrm>
            <a:off x="548640" y="566928"/>
            <a:ext cx="11094415" cy="640080"/>
          </a:xfrm>
          <a:prstGeom prst="rect">
            <a:avLst/>
          </a:prstGeom>
          <a:noFill/>
          <a:ln/>
        </p:spPr>
        <p:txBody>
          <a:bodyPr wrap="square" lIns="0" tIns="0" rIns="0" bIns="0" rtlCol="0" anchor="t"/>
          <a:lstStyle/>
          <a:p>
            <a:pPr marL="0" indent="0">
              <a:buNone/>
            </a:pPr>
            <a:r>
              <a:rPr lang="en-US" sz="2800" b="1" dirty="0">
                <a:solidFill>
                  <a:srgbClr val="27343A"/>
                </a:solidFill>
                <a:latin typeface="Aptos Display" pitchFamily="34" charset="0"/>
                <a:ea typeface="Aptos Display" pitchFamily="34" charset="-122"/>
                <a:cs typeface="Aptos Display" pitchFamily="34" charset="-120"/>
              </a:rPr>
              <a:t>Tiền đang nằm ở hàng có vấn đề bao nhiêu</a:t>
            </a:r>
            <a:endParaRPr lang="en-US" sz="2800" dirty="0"/>
          </a:p>
        </p:txBody>
      </p:sp>
      <p:sp>
        <p:nvSpPr>
          <p:cNvPr id="4" name="Text 2"/>
          <p:cNvSpPr txBox="1"/>
          <p:nvPr/>
        </p:nvSpPr>
        <p:spPr>
          <a:xfrm>
            <a:off x="548640" y="6473952"/>
            <a:ext cx="5486400" cy="228600"/>
          </a:xfrm>
          <a:prstGeom prst="rect">
            <a:avLst/>
          </a:prstGeom>
          <a:noFill/>
          <a:ln/>
        </p:spPr>
        <p:txBody>
          <a:bodyPr wrap="square" lIns="0" tIns="0" rIns="0" bIns="0" rtlCol="0" anchor="ctr"/>
          <a:lstStyle/>
          <a:p>
            <a:pPr marL="0" indent="0">
              <a:buNone/>
            </a:pPr>
            <a:r>
              <a:rPr lang="en-US" sz="900" dirty="0">
                <a:solidFill>
                  <a:srgbClr val="5F6B70"/>
                </a:solidFill>
                <a:latin typeface="Aptos" pitchFamily="34" charset="0"/>
                <a:ea typeface="Aptos" pitchFamily="34" charset="-122"/>
                <a:cs typeface="Aptos" pitchFamily="34" charset="-120"/>
              </a:rPr>
              <a:t>UC2 Inventory Health &amp; Traceability</a:t>
            </a:r>
            <a:endParaRPr lang="en-US" sz="900" dirty="0"/>
          </a:p>
        </p:txBody>
      </p:sp>
      <p:sp>
        <p:nvSpPr>
          <p:cNvPr id="5" name="Text 3"/>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5F6B70"/>
                </a:solidFill>
                <a:latin typeface="Aptos" pitchFamily="34" charset="0"/>
                <a:ea typeface="Aptos" pitchFamily="34" charset="-122"/>
                <a:cs typeface="Aptos" pitchFamily="34" charset="-120"/>
              </a:rPr>
              <a:t>8</a:t>
            </a:r>
            <a:endParaRPr lang="en-US" sz="900" dirty="0"/>
          </a:p>
        </p:txBody>
      </p:sp>
      <p:sp>
        <p:nvSpPr>
          <p:cNvPr id="7" name="Text 4"/>
          <p:cNvSpPr txBox="1"/>
          <p:nvPr/>
        </p:nvSpPr>
        <p:spPr>
          <a:xfrm>
            <a:off x="548640" y="1188720"/>
            <a:ext cx="1755648" cy="310896"/>
          </a:xfrm>
          <a:prstGeom prst="roundRect">
            <a:avLst>
              <a:gd name="adj" fmla="val 44118"/>
            </a:avLst>
          </a:prstGeom>
          <a:solidFill>
            <a:srgbClr val="DAEEF3"/>
          </a:solidFill>
          <a:ln>
            <a:solidFill>
              <a:srgbClr val="DAEEF3"/>
            </a:solidFill>
          </a:ln>
        </p:spPr>
        <p:txBody>
          <a:bodyPr wrap="square" lIns="0" tIns="127000" rIns="127000" bIns="0" rtlCol="0" anchor="ctr"/>
          <a:lstStyle/>
          <a:p>
            <a:pPr marL="0" indent="0">
              <a:buNone/>
            </a:pPr>
            <a:r>
              <a:rPr lang="en-US" sz="1100" b="1" dirty="0">
                <a:solidFill>
                  <a:srgbClr val="27343A"/>
                </a:solidFill>
                <a:latin typeface="Aptos" pitchFamily="34" charset="0"/>
                <a:ea typeface="Aptos" pitchFamily="34" charset="-122"/>
                <a:cs typeface="Aptos" pitchFamily="34" charset="-120"/>
              </a:rPr>
              <a:t>Vai  </a:t>
            </a:r>
            <a:r>
              <a:rPr lang="en-US" sz="1100" dirty="0">
                <a:solidFill>
                  <a:srgbClr val="27343A"/>
                </a:solidFill>
                <a:latin typeface="Aptos" pitchFamily="34" charset="0"/>
                <a:ea typeface="Aptos" pitchFamily="34" charset="-122"/>
                <a:cs typeface="Aptos" pitchFamily="34" charset="-120"/>
              </a:rPr>
              <a:t>Supply Chain</a:t>
            </a:r>
            <a:endParaRPr lang="en-US" sz="1100" dirty="0"/>
          </a:p>
        </p:txBody>
      </p:sp>
      <p:sp>
        <p:nvSpPr>
          <p:cNvPr id="8" name="Shape 5"/>
          <p:cNvSpPr/>
          <p:nvPr/>
        </p:nvSpPr>
        <p:spPr>
          <a:xfrm>
            <a:off x="548640" y="1691640"/>
            <a:ext cx="4846320" cy="1307592"/>
          </a:xfrm>
          <a:prstGeom prst="roundRect">
            <a:avLst>
              <a:gd name="adj" fmla="val 5594"/>
            </a:avLst>
          </a:prstGeom>
          <a:solidFill>
            <a:srgbClr val="F7FAFB"/>
          </a:solidFill>
          <a:ln w="12700">
            <a:solidFill>
              <a:srgbClr val="F7FAFB"/>
            </a:solidFill>
            <a:prstDash val="solid"/>
          </a:ln>
        </p:spPr>
        <p:txBody>
          <a:bodyPr/>
          <a:lstStyle/>
          <a:p>
            <a:endParaRPr lang="en-US"/>
          </a:p>
        </p:txBody>
      </p:sp>
      <p:sp>
        <p:nvSpPr>
          <p:cNvPr id="9" name="Shape 6"/>
          <p:cNvSpPr/>
          <p:nvPr/>
        </p:nvSpPr>
        <p:spPr>
          <a:xfrm>
            <a:off x="685800" y="1819656"/>
            <a:ext cx="329184" cy="329184"/>
          </a:xfrm>
          <a:prstGeom prst="ellipse">
            <a:avLst/>
          </a:prstGeom>
          <a:solidFill>
            <a:srgbClr val="4BACC6"/>
          </a:solidFill>
          <a:ln w="12700">
            <a:solidFill>
              <a:srgbClr val="4BACC6"/>
            </a:solidFill>
            <a:prstDash val="solid"/>
          </a:ln>
        </p:spPr>
        <p:txBody>
          <a:bodyPr/>
          <a:lstStyle/>
          <a:p>
            <a:endParaRPr lang="en-US"/>
          </a:p>
        </p:txBody>
      </p:sp>
      <p:sp>
        <p:nvSpPr>
          <p:cNvPr id="10" name="Text 7"/>
          <p:cNvSpPr txBox="1"/>
          <p:nvPr/>
        </p:nvSpPr>
        <p:spPr>
          <a:xfrm>
            <a:off x="685800" y="18196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1" name="Text 8"/>
          <p:cNvSpPr txBox="1"/>
          <p:nvPr/>
        </p:nvSpPr>
        <p:spPr>
          <a:xfrm>
            <a:off x="1115568" y="1801368"/>
            <a:ext cx="4114800"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vào</a:t>
            </a:r>
            <a:endParaRPr lang="en-US" sz="1300" dirty="0"/>
          </a:p>
        </p:txBody>
      </p:sp>
      <p:sp>
        <p:nvSpPr>
          <p:cNvPr id="12" name="Text 9"/>
          <p:cNvSpPr txBox="1"/>
          <p:nvPr/>
        </p:nvSpPr>
        <p:spPr>
          <a:xfrm>
            <a:off x="1051560" y="2167128"/>
            <a:ext cx="4206240" cy="75895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Bảng NWV Inv. Health Line do BC tính, 167 dòng, chốt ngày 18/09/2026</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Tồn theo lô, giá vốn, số ngày đủ bán</a:t>
            </a:r>
            <a:endParaRPr lang="en-US" sz="1200" dirty="0"/>
          </a:p>
        </p:txBody>
      </p:sp>
      <p:sp>
        <p:nvSpPr>
          <p:cNvPr id="13" name="Shape 10"/>
          <p:cNvSpPr/>
          <p:nvPr/>
        </p:nvSpPr>
        <p:spPr>
          <a:xfrm>
            <a:off x="548640" y="3108960"/>
            <a:ext cx="4846320" cy="1307592"/>
          </a:xfrm>
          <a:prstGeom prst="roundRect">
            <a:avLst>
              <a:gd name="adj" fmla="val 5594"/>
            </a:avLst>
          </a:prstGeom>
          <a:solidFill>
            <a:srgbClr val="F7FAFB"/>
          </a:solidFill>
          <a:ln w="12700">
            <a:solidFill>
              <a:srgbClr val="F7FAFB"/>
            </a:solidFill>
            <a:prstDash val="solid"/>
          </a:ln>
        </p:spPr>
        <p:txBody>
          <a:bodyPr/>
          <a:lstStyle/>
          <a:p>
            <a:endParaRPr lang="en-US"/>
          </a:p>
        </p:txBody>
      </p:sp>
      <p:sp>
        <p:nvSpPr>
          <p:cNvPr id="14" name="Shape 11"/>
          <p:cNvSpPr/>
          <p:nvPr/>
        </p:nvSpPr>
        <p:spPr>
          <a:xfrm>
            <a:off x="685800" y="3236976"/>
            <a:ext cx="329184" cy="329184"/>
          </a:xfrm>
          <a:prstGeom prst="ellipse">
            <a:avLst/>
          </a:prstGeom>
          <a:solidFill>
            <a:srgbClr val="4BACC6"/>
          </a:solidFill>
          <a:ln w="12700">
            <a:solidFill>
              <a:srgbClr val="4BACC6"/>
            </a:solidFill>
            <a:prstDash val="solid"/>
          </a:ln>
        </p:spPr>
        <p:txBody>
          <a:bodyPr/>
          <a:lstStyle/>
          <a:p>
            <a:endParaRPr lang="en-US"/>
          </a:p>
        </p:txBody>
      </p:sp>
      <p:sp>
        <p:nvSpPr>
          <p:cNvPr id="15" name="Text 12"/>
          <p:cNvSpPr txBox="1"/>
          <p:nvPr/>
        </p:nvSpPr>
        <p:spPr>
          <a:xfrm>
            <a:off x="685800" y="32369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6" name="Text 13"/>
          <p:cNvSpPr txBox="1"/>
          <p:nvPr/>
        </p:nvSpPr>
        <p:spPr>
          <a:xfrm>
            <a:off x="1115568" y="3218688"/>
            <a:ext cx="4114800"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Thao tác</a:t>
            </a:r>
            <a:endParaRPr lang="en-US" sz="1300" dirty="0"/>
          </a:p>
        </p:txBody>
      </p:sp>
      <p:sp>
        <p:nvSpPr>
          <p:cNvPr id="17" name="Text 14"/>
          <p:cNvSpPr txBox="1"/>
          <p:nvPr/>
        </p:nvSpPr>
        <p:spPr>
          <a:xfrm>
            <a:off x="1051560" y="3584448"/>
            <a:ext cx="4206240" cy="75895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Mở tab Sức khỏe tồn kho</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Bấm một ô tầng để lọc; gõ mặt hàng, mã hoặc số lô để tìm</a:t>
            </a:r>
            <a:endParaRPr lang="en-US" sz="1200" dirty="0"/>
          </a:p>
        </p:txBody>
      </p:sp>
      <p:sp>
        <p:nvSpPr>
          <p:cNvPr id="18" name="Shape 15"/>
          <p:cNvSpPr/>
          <p:nvPr/>
        </p:nvSpPr>
        <p:spPr>
          <a:xfrm>
            <a:off x="548640" y="4526280"/>
            <a:ext cx="4846320" cy="1581912"/>
          </a:xfrm>
          <a:prstGeom prst="roundRect">
            <a:avLst>
              <a:gd name="adj" fmla="val 4624"/>
            </a:avLst>
          </a:prstGeom>
          <a:solidFill>
            <a:srgbClr val="DAEEF3"/>
          </a:solidFill>
          <a:ln w="12700">
            <a:solidFill>
              <a:srgbClr val="DAEEF3"/>
            </a:solidFill>
            <a:prstDash val="solid"/>
          </a:ln>
        </p:spPr>
        <p:txBody>
          <a:bodyPr/>
          <a:lstStyle/>
          <a:p>
            <a:endParaRPr lang="en-US"/>
          </a:p>
        </p:txBody>
      </p:sp>
      <p:sp>
        <p:nvSpPr>
          <p:cNvPr id="19" name="Shape 16"/>
          <p:cNvSpPr/>
          <p:nvPr/>
        </p:nvSpPr>
        <p:spPr>
          <a:xfrm>
            <a:off x="685800" y="4654296"/>
            <a:ext cx="329184" cy="329184"/>
          </a:xfrm>
          <a:prstGeom prst="ellipse">
            <a:avLst/>
          </a:prstGeom>
          <a:solidFill>
            <a:srgbClr val="27343A"/>
          </a:solidFill>
          <a:ln w="12700">
            <a:solidFill>
              <a:srgbClr val="27343A"/>
            </a:solidFill>
            <a:prstDash val="solid"/>
          </a:ln>
        </p:spPr>
        <p:txBody>
          <a:bodyPr/>
          <a:lstStyle/>
          <a:p>
            <a:endParaRPr lang="en-US"/>
          </a:p>
        </p:txBody>
      </p:sp>
      <p:sp>
        <p:nvSpPr>
          <p:cNvPr id="20" name="Text 17"/>
          <p:cNvSpPr txBox="1"/>
          <p:nvPr/>
        </p:nvSpPr>
        <p:spPr>
          <a:xfrm>
            <a:off x="685800" y="465429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1" name="Text 18"/>
          <p:cNvSpPr txBox="1"/>
          <p:nvPr/>
        </p:nvSpPr>
        <p:spPr>
          <a:xfrm>
            <a:off x="1115568" y="4636008"/>
            <a:ext cx="4114800"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ra</a:t>
            </a:r>
            <a:endParaRPr lang="en-US" sz="1300" dirty="0"/>
          </a:p>
        </p:txBody>
      </p:sp>
      <p:sp>
        <p:nvSpPr>
          <p:cNvPr id="22" name="Text 19"/>
          <p:cNvSpPr txBox="1"/>
          <p:nvPr/>
        </p:nvSpPr>
        <p:spPr>
          <a:xfrm>
            <a:off x="1051560" y="5001768"/>
            <a:ext cx="4206240" cy="103327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5.088,4 ở bốn tầng có vấn đề, 38,1% của 13.370,2</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Số dòng và giá trị của từng tầng</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Danh sách lô xếp theo điểm rủi ro, kèm lý do</a:t>
            </a:r>
            <a:endParaRPr lang="en-US" sz="1200" dirty="0"/>
          </a:p>
        </p:txBody>
      </p:sp>
      <p:sp>
        <p:nvSpPr>
          <p:cNvPr id="23" name="Shape 20"/>
          <p:cNvSpPr/>
          <p:nvPr/>
        </p:nvSpPr>
        <p:spPr>
          <a:xfrm>
            <a:off x="6269059" y="1188720"/>
            <a:ext cx="5416973" cy="5166360"/>
          </a:xfrm>
          <a:prstGeom prst="rect">
            <a:avLst/>
          </a:prstGeom>
          <a:solidFill>
            <a:srgbClr val="FFFFFF"/>
          </a:solidFill>
          <a:ln w="9525">
            <a:solidFill>
              <a:srgbClr val="A9D5E2"/>
            </a:solidFill>
            <a:prstDash val="solid"/>
          </a:ln>
          <a:effectLst>
            <a:outerShdw blurRad="76200" dist="25400" dir="5400000" algn="bl" rotWithShape="0">
              <a:srgbClr val="000000">
                <a:alpha val="12000"/>
              </a:srgbClr>
            </a:outerShdw>
          </a:effectLst>
        </p:spPr>
        <p:txBody>
          <a:bodyPr/>
          <a:lstStyle/>
          <a:p>
            <a:endParaRPr lang="en-US"/>
          </a:p>
        </p:txBody>
      </p:sp>
      <p:pic>
        <p:nvPicPr>
          <p:cNvPr id="24" name="Image 0" descr="tong-quan"/>
          <p:cNvPicPr>
            <a:picLocks noChangeAspect="1"/>
          </p:cNvPicPr>
          <p:nvPr/>
        </p:nvPicPr>
        <p:blipFill>
          <a:blip r:embed="rId3"/>
          <a:stretch>
            <a:fillRect/>
          </a:stretch>
        </p:blipFill>
        <p:spPr>
          <a:xfrm>
            <a:off x="6314779" y="1234440"/>
            <a:ext cx="5325533" cy="50749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100" b="1" kern="0" spc="200" dirty="0">
                <a:solidFill>
                  <a:srgbClr val="4BACC6"/>
                </a:solidFill>
                <a:latin typeface="Aptos" pitchFamily="34" charset="0"/>
                <a:ea typeface="Aptos" pitchFamily="34" charset="-122"/>
                <a:cs typeface="Aptos" pitchFamily="34" charset="-120"/>
              </a:rPr>
              <a:t>KỊCH BẢN 2/10 · VÌ SAO LÔ VÀO TẦNG NÀY</a:t>
            </a:r>
            <a:endParaRPr lang="en-US" sz="1100" dirty="0"/>
          </a:p>
        </p:txBody>
      </p:sp>
      <p:sp>
        <p:nvSpPr>
          <p:cNvPr id="3" name="Text 1"/>
          <p:cNvSpPr txBox="1"/>
          <p:nvPr/>
        </p:nvSpPr>
        <p:spPr>
          <a:xfrm>
            <a:off x="548640" y="566928"/>
            <a:ext cx="11094415" cy="640080"/>
          </a:xfrm>
          <a:prstGeom prst="rect">
            <a:avLst/>
          </a:prstGeom>
          <a:noFill/>
          <a:ln/>
        </p:spPr>
        <p:txBody>
          <a:bodyPr wrap="square" lIns="0" tIns="0" rIns="0" bIns="0" rtlCol="0" anchor="t"/>
          <a:lstStyle/>
          <a:p>
            <a:pPr marL="0" indent="0">
              <a:buNone/>
            </a:pPr>
            <a:r>
              <a:rPr lang="en-US" sz="2800" b="1" dirty="0">
                <a:solidFill>
                  <a:srgbClr val="27343A"/>
                </a:solidFill>
                <a:latin typeface="Aptos Display" pitchFamily="34" charset="0"/>
                <a:ea typeface="Aptos Display" pitchFamily="34" charset="-122"/>
                <a:cs typeface="Aptos Display" pitchFamily="34" charset="-120"/>
              </a:rPr>
              <a:t>Mở một lô để xem từng con số lấy từ đâu</a:t>
            </a:r>
            <a:endParaRPr lang="en-US" sz="2800" dirty="0"/>
          </a:p>
        </p:txBody>
      </p:sp>
      <p:sp>
        <p:nvSpPr>
          <p:cNvPr id="4" name="Text 2"/>
          <p:cNvSpPr txBox="1"/>
          <p:nvPr/>
        </p:nvSpPr>
        <p:spPr>
          <a:xfrm>
            <a:off x="548640" y="6473952"/>
            <a:ext cx="5486400" cy="228600"/>
          </a:xfrm>
          <a:prstGeom prst="rect">
            <a:avLst/>
          </a:prstGeom>
          <a:noFill/>
          <a:ln/>
        </p:spPr>
        <p:txBody>
          <a:bodyPr wrap="square" lIns="0" tIns="0" rIns="0" bIns="0" rtlCol="0" anchor="ctr"/>
          <a:lstStyle/>
          <a:p>
            <a:pPr marL="0" indent="0">
              <a:buNone/>
            </a:pPr>
            <a:r>
              <a:rPr lang="en-US" sz="900" dirty="0">
                <a:solidFill>
                  <a:srgbClr val="5F6B70"/>
                </a:solidFill>
                <a:latin typeface="Aptos" pitchFamily="34" charset="0"/>
                <a:ea typeface="Aptos" pitchFamily="34" charset="-122"/>
                <a:cs typeface="Aptos" pitchFamily="34" charset="-120"/>
              </a:rPr>
              <a:t>UC2 Inventory Health &amp; Traceability</a:t>
            </a:r>
            <a:endParaRPr lang="en-US" sz="900" dirty="0"/>
          </a:p>
        </p:txBody>
      </p:sp>
      <p:sp>
        <p:nvSpPr>
          <p:cNvPr id="5" name="Text 3"/>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5F6B70"/>
                </a:solidFill>
                <a:latin typeface="Aptos" pitchFamily="34" charset="0"/>
                <a:ea typeface="Aptos" pitchFamily="34" charset="-122"/>
                <a:cs typeface="Aptos" pitchFamily="34" charset="-120"/>
              </a:rPr>
              <a:t>9</a:t>
            </a:r>
            <a:endParaRPr lang="en-US" sz="900" dirty="0"/>
          </a:p>
        </p:txBody>
      </p:sp>
      <p:sp>
        <p:nvSpPr>
          <p:cNvPr id="7" name="Text 4"/>
          <p:cNvSpPr txBox="1"/>
          <p:nvPr/>
        </p:nvSpPr>
        <p:spPr>
          <a:xfrm>
            <a:off x="548640" y="1188720"/>
            <a:ext cx="3621024" cy="310896"/>
          </a:xfrm>
          <a:prstGeom prst="roundRect">
            <a:avLst>
              <a:gd name="adj" fmla="val 44118"/>
            </a:avLst>
          </a:prstGeom>
          <a:solidFill>
            <a:srgbClr val="DAEEF3"/>
          </a:solidFill>
          <a:ln>
            <a:solidFill>
              <a:srgbClr val="DAEEF3"/>
            </a:solidFill>
          </a:ln>
        </p:spPr>
        <p:txBody>
          <a:bodyPr wrap="square" lIns="0" tIns="127000" rIns="127000" bIns="0" rtlCol="0" anchor="ctr"/>
          <a:lstStyle/>
          <a:p>
            <a:pPr marL="0" indent="0">
              <a:buNone/>
            </a:pPr>
            <a:r>
              <a:rPr lang="en-US" sz="1100" b="1" dirty="0">
                <a:solidFill>
                  <a:srgbClr val="27343A"/>
                </a:solidFill>
                <a:latin typeface="Aptos" pitchFamily="34" charset="0"/>
                <a:ea typeface="Aptos" pitchFamily="34" charset="-122"/>
                <a:cs typeface="Aptos" pitchFamily="34" charset="-120"/>
              </a:rPr>
              <a:t>Vai  </a:t>
            </a:r>
            <a:r>
              <a:rPr lang="en-US" sz="1100" dirty="0">
                <a:solidFill>
                  <a:srgbClr val="27343A"/>
                </a:solidFill>
                <a:latin typeface="Aptos" pitchFamily="34" charset="0"/>
                <a:ea typeface="Aptos" pitchFamily="34" charset="-122"/>
                <a:cs typeface="Aptos" pitchFamily="34" charset="-120"/>
              </a:rPr>
              <a:t>Supply Chain, người kiểm tra số liệu</a:t>
            </a:r>
            <a:endParaRPr lang="en-US" sz="1100" dirty="0"/>
          </a:p>
        </p:txBody>
      </p:sp>
      <p:sp>
        <p:nvSpPr>
          <p:cNvPr id="8" name="Shape 5"/>
          <p:cNvSpPr/>
          <p:nvPr/>
        </p:nvSpPr>
        <p:spPr>
          <a:xfrm>
            <a:off x="502920" y="1645920"/>
            <a:ext cx="3865538" cy="4709160"/>
          </a:xfrm>
          <a:prstGeom prst="rect">
            <a:avLst/>
          </a:prstGeom>
          <a:solidFill>
            <a:srgbClr val="FFFFFF"/>
          </a:solidFill>
          <a:ln w="9525">
            <a:solidFill>
              <a:srgbClr val="A9D5E2"/>
            </a:solidFill>
            <a:prstDash val="solid"/>
          </a:ln>
          <a:effectLst>
            <a:outerShdw blurRad="76200" dist="25400" dir="5400000" algn="bl" rotWithShape="0">
              <a:srgbClr val="000000">
                <a:alpha val="12000"/>
              </a:srgbClr>
            </a:outerShdw>
          </a:effectLst>
        </p:spPr>
        <p:txBody>
          <a:bodyPr/>
          <a:lstStyle/>
          <a:p>
            <a:endParaRPr lang="en-US"/>
          </a:p>
        </p:txBody>
      </p:sp>
      <p:pic>
        <p:nvPicPr>
          <p:cNvPr id="9" name="Image 0" descr="chi-tiet-lo"/>
          <p:cNvPicPr>
            <a:picLocks noChangeAspect="1"/>
          </p:cNvPicPr>
          <p:nvPr/>
        </p:nvPicPr>
        <p:blipFill>
          <a:blip r:embed="rId3"/>
          <a:stretch>
            <a:fillRect/>
          </a:stretch>
        </p:blipFill>
        <p:spPr>
          <a:xfrm>
            <a:off x="548640" y="1691640"/>
            <a:ext cx="3774098" cy="4617720"/>
          </a:xfrm>
          <a:prstGeom prst="rect">
            <a:avLst/>
          </a:prstGeom>
        </p:spPr>
      </p:pic>
      <p:sp>
        <p:nvSpPr>
          <p:cNvPr id="10" name="Shape 6"/>
          <p:cNvSpPr/>
          <p:nvPr/>
        </p:nvSpPr>
        <p:spPr>
          <a:xfrm>
            <a:off x="4709160" y="1691640"/>
            <a:ext cx="6931152" cy="1261872"/>
          </a:xfrm>
          <a:prstGeom prst="roundRect">
            <a:avLst>
              <a:gd name="adj" fmla="val 5797"/>
            </a:avLst>
          </a:prstGeom>
          <a:solidFill>
            <a:srgbClr val="F7FAFB"/>
          </a:solidFill>
          <a:ln w="12700">
            <a:solidFill>
              <a:srgbClr val="F7FAFB"/>
            </a:solidFill>
            <a:prstDash val="solid"/>
          </a:ln>
        </p:spPr>
        <p:txBody>
          <a:bodyPr/>
          <a:lstStyle/>
          <a:p>
            <a:endParaRPr lang="en-US"/>
          </a:p>
        </p:txBody>
      </p:sp>
      <p:sp>
        <p:nvSpPr>
          <p:cNvPr id="11" name="Shape 7"/>
          <p:cNvSpPr/>
          <p:nvPr/>
        </p:nvSpPr>
        <p:spPr>
          <a:xfrm>
            <a:off x="4846320" y="1819656"/>
            <a:ext cx="329184" cy="329184"/>
          </a:xfrm>
          <a:prstGeom prst="ellipse">
            <a:avLst/>
          </a:prstGeom>
          <a:solidFill>
            <a:srgbClr val="4BACC6"/>
          </a:solidFill>
          <a:ln w="12700">
            <a:solidFill>
              <a:srgbClr val="4BACC6"/>
            </a:solidFill>
            <a:prstDash val="solid"/>
          </a:ln>
        </p:spPr>
        <p:txBody>
          <a:bodyPr/>
          <a:lstStyle/>
          <a:p>
            <a:endParaRPr lang="en-US"/>
          </a:p>
        </p:txBody>
      </p:sp>
      <p:sp>
        <p:nvSpPr>
          <p:cNvPr id="12" name="Text 8"/>
          <p:cNvSpPr txBox="1"/>
          <p:nvPr/>
        </p:nvSpPr>
        <p:spPr>
          <a:xfrm>
            <a:off x="4846320" y="18196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3" name="Text 9"/>
          <p:cNvSpPr txBox="1"/>
          <p:nvPr/>
        </p:nvSpPr>
        <p:spPr>
          <a:xfrm>
            <a:off x="5276088" y="1801368"/>
            <a:ext cx="6199632"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vào</a:t>
            </a:r>
            <a:endParaRPr lang="en-US" sz="1300" dirty="0"/>
          </a:p>
        </p:txBody>
      </p:sp>
      <p:sp>
        <p:nvSpPr>
          <p:cNvPr id="14" name="Text 10"/>
          <p:cNvSpPr txBox="1"/>
          <p:nvPr/>
        </p:nvSpPr>
        <p:spPr>
          <a:xfrm>
            <a:off x="5212080" y="2167128"/>
            <a:ext cx="6291072" cy="71323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Dòng kết quả của lô</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Item Ledger Entry của lô và lịch sử bán 90 ngày tại địa điểm</a:t>
            </a:r>
            <a:endParaRPr lang="en-US" sz="1200" dirty="0"/>
          </a:p>
        </p:txBody>
      </p:sp>
      <p:sp>
        <p:nvSpPr>
          <p:cNvPr id="15" name="Shape 11"/>
          <p:cNvSpPr/>
          <p:nvPr/>
        </p:nvSpPr>
        <p:spPr>
          <a:xfrm>
            <a:off x="4709160" y="3063240"/>
            <a:ext cx="6931152" cy="1261872"/>
          </a:xfrm>
          <a:prstGeom prst="roundRect">
            <a:avLst>
              <a:gd name="adj" fmla="val 5797"/>
            </a:avLst>
          </a:prstGeom>
          <a:solidFill>
            <a:srgbClr val="F7FAFB"/>
          </a:solidFill>
          <a:ln w="12700">
            <a:solidFill>
              <a:srgbClr val="F7FAFB"/>
            </a:solidFill>
            <a:prstDash val="solid"/>
          </a:ln>
        </p:spPr>
        <p:txBody>
          <a:bodyPr/>
          <a:lstStyle/>
          <a:p>
            <a:endParaRPr lang="en-US"/>
          </a:p>
        </p:txBody>
      </p:sp>
      <p:sp>
        <p:nvSpPr>
          <p:cNvPr id="16" name="Shape 12"/>
          <p:cNvSpPr/>
          <p:nvPr/>
        </p:nvSpPr>
        <p:spPr>
          <a:xfrm>
            <a:off x="4846320" y="3191256"/>
            <a:ext cx="329184" cy="329184"/>
          </a:xfrm>
          <a:prstGeom prst="ellipse">
            <a:avLst/>
          </a:prstGeom>
          <a:solidFill>
            <a:srgbClr val="4BACC6"/>
          </a:solidFill>
          <a:ln w="12700">
            <a:solidFill>
              <a:srgbClr val="4BACC6"/>
            </a:solidFill>
            <a:prstDash val="solid"/>
          </a:ln>
        </p:spPr>
        <p:txBody>
          <a:bodyPr/>
          <a:lstStyle/>
          <a:p>
            <a:endParaRPr lang="en-US"/>
          </a:p>
        </p:txBody>
      </p:sp>
      <p:sp>
        <p:nvSpPr>
          <p:cNvPr id="17" name="Text 13"/>
          <p:cNvSpPr txBox="1"/>
          <p:nvPr/>
        </p:nvSpPr>
        <p:spPr>
          <a:xfrm>
            <a:off x="4846320" y="31912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8" name="Text 14"/>
          <p:cNvSpPr txBox="1"/>
          <p:nvPr/>
        </p:nvSpPr>
        <p:spPr>
          <a:xfrm>
            <a:off x="5276088" y="3172968"/>
            <a:ext cx="6199632"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Thao tác</a:t>
            </a:r>
            <a:endParaRPr lang="en-US" sz="1300" dirty="0"/>
          </a:p>
        </p:txBody>
      </p:sp>
      <p:sp>
        <p:nvSpPr>
          <p:cNvPr id="19" name="Text 15"/>
          <p:cNvSpPr txBox="1"/>
          <p:nvPr/>
        </p:nvSpPr>
        <p:spPr>
          <a:xfrm>
            <a:off x="5212080" y="3538728"/>
            <a:ext cx="6291072" cy="71323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Bấm một dòng trên bảng Sức khỏe tồn kho</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Ví dụ: Croissant - plain, S0001, lô L260910-33100A</a:t>
            </a:r>
            <a:endParaRPr lang="en-US" sz="1200" dirty="0"/>
          </a:p>
        </p:txBody>
      </p:sp>
      <p:sp>
        <p:nvSpPr>
          <p:cNvPr id="20" name="Shape 16"/>
          <p:cNvSpPr/>
          <p:nvPr/>
        </p:nvSpPr>
        <p:spPr>
          <a:xfrm>
            <a:off x="4709160" y="4434840"/>
            <a:ext cx="6931152" cy="1764792"/>
          </a:xfrm>
          <a:prstGeom prst="roundRect">
            <a:avLst>
              <a:gd name="adj" fmla="val 4145"/>
            </a:avLst>
          </a:prstGeom>
          <a:solidFill>
            <a:srgbClr val="DAEEF3"/>
          </a:solidFill>
          <a:ln w="12700">
            <a:solidFill>
              <a:srgbClr val="DAEEF3"/>
            </a:solidFill>
            <a:prstDash val="solid"/>
          </a:ln>
        </p:spPr>
        <p:txBody>
          <a:bodyPr/>
          <a:lstStyle/>
          <a:p>
            <a:endParaRPr lang="en-US"/>
          </a:p>
        </p:txBody>
      </p:sp>
      <p:sp>
        <p:nvSpPr>
          <p:cNvPr id="21" name="Shape 17"/>
          <p:cNvSpPr/>
          <p:nvPr/>
        </p:nvSpPr>
        <p:spPr>
          <a:xfrm>
            <a:off x="4846320" y="4562856"/>
            <a:ext cx="329184" cy="329184"/>
          </a:xfrm>
          <a:prstGeom prst="ellipse">
            <a:avLst/>
          </a:prstGeom>
          <a:solidFill>
            <a:srgbClr val="27343A"/>
          </a:solidFill>
          <a:ln w="12700">
            <a:solidFill>
              <a:srgbClr val="27343A"/>
            </a:solidFill>
            <a:prstDash val="solid"/>
          </a:ln>
        </p:spPr>
        <p:txBody>
          <a:bodyPr/>
          <a:lstStyle/>
          <a:p>
            <a:endParaRPr lang="en-US"/>
          </a:p>
        </p:txBody>
      </p:sp>
      <p:sp>
        <p:nvSpPr>
          <p:cNvPr id="22" name="Text 18"/>
          <p:cNvSpPr txBox="1"/>
          <p:nvPr/>
        </p:nvSpPr>
        <p:spPr>
          <a:xfrm>
            <a:off x="4846320" y="45628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3" name="Text 19"/>
          <p:cNvSpPr txBox="1"/>
          <p:nvPr/>
        </p:nvSpPr>
        <p:spPr>
          <a:xfrm>
            <a:off x="5276088" y="4544568"/>
            <a:ext cx="6199632"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ra</a:t>
            </a:r>
            <a:endParaRPr lang="en-US" sz="1300" dirty="0"/>
          </a:p>
        </p:txBody>
      </p:sp>
      <p:sp>
        <p:nvSpPr>
          <p:cNvPr id="24" name="Text 20"/>
          <p:cNvSpPr txBox="1"/>
          <p:nvPr/>
        </p:nvSpPr>
        <p:spPr>
          <a:xfrm>
            <a:off x="5212080" y="4910328"/>
            <a:ext cx="6291072" cy="121615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Nguồn từng con số: tồn 23, bán 90 ngày, số ngày hết hàng bị loại, số ngày đủ bán 2,9</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Quy tắc dừng ở bậc 01 Expired vì hạn còn -6 ngày</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Bán theo ngày để cộng tay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100" b="1" kern="0" spc="200" dirty="0">
                <a:solidFill>
                  <a:srgbClr val="4BACC6"/>
                </a:solidFill>
                <a:latin typeface="Aptos" pitchFamily="34" charset="0"/>
                <a:ea typeface="Aptos" pitchFamily="34" charset="-122"/>
                <a:cs typeface="Aptos" pitchFamily="34" charset="-120"/>
              </a:rPr>
              <a:t>KỊCH BẢN 3/10 · DỮ LIỆU CÓ ĐỦ ĐỂ TIN KHÔNG</a:t>
            </a:r>
            <a:endParaRPr lang="en-US" sz="1100" dirty="0"/>
          </a:p>
        </p:txBody>
      </p:sp>
      <p:sp>
        <p:nvSpPr>
          <p:cNvPr id="3" name="Text 1"/>
          <p:cNvSpPr txBox="1"/>
          <p:nvPr/>
        </p:nvSpPr>
        <p:spPr>
          <a:xfrm>
            <a:off x="548640" y="566928"/>
            <a:ext cx="11094415" cy="640080"/>
          </a:xfrm>
          <a:prstGeom prst="rect">
            <a:avLst/>
          </a:prstGeom>
          <a:noFill/>
          <a:ln/>
        </p:spPr>
        <p:txBody>
          <a:bodyPr wrap="square" lIns="0" tIns="0" rIns="0" bIns="0" rtlCol="0" anchor="t"/>
          <a:lstStyle/>
          <a:p>
            <a:pPr marL="0" indent="0">
              <a:buNone/>
            </a:pPr>
            <a:r>
              <a:rPr lang="en-US" sz="2800" b="1" dirty="0">
                <a:solidFill>
                  <a:srgbClr val="27343A"/>
                </a:solidFill>
                <a:latin typeface="Aptos Display" pitchFamily="34" charset="0"/>
                <a:ea typeface="Aptos Display" pitchFamily="34" charset="-122"/>
                <a:cs typeface="Aptos Display" pitchFamily="34" charset="-120"/>
              </a:rPr>
              <a:t>Biết dữ liệu đủ tốt trước khi tin kết quả</a:t>
            </a:r>
            <a:endParaRPr lang="en-US" sz="2800" dirty="0"/>
          </a:p>
        </p:txBody>
      </p:sp>
      <p:sp>
        <p:nvSpPr>
          <p:cNvPr id="4" name="Text 2"/>
          <p:cNvSpPr txBox="1"/>
          <p:nvPr/>
        </p:nvSpPr>
        <p:spPr>
          <a:xfrm>
            <a:off x="548640" y="6473952"/>
            <a:ext cx="5486400" cy="228600"/>
          </a:xfrm>
          <a:prstGeom prst="rect">
            <a:avLst/>
          </a:prstGeom>
          <a:noFill/>
          <a:ln/>
        </p:spPr>
        <p:txBody>
          <a:bodyPr wrap="square" lIns="0" tIns="0" rIns="0" bIns="0" rtlCol="0" anchor="ctr"/>
          <a:lstStyle/>
          <a:p>
            <a:pPr marL="0" indent="0">
              <a:buNone/>
            </a:pPr>
            <a:r>
              <a:rPr lang="en-US" sz="900" dirty="0">
                <a:solidFill>
                  <a:srgbClr val="5F6B70"/>
                </a:solidFill>
                <a:latin typeface="Aptos" pitchFamily="34" charset="0"/>
                <a:ea typeface="Aptos" pitchFamily="34" charset="-122"/>
                <a:cs typeface="Aptos" pitchFamily="34" charset="-120"/>
              </a:rPr>
              <a:t>UC2 Inventory Health &amp; Traceability</a:t>
            </a:r>
            <a:endParaRPr lang="en-US" sz="900" dirty="0"/>
          </a:p>
        </p:txBody>
      </p:sp>
      <p:sp>
        <p:nvSpPr>
          <p:cNvPr id="5" name="Text 3"/>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5F6B70"/>
                </a:solidFill>
                <a:latin typeface="Aptos" pitchFamily="34" charset="0"/>
                <a:ea typeface="Aptos" pitchFamily="34" charset="-122"/>
                <a:cs typeface="Aptos" pitchFamily="34" charset="-120"/>
              </a:rPr>
              <a:t>10</a:t>
            </a:r>
            <a:endParaRPr lang="en-US" sz="900" dirty="0"/>
          </a:p>
        </p:txBody>
      </p:sp>
      <p:sp>
        <p:nvSpPr>
          <p:cNvPr id="7" name="Text 4"/>
          <p:cNvSpPr txBox="1"/>
          <p:nvPr/>
        </p:nvSpPr>
        <p:spPr>
          <a:xfrm>
            <a:off x="548640" y="1188720"/>
            <a:ext cx="2066544" cy="310896"/>
          </a:xfrm>
          <a:prstGeom prst="roundRect">
            <a:avLst>
              <a:gd name="adj" fmla="val 44118"/>
            </a:avLst>
          </a:prstGeom>
          <a:solidFill>
            <a:srgbClr val="DAEEF3"/>
          </a:solidFill>
          <a:ln>
            <a:solidFill>
              <a:srgbClr val="DAEEF3"/>
            </a:solidFill>
          </a:ln>
        </p:spPr>
        <p:txBody>
          <a:bodyPr wrap="square" lIns="0" tIns="127000" rIns="127000" bIns="0" rtlCol="0" anchor="ctr"/>
          <a:lstStyle/>
          <a:p>
            <a:pPr marL="0" indent="0">
              <a:buNone/>
            </a:pPr>
            <a:r>
              <a:rPr lang="en-US" sz="1100" b="1" dirty="0">
                <a:solidFill>
                  <a:srgbClr val="27343A"/>
                </a:solidFill>
                <a:latin typeface="Aptos" pitchFamily="34" charset="0"/>
                <a:ea typeface="Aptos" pitchFamily="34" charset="-122"/>
                <a:cs typeface="Aptos" pitchFamily="34" charset="-120"/>
              </a:rPr>
              <a:t>Vai  </a:t>
            </a:r>
            <a:r>
              <a:rPr lang="en-US" sz="1100" dirty="0">
                <a:solidFill>
                  <a:srgbClr val="27343A"/>
                </a:solidFill>
                <a:latin typeface="Aptos" pitchFamily="34" charset="0"/>
                <a:ea typeface="Aptos" pitchFamily="34" charset="-122"/>
                <a:cs typeface="Aptos" pitchFamily="34" charset="-120"/>
              </a:rPr>
              <a:t>Supply Chain, IT</a:t>
            </a:r>
            <a:endParaRPr lang="en-US" sz="1100" dirty="0"/>
          </a:p>
        </p:txBody>
      </p:sp>
      <p:sp>
        <p:nvSpPr>
          <p:cNvPr id="8" name="Shape 5"/>
          <p:cNvSpPr/>
          <p:nvPr/>
        </p:nvSpPr>
        <p:spPr>
          <a:xfrm>
            <a:off x="548640" y="1691640"/>
            <a:ext cx="4846320" cy="1216152"/>
          </a:xfrm>
          <a:prstGeom prst="roundRect">
            <a:avLst>
              <a:gd name="adj" fmla="val 6015"/>
            </a:avLst>
          </a:prstGeom>
          <a:solidFill>
            <a:srgbClr val="F7FAFB"/>
          </a:solidFill>
          <a:ln w="12700">
            <a:solidFill>
              <a:srgbClr val="F7FAFB"/>
            </a:solidFill>
            <a:prstDash val="solid"/>
          </a:ln>
        </p:spPr>
        <p:txBody>
          <a:bodyPr/>
          <a:lstStyle/>
          <a:p>
            <a:endParaRPr lang="en-US"/>
          </a:p>
        </p:txBody>
      </p:sp>
      <p:sp>
        <p:nvSpPr>
          <p:cNvPr id="9" name="Shape 6"/>
          <p:cNvSpPr/>
          <p:nvPr/>
        </p:nvSpPr>
        <p:spPr>
          <a:xfrm>
            <a:off x="685800" y="1819656"/>
            <a:ext cx="329184" cy="329184"/>
          </a:xfrm>
          <a:prstGeom prst="ellipse">
            <a:avLst/>
          </a:prstGeom>
          <a:solidFill>
            <a:srgbClr val="4BACC6"/>
          </a:solidFill>
          <a:ln w="12700">
            <a:solidFill>
              <a:srgbClr val="4BACC6"/>
            </a:solidFill>
            <a:prstDash val="solid"/>
          </a:ln>
        </p:spPr>
        <p:txBody>
          <a:bodyPr/>
          <a:lstStyle/>
          <a:p>
            <a:endParaRPr lang="en-US"/>
          </a:p>
        </p:txBody>
      </p:sp>
      <p:sp>
        <p:nvSpPr>
          <p:cNvPr id="10" name="Text 7"/>
          <p:cNvSpPr txBox="1"/>
          <p:nvPr/>
        </p:nvSpPr>
        <p:spPr>
          <a:xfrm>
            <a:off x="685800" y="18196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1" name="Text 8"/>
          <p:cNvSpPr txBox="1"/>
          <p:nvPr/>
        </p:nvSpPr>
        <p:spPr>
          <a:xfrm>
            <a:off x="1115568" y="1801368"/>
            <a:ext cx="4114800"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vào</a:t>
            </a:r>
            <a:endParaRPr lang="en-US" sz="1300" dirty="0"/>
          </a:p>
        </p:txBody>
      </p:sp>
      <p:sp>
        <p:nvSpPr>
          <p:cNvPr id="12" name="Text 9"/>
          <p:cNvSpPr txBox="1"/>
          <p:nvPr/>
        </p:nvSpPr>
        <p:spPr>
          <a:xfrm>
            <a:off x="1051560" y="2167128"/>
            <a:ext cx="4206240" cy="66751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Item Ledger Entry, Lot No. Information, Item</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Bảng kết quả Inventory Health</a:t>
            </a:r>
            <a:endParaRPr lang="en-US" sz="1200" dirty="0"/>
          </a:p>
        </p:txBody>
      </p:sp>
      <p:sp>
        <p:nvSpPr>
          <p:cNvPr id="13" name="Shape 10"/>
          <p:cNvSpPr/>
          <p:nvPr/>
        </p:nvSpPr>
        <p:spPr>
          <a:xfrm>
            <a:off x="548640" y="3017520"/>
            <a:ext cx="4846320" cy="987552"/>
          </a:xfrm>
          <a:prstGeom prst="roundRect">
            <a:avLst>
              <a:gd name="adj" fmla="val 7407"/>
            </a:avLst>
          </a:prstGeom>
          <a:solidFill>
            <a:srgbClr val="F7FAFB"/>
          </a:solidFill>
          <a:ln w="12700">
            <a:solidFill>
              <a:srgbClr val="F7FAFB"/>
            </a:solidFill>
            <a:prstDash val="solid"/>
          </a:ln>
        </p:spPr>
        <p:txBody>
          <a:bodyPr/>
          <a:lstStyle/>
          <a:p>
            <a:endParaRPr lang="en-US"/>
          </a:p>
        </p:txBody>
      </p:sp>
      <p:sp>
        <p:nvSpPr>
          <p:cNvPr id="14" name="Shape 11"/>
          <p:cNvSpPr/>
          <p:nvPr/>
        </p:nvSpPr>
        <p:spPr>
          <a:xfrm>
            <a:off x="685800" y="3145536"/>
            <a:ext cx="329184" cy="329184"/>
          </a:xfrm>
          <a:prstGeom prst="ellipse">
            <a:avLst/>
          </a:prstGeom>
          <a:solidFill>
            <a:srgbClr val="4BACC6"/>
          </a:solidFill>
          <a:ln w="12700">
            <a:solidFill>
              <a:srgbClr val="4BACC6"/>
            </a:solidFill>
            <a:prstDash val="solid"/>
          </a:ln>
        </p:spPr>
        <p:txBody>
          <a:bodyPr/>
          <a:lstStyle/>
          <a:p>
            <a:endParaRPr lang="en-US"/>
          </a:p>
        </p:txBody>
      </p:sp>
      <p:sp>
        <p:nvSpPr>
          <p:cNvPr id="15" name="Text 12"/>
          <p:cNvSpPr txBox="1"/>
          <p:nvPr/>
        </p:nvSpPr>
        <p:spPr>
          <a:xfrm>
            <a:off x="685800" y="31455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6" name="Text 13"/>
          <p:cNvSpPr txBox="1"/>
          <p:nvPr/>
        </p:nvSpPr>
        <p:spPr>
          <a:xfrm>
            <a:off x="1115568" y="3127248"/>
            <a:ext cx="4114800"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Thao tác</a:t>
            </a:r>
            <a:endParaRPr lang="en-US" sz="1300" dirty="0"/>
          </a:p>
        </p:txBody>
      </p:sp>
      <p:sp>
        <p:nvSpPr>
          <p:cNvPr id="17" name="Text 14"/>
          <p:cNvSpPr txBox="1"/>
          <p:nvPr/>
        </p:nvSpPr>
        <p:spPr>
          <a:xfrm>
            <a:off x="1051560" y="3493008"/>
            <a:ext cx="4206240" cy="43891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Bấm Độ phủ dữ liệu trên màn hình Sức khỏe tồn kho</a:t>
            </a:r>
            <a:endParaRPr lang="en-US" sz="1200" dirty="0"/>
          </a:p>
        </p:txBody>
      </p:sp>
      <p:sp>
        <p:nvSpPr>
          <p:cNvPr id="18" name="Shape 15"/>
          <p:cNvSpPr/>
          <p:nvPr/>
        </p:nvSpPr>
        <p:spPr>
          <a:xfrm>
            <a:off x="548640" y="4114800"/>
            <a:ext cx="4846320" cy="1993392"/>
          </a:xfrm>
          <a:prstGeom prst="roundRect">
            <a:avLst>
              <a:gd name="adj" fmla="val 3670"/>
            </a:avLst>
          </a:prstGeom>
          <a:solidFill>
            <a:srgbClr val="DAEEF3"/>
          </a:solidFill>
          <a:ln w="12700">
            <a:solidFill>
              <a:srgbClr val="DAEEF3"/>
            </a:solidFill>
            <a:prstDash val="solid"/>
          </a:ln>
        </p:spPr>
        <p:txBody>
          <a:bodyPr/>
          <a:lstStyle/>
          <a:p>
            <a:endParaRPr lang="en-US"/>
          </a:p>
        </p:txBody>
      </p:sp>
      <p:sp>
        <p:nvSpPr>
          <p:cNvPr id="19" name="Shape 16"/>
          <p:cNvSpPr/>
          <p:nvPr/>
        </p:nvSpPr>
        <p:spPr>
          <a:xfrm>
            <a:off x="685800" y="4242816"/>
            <a:ext cx="329184" cy="329184"/>
          </a:xfrm>
          <a:prstGeom prst="ellipse">
            <a:avLst/>
          </a:prstGeom>
          <a:solidFill>
            <a:srgbClr val="27343A"/>
          </a:solidFill>
          <a:ln w="12700">
            <a:solidFill>
              <a:srgbClr val="27343A"/>
            </a:solidFill>
            <a:prstDash val="solid"/>
          </a:ln>
        </p:spPr>
        <p:txBody>
          <a:bodyPr/>
          <a:lstStyle/>
          <a:p>
            <a:endParaRPr lang="en-US"/>
          </a:p>
        </p:txBody>
      </p:sp>
      <p:sp>
        <p:nvSpPr>
          <p:cNvPr id="20" name="Text 17"/>
          <p:cNvSpPr txBox="1"/>
          <p:nvPr/>
        </p:nvSpPr>
        <p:spPr>
          <a:xfrm>
            <a:off x="685800" y="424281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1" name="Text 18"/>
          <p:cNvSpPr txBox="1"/>
          <p:nvPr/>
        </p:nvSpPr>
        <p:spPr>
          <a:xfrm>
            <a:off x="1115568" y="4224528"/>
            <a:ext cx="4114800"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ra</a:t>
            </a:r>
            <a:endParaRPr lang="en-US" sz="1300" dirty="0"/>
          </a:p>
        </p:txBody>
      </p:sp>
      <p:sp>
        <p:nvSpPr>
          <p:cNvPr id="22" name="Text 19"/>
          <p:cNvSpPr txBox="1"/>
          <p:nvPr/>
        </p:nvSpPr>
        <p:spPr>
          <a:xfrm>
            <a:off x="1051560" y="4590288"/>
            <a:ext cx="4206240" cy="144475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Từng phép đo: kết quả, tỷ lệ, kết luận Đạt hoặc Cần xem lại</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Thiếu thì ảnh hưởng gì, ví dụ lịch sử dưới 12 tháng chưa bắt được mùa Tết</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Demo: 100% dòng tồn có hạn dùng; 68,9% có số lô</a:t>
            </a:r>
            <a:endParaRPr lang="en-US" sz="1200" dirty="0"/>
          </a:p>
        </p:txBody>
      </p:sp>
      <p:sp>
        <p:nvSpPr>
          <p:cNvPr id="23" name="Shape 20"/>
          <p:cNvSpPr/>
          <p:nvPr/>
        </p:nvSpPr>
        <p:spPr>
          <a:xfrm>
            <a:off x="6028551" y="1188720"/>
            <a:ext cx="5657481" cy="5166360"/>
          </a:xfrm>
          <a:prstGeom prst="rect">
            <a:avLst/>
          </a:prstGeom>
          <a:solidFill>
            <a:srgbClr val="FFFFFF"/>
          </a:solidFill>
          <a:ln w="9525">
            <a:solidFill>
              <a:srgbClr val="A9D5E2"/>
            </a:solidFill>
            <a:prstDash val="solid"/>
          </a:ln>
          <a:effectLst>
            <a:outerShdw blurRad="76200" dist="25400" dir="5400000" algn="bl" rotWithShape="0">
              <a:srgbClr val="000000">
                <a:alpha val="12000"/>
              </a:srgbClr>
            </a:outerShdw>
          </a:effectLst>
        </p:spPr>
        <p:txBody>
          <a:bodyPr/>
          <a:lstStyle/>
          <a:p>
            <a:endParaRPr lang="en-US"/>
          </a:p>
        </p:txBody>
      </p:sp>
      <p:pic>
        <p:nvPicPr>
          <p:cNvPr id="24" name="Image 0" descr="do-phu"/>
          <p:cNvPicPr>
            <a:picLocks noChangeAspect="1"/>
          </p:cNvPicPr>
          <p:nvPr/>
        </p:nvPicPr>
        <p:blipFill>
          <a:blip r:embed="rId3"/>
          <a:stretch>
            <a:fillRect/>
          </a:stretch>
        </p:blipFill>
        <p:spPr>
          <a:xfrm>
            <a:off x="6074271" y="1234440"/>
            <a:ext cx="5566041" cy="50749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100" b="1" kern="0" spc="200" dirty="0">
                <a:solidFill>
                  <a:srgbClr val="4BACC6"/>
                </a:solidFill>
                <a:latin typeface="Aptos" pitchFamily="34" charset="0"/>
                <a:ea typeface="Aptos" pitchFamily="34" charset="-122"/>
                <a:cs typeface="Aptos" pitchFamily="34" charset="-120"/>
              </a:rPr>
              <a:t>KỊCH BẢN 4/10 · BRIEF BUỔI SÁNG</a:t>
            </a:r>
            <a:endParaRPr lang="en-US" sz="1100" dirty="0"/>
          </a:p>
        </p:txBody>
      </p:sp>
      <p:sp>
        <p:nvSpPr>
          <p:cNvPr id="3" name="Text 1"/>
          <p:cNvSpPr txBox="1"/>
          <p:nvPr/>
        </p:nvSpPr>
        <p:spPr>
          <a:xfrm>
            <a:off x="548640" y="566928"/>
            <a:ext cx="11094415" cy="640080"/>
          </a:xfrm>
          <a:prstGeom prst="rect">
            <a:avLst/>
          </a:prstGeom>
          <a:noFill/>
          <a:ln/>
        </p:spPr>
        <p:txBody>
          <a:bodyPr wrap="square" lIns="0" tIns="0" rIns="0" bIns="0" rtlCol="0" anchor="t"/>
          <a:lstStyle/>
          <a:p>
            <a:pPr marL="0" indent="0">
              <a:buNone/>
            </a:pPr>
            <a:r>
              <a:rPr lang="en-US" sz="2800" b="1" dirty="0">
                <a:solidFill>
                  <a:srgbClr val="27343A"/>
                </a:solidFill>
                <a:latin typeface="Aptos Display" pitchFamily="34" charset="0"/>
                <a:ea typeface="Aptos Display" pitchFamily="34" charset="-122"/>
                <a:cs typeface="Aptos Display" pitchFamily="34" charset="-120"/>
              </a:rPr>
              <a:t>Mở đầu ngày bằng danh sách lô cần xử lý</a:t>
            </a:r>
            <a:endParaRPr lang="en-US" sz="2800" dirty="0"/>
          </a:p>
        </p:txBody>
      </p:sp>
      <p:sp>
        <p:nvSpPr>
          <p:cNvPr id="4" name="Text 2"/>
          <p:cNvSpPr txBox="1"/>
          <p:nvPr/>
        </p:nvSpPr>
        <p:spPr>
          <a:xfrm>
            <a:off x="548640" y="6473952"/>
            <a:ext cx="5486400" cy="228600"/>
          </a:xfrm>
          <a:prstGeom prst="rect">
            <a:avLst/>
          </a:prstGeom>
          <a:noFill/>
          <a:ln/>
        </p:spPr>
        <p:txBody>
          <a:bodyPr wrap="square" lIns="0" tIns="0" rIns="0" bIns="0" rtlCol="0" anchor="ctr"/>
          <a:lstStyle/>
          <a:p>
            <a:pPr marL="0" indent="0">
              <a:buNone/>
            </a:pPr>
            <a:r>
              <a:rPr lang="en-US" sz="900" dirty="0">
                <a:solidFill>
                  <a:srgbClr val="5F6B70"/>
                </a:solidFill>
                <a:latin typeface="Aptos" pitchFamily="34" charset="0"/>
                <a:ea typeface="Aptos" pitchFamily="34" charset="-122"/>
                <a:cs typeface="Aptos" pitchFamily="34" charset="-120"/>
              </a:rPr>
              <a:t>UC2 Inventory Health &amp; Traceability</a:t>
            </a:r>
            <a:endParaRPr lang="en-US" sz="900" dirty="0"/>
          </a:p>
        </p:txBody>
      </p:sp>
      <p:sp>
        <p:nvSpPr>
          <p:cNvPr id="5" name="Text 3"/>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5F6B70"/>
                </a:solidFill>
                <a:latin typeface="Aptos" pitchFamily="34" charset="0"/>
                <a:ea typeface="Aptos" pitchFamily="34" charset="-122"/>
                <a:cs typeface="Aptos" pitchFamily="34" charset="-120"/>
              </a:rPr>
              <a:t>11</a:t>
            </a:r>
            <a:endParaRPr lang="en-US" sz="900" dirty="0"/>
          </a:p>
        </p:txBody>
      </p:sp>
      <p:sp>
        <p:nvSpPr>
          <p:cNvPr id="7" name="Text 4"/>
          <p:cNvSpPr txBox="1"/>
          <p:nvPr/>
        </p:nvSpPr>
        <p:spPr>
          <a:xfrm>
            <a:off x="548640" y="1188720"/>
            <a:ext cx="2610612" cy="310896"/>
          </a:xfrm>
          <a:prstGeom prst="roundRect">
            <a:avLst>
              <a:gd name="adj" fmla="val 44118"/>
            </a:avLst>
          </a:prstGeom>
          <a:solidFill>
            <a:srgbClr val="DAEEF3"/>
          </a:solidFill>
          <a:ln>
            <a:solidFill>
              <a:srgbClr val="DAEEF3"/>
            </a:solidFill>
          </a:ln>
        </p:spPr>
        <p:txBody>
          <a:bodyPr wrap="square" lIns="0" tIns="127000" rIns="127000" bIns="0" rtlCol="0" anchor="ctr"/>
          <a:lstStyle/>
          <a:p>
            <a:pPr marL="0" indent="0">
              <a:buNone/>
            </a:pPr>
            <a:r>
              <a:rPr lang="en-US" sz="1100" b="1" dirty="0">
                <a:solidFill>
                  <a:srgbClr val="27343A"/>
                </a:solidFill>
                <a:latin typeface="Aptos" pitchFamily="34" charset="0"/>
                <a:ea typeface="Aptos" pitchFamily="34" charset="-122"/>
                <a:cs typeface="Aptos" pitchFamily="34" charset="-120"/>
              </a:rPr>
              <a:t>Vai  </a:t>
            </a:r>
            <a:r>
              <a:rPr lang="en-US" sz="1100" dirty="0">
                <a:solidFill>
                  <a:srgbClr val="27343A"/>
                </a:solidFill>
                <a:latin typeface="Aptos" pitchFamily="34" charset="0"/>
                <a:ea typeface="Aptos" pitchFamily="34" charset="-122"/>
                <a:cs typeface="Aptos" pitchFamily="34" charset="-120"/>
              </a:rPr>
              <a:t>Supply Chain, điều phối</a:t>
            </a:r>
            <a:endParaRPr lang="en-US" sz="1100" dirty="0"/>
          </a:p>
        </p:txBody>
      </p:sp>
      <p:sp>
        <p:nvSpPr>
          <p:cNvPr id="8" name="Shape 5"/>
          <p:cNvSpPr/>
          <p:nvPr/>
        </p:nvSpPr>
        <p:spPr>
          <a:xfrm>
            <a:off x="502920" y="1645920"/>
            <a:ext cx="4009211" cy="4709160"/>
          </a:xfrm>
          <a:prstGeom prst="rect">
            <a:avLst/>
          </a:prstGeom>
          <a:solidFill>
            <a:srgbClr val="FFFFFF"/>
          </a:solidFill>
          <a:ln w="9525">
            <a:solidFill>
              <a:srgbClr val="A9D5E2"/>
            </a:solidFill>
            <a:prstDash val="solid"/>
          </a:ln>
          <a:effectLst>
            <a:outerShdw blurRad="76200" dist="25400" dir="5400000" algn="bl" rotWithShape="0">
              <a:srgbClr val="000000">
                <a:alpha val="12000"/>
              </a:srgbClr>
            </a:outerShdw>
          </a:effectLst>
        </p:spPr>
        <p:txBody>
          <a:bodyPr/>
          <a:lstStyle/>
          <a:p>
            <a:endParaRPr lang="en-US"/>
          </a:p>
        </p:txBody>
      </p:sp>
      <p:pic>
        <p:nvPicPr>
          <p:cNvPr id="9" name="Image 0" descr="brief"/>
          <p:cNvPicPr>
            <a:picLocks noChangeAspect="1"/>
          </p:cNvPicPr>
          <p:nvPr/>
        </p:nvPicPr>
        <p:blipFill>
          <a:blip r:embed="rId3"/>
          <a:stretch>
            <a:fillRect/>
          </a:stretch>
        </p:blipFill>
        <p:spPr>
          <a:xfrm>
            <a:off x="548640" y="1691640"/>
            <a:ext cx="3917771" cy="4617720"/>
          </a:xfrm>
          <a:prstGeom prst="rect">
            <a:avLst/>
          </a:prstGeom>
        </p:spPr>
      </p:pic>
      <p:sp>
        <p:nvSpPr>
          <p:cNvPr id="10" name="Shape 6"/>
          <p:cNvSpPr/>
          <p:nvPr/>
        </p:nvSpPr>
        <p:spPr>
          <a:xfrm>
            <a:off x="4846320" y="1691640"/>
            <a:ext cx="6793992" cy="1261872"/>
          </a:xfrm>
          <a:prstGeom prst="roundRect">
            <a:avLst>
              <a:gd name="adj" fmla="val 5797"/>
            </a:avLst>
          </a:prstGeom>
          <a:solidFill>
            <a:srgbClr val="F7FAFB"/>
          </a:solidFill>
          <a:ln w="12700">
            <a:solidFill>
              <a:srgbClr val="F7FAFB"/>
            </a:solidFill>
            <a:prstDash val="solid"/>
          </a:ln>
        </p:spPr>
        <p:txBody>
          <a:bodyPr/>
          <a:lstStyle/>
          <a:p>
            <a:endParaRPr lang="en-US"/>
          </a:p>
        </p:txBody>
      </p:sp>
      <p:sp>
        <p:nvSpPr>
          <p:cNvPr id="11" name="Shape 7"/>
          <p:cNvSpPr/>
          <p:nvPr/>
        </p:nvSpPr>
        <p:spPr>
          <a:xfrm>
            <a:off x="4983480" y="1819656"/>
            <a:ext cx="329184" cy="329184"/>
          </a:xfrm>
          <a:prstGeom prst="ellipse">
            <a:avLst/>
          </a:prstGeom>
          <a:solidFill>
            <a:srgbClr val="4BACC6"/>
          </a:solidFill>
          <a:ln w="12700">
            <a:solidFill>
              <a:srgbClr val="4BACC6"/>
            </a:solidFill>
            <a:prstDash val="solid"/>
          </a:ln>
        </p:spPr>
        <p:txBody>
          <a:bodyPr/>
          <a:lstStyle/>
          <a:p>
            <a:endParaRPr lang="en-US"/>
          </a:p>
        </p:txBody>
      </p:sp>
      <p:sp>
        <p:nvSpPr>
          <p:cNvPr id="12" name="Text 8"/>
          <p:cNvSpPr txBox="1"/>
          <p:nvPr/>
        </p:nvSpPr>
        <p:spPr>
          <a:xfrm>
            <a:off x="4983480" y="18196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3" name="Text 9"/>
          <p:cNvSpPr txBox="1"/>
          <p:nvPr/>
        </p:nvSpPr>
        <p:spPr>
          <a:xfrm>
            <a:off x="5413248" y="1801368"/>
            <a:ext cx="6062472"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vào</a:t>
            </a:r>
            <a:endParaRPr lang="en-US" sz="1300" dirty="0"/>
          </a:p>
        </p:txBody>
      </p:sp>
      <p:sp>
        <p:nvSpPr>
          <p:cNvPr id="14" name="Text 10"/>
          <p:cNvSpPr txBox="1"/>
          <p:nvPr/>
        </p:nvSpPr>
        <p:spPr>
          <a:xfrm>
            <a:off x="5349240" y="2167128"/>
            <a:ext cx="6153912" cy="71323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Bảng Inventory Health đã tính, điểm rủi ro của từng dòng</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Phạm vi của vai: Supply Chain thấy toàn hệ thống</a:t>
            </a:r>
            <a:endParaRPr lang="en-US" sz="1200" dirty="0"/>
          </a:p>
        </p:txBody>
      </p:sp>
      <p:sp>
        <p:nvSpPr>
          <p:cNvPr id="15" name="Shape 11"/>
          <p:cNvSpPr/>
          <p:nvPr/>
        </p:nvSpPr>
        <p:spPr>
          <a:xfrm>
            <a:off x="4846320" y="3063240"/>
            <a:ext cx="6793992" cy="987552"/>
          </a:xfrm>
          <a:prstGeom prst="roundRect">
            <a:avLst>
              <a:gd name="adj" fmla="val 7407"/>
            </a:avLst>
          </a:prstGeom>
          <a:solidFill>
            <a:srgbClr val="F7FAFB"/>
          </a:solidFill>
          <a:ln w="12700">
            <a:solidFill>
              <a:srgbClr val="F7FAFB"/>
            </a:solidFill>
            <a:prstDash val="solid"/>
          </a:ln>
        </p:spPr>
        <p:txBody>
          <a:bodyPr/>
          <a:lstStyle/>
          <a:p>
            <a:endParaRPr lang="en-US"/>
          </a:p>
        </p:txBody>
      </p:sp>
      <p:sp>
        <p:nvSpPr>
          <p:cNvPr id="16" name="Shape 12"/>
          <p:cNvSpPr/>
          <p:nvPr/>
        </p:nvSpPr>
        <p:spPr>
          <a:xfrm>
            <a:off x="4983480" y="3191256"/>
            <a:ext cx="329184" cy="329184"/>
          </a:xfrm>
          <a:prstGeom prst="ellipse">
            <a:avLst/>
          </a:prstGeom>
          <a:solidFill>
            <a:srgbClr val="4BACC6"/>
          </a:solidFill>
          <a:ln w="12700">
            <a:solidFill>
              <a:srgbClr val="4BACC6"/>
            </a:solidFill>
            <a:prstDash val="solid"/>
          </a:ln>
        </p:spPr>
        <p:txBody>
          <a:bodyPr/>
          <a:lstStyle/>
          <a:p>
            <a:endParaRPr lang="en-US"/>
          </a:p>
        </p:txBody>
      </p:sp>
      <p:sp>
        <p:nvSpPr>
          <p:cNvPr id="17" name="Text 13"/>
          <p:cNvSpPr txBox="1"/>
          <p:nvPr/>
        </p:nvSpPr>
        <p:spPr>
          <a:xfrm>
            <a:off x="4983480" y="31912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8" name="Text 14"/>
          <p:cNvSpPr txBox="1"/>
          <p:nvPr/>
        </p:nvSpPr>
        <p:spPr>
          <a:xfrm>
            <a:off x="5413248" y="3172968"/>
            <a:ext cx="6062472"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Thao tác</a:t>
            </a:r>
            <a:endParaRPr lang="en-US" sz="1300" dirty="0"/>
          </a:p>
        </p:txBody>
      </p:sp>
      <p:sp>
        <p:nvSpPr>
          <p:cNvPr id="19" name="Text 15"/>
          <p:cNvSpPr txBox="1"/>
          <p:nvPr/>
        </p:nvSpPr>
        <p:spPr>
          <a:xfrm>
            <a:off x="5349240" y="3538728"/>
            <a:ext cx="6153912" cy="43891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Bấm Brief cạnh ô nhập, hoặc gõ brief</a:t>
            </a:r>
            <a:endParaRPr lang="en-US" sz="1200" dirty="0"/>
          </a:p>
        </p:txBody>
      </p:sp>
      <p:sp>
        <p:nvSpPr>
          <p:cNvPr id="20" name="Shape 16"/>
          <p:cNvSpPr/>
          <p:nvPr/>
        </p:nvSpPr>
        <p:spPr>
          <a:xfrm>
            <a:off x="4846320" y="4160520"/>
            <a:ext cx="6793992" cy="2039112"/>
          </a:xfrm>
          <a:prstGeom prst="roundRect">
            <a:avLst>
              <a:gd name="adj" fmla="val 3587"/>
            </a:avLst>
          </a:prstGeom>
          <a:solidFill>
            <a:srgbClr val="DAEEF3"/>
          </a:solidFill>
          <a:ln w="12700">
            <a:solidFill>
              <a:srgbClr val="DAEEF3"/>
            </a:solidFill>
            <a:prstDash val="solid"/>
          </a:ln>
        </p:spPr>
        <p:txBody>
          <a:bodyPr/>
          <a:lstStyle/>
          <a:p>
            <a:endParaRPr lang="en-US"/>
          </a:p>
        </p:txBody>
      </p:sp>
      <p:sp>
        <p:nvSpPr>
          <p:cNvPr id="21" name="Shape 17"/>
          <p:cNvSpPr/>
          <p:nvPr/>
        </p:nvSpPr>
        <p:spPr>
          <a:xfrm>
            <a:off x="4983480" y="4288536"/>
            <a:ext cx="329184" cy="329184"/>
          </a:xfrm>
          <a:prstGeom prst="ellipse">
            <a:avLst/>
          </a:prstGeom>
          <a:solidFill>
            <a:srgbClr val="27343A"/>
          </a:solidFill>
          <a:ln w="12700">
            <a:solidFill>
              <a:srgbClr val="27343A"/>
            </a:solidFill>
            <a:prstDash val="solid"/>
          </a:ln>
        </p:spPr>
        <p:txBody>
          <a:bodyPr/>
          <a:lstStyle/>
          <a:p>
            <a:endParaRPr lang="en-US"/>
          </a:p>
        </p:txBody>
      </p:sp>
      <p:sp>
        <p:nvSpPr>
          <p:cNvPr id="22" name="Text 18"/>
          <p:cNvSpPr txBox="1"/>
          <p:nvPr/>
        </p:nvSpPr>
        <p:spPr>
          <a:xfrm>
            <a:off x="4983480" y="42885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3" name="Text 19"/>
          <p:cNvSpPr txBox="1"/>
          <p:nvPr/>
        </p:nvSpPr>
        <p:spPr>
          <a:xfrm>
            <a:off x="5413248" y="4270248"/>
            <a:ext cx="6062472"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ra</a:t>
            </a:r>
            <a:endParaRPr lang="en-US" sz="1300" dirty="0"/>
          </a:p>
        </p:txBody>
      </p:sp>
      <p:sp>
        <p:nvSpPr>
          <p:cNvPr id="24" name="Text 20"/>
          <p:cNvSpPr txBox="1"/>
          <p:nvPr/>
        </p:nvSpPr>
        <p:spPr>
          <a:xfrm>
            <a:off x="5349240" y="4636008"/>
            <a:ext cx="6153912" cy="149047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Số dòng cần xử lý, xếp theo mức rủi ro</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Mỗi thẻ: tầng, kho và lô, tồn, số ngày đủ bán, hạn dùng</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Nút xử lý theo tầng và link mở sổ kho của lô trong BC</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100" b="1" kern="0" spc="200" dirty="0">
                <a:solidFill>
                  <a:srgbClr val="4BACC6"/>
                </a:solidFill>
                <a:latin typeface="Aptos" pitchFamily="34" charset="0"/>
                <a:ea typeface="Aptos" pitchFamily="34" charset="-122"/>
                <a:cs typeface="Aptos" pitchFamily="34" charset="-120"/>
              </a:rPr>
              <a:t>KỊCH BẢN 5/10 · HỎI HÀNG HẾT HẠN THEO VAI</a:t>
            </a:r>
            <a:endParaRPr lang="en-US" sz="1100" dirty="0"/>
          </a:p>
        </p:txBody>
      </p:sp>
      <p:sp>
        <p:nvSpPr>
          <p:cNvPr id="3" name="Text 1"/>
          <p:cNvSpPr txBox="1"/>
          <p:nvPr/>
        </p:nvSpPr>
        <p:spPr>
          <a:xfrm>
            <a:off x="548640" y="566928"/>
            <a:ext cx="11094415" cy="640080"/>
          </a:xfrm>
          <a:prstGeom prst="rect">
            <a:avLst/>
          </a:prstGeom>
          <a:noFill/>
          <a:ln/>
        </p:spPr>
        <p:txBody>
          <a:bodyPr wrap="square" lIns="0" tIns="0" rIns="0" bIns="0" rtlCol="0" anchor="t"/>
          <a:lstStyle/>
          <a:p>
            <a:pPr marL="0" indent="0">
              <a:buNone/>
            </a:pPr>
            <a:r>
              <a:rPr lang="en-US" sz="2800" b="1" dirty="0">
                <a:solidFill>
                  <a:srgbClr val="27343A"/>
                </a:solidFill>
                <a:latin typeface="Aptos Display" pitchFamily="34" charset="0"/>
                <a:ea typeface="Aptos Display" pitchFamily="34" charset="-122"/>
                <a:cs typeface="Aptos Display" pitchFamily="34" charset="-120"/>
              </a:rPr>
              <a:t>Cùng câu hỏi, mỗi vai thấy đúng phạm vi của mình</a:t>
            </a:r>
            <a:endParaRPr lang="en-US" sz="2800" dirty="0"/>
          </a:p>
        </p:txBody>
      </p:sp>
      <p:sp>
        <p:nvSpPr>
          <p:cNvPr id="4" name="Text 2"/>
          <p:cNvSpPr txBox="1"/>
          <p:nvPr/>
        </p:nvSpPr>
        <p:spPr>
          <a:xfrm>
            <a:off x="548640" y="6473952"/>
            <a:ext cx="5486400" cy="228600"/>
          </a:xfrm>
          <a:prstGeom prst="rect">
            <a:avLst/>
          </a:prstGeom>
          <a:noFill/>
          <a:ln/>
        </p:spPr>
        <p:txBody>
          <a:bodyPr wrap="square" lIns="0" tIns="0" rIns="0" bIns="0" rtlCol="0" anchor="ctr"/>
          <a:lstStyle/>
          <a:p>
            <a:pPr marL="0" indent="0">
              <a:buNone/>
            </a:pPr>
            <a:r>
              <a:rPr lang="en-US" sz="900" dirty="0">
                <a:solidFill>
                  <a:srgbClr val="5F6B70"/>
                </a:solidFill>
                <a:latin typeface="Aptos" pitchFamily="34" charset="0"/>
                <a:ea typeface="Aptos" pitchFamily="34" charset="-122"/>
                <a:cs typeface="Aptos" pitchFamily="34" charset="-120"/>
              </a:rPr>
              <a:t>UC2 Inventory Health &amp; Traceability</a:t>
            </a:r>
            <a:endParaRPr lang="en-US" sz="900" dirty="0"/>
          </a:p>
        </p:txBody>
      </p:sp>
      <p:sp>
        <p:nvSpPr>
          <p:cNvPr id="5" name="Text 3"/>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5F6B70"/>
                </a:solidFill>
                <a:latin typeface="Aptos" pitchFamily="34" charset="0"/>
                <a:ea typeface="Aptos" pitchFamily="34" charset="-122"/>
                <a:cs typeface="Aptos" pitchFamily="34" charset="-120"/>
              </a:rPr>
              <a:t>12</a:t>
            </a:r>
            <a:endParaRPr lang="en-US" sz="900" dirty="0"/>
          </a:p>
        </p:txBody>
      </p:sp>
      <p:sp>
        <p:nvSpPr>
          <p:cNvPr id="7" name="Text 4"/>
          <p:cNvSpPr txBox="1"/>
          <p:nvPr/>
        </p:nvSpPr>
        <p:spPr>
          <a:xfrm>
            <a:off x="548640" y="1188720"/>
            <a:ext cx="3698748" cy="310896"/>
          </a:xfrm>
          <a:prstGeom prst="roundRect">
            <a:avLst>
              <a:gd name="adj" fmla="val 44118"/>
            </a:avLst>
          </a:prstGeom>
          <a:solidFill>
            <a:srgbClr val="DAEEF3"/>
          </a:solidFill>
          <a:ln>
            <a:solidFill>
              <a:srgbClr val="DAEEF3"/>
            </a:solidFill>
          </a:ln>
        </p:spPr>
        <p:txBody>
          <a:bodyPr wrap="square" lIns="0" tIns="127000" rIns="127000" bIns="0" rtlCol="0" anchor="ctr"/>
          <a:lstStyle/>
          <a:p>
            <a:pPr marL="0" indent="0">
              <a:buNone/>
            </a:pPr>
            <a:r>
              <a:rPr lang="en-US" sz="1100" b="1" dirty="0">
                <a:solidFill>
                  <a:srgbClr val="27343A"/>
                </a:solidFill>
                <a:latin typeface="Aptos" pitchFamily="34" charset="0"/>
                <a:ea typeface="Aptos" pitchFamily="34" charset="-122"/>
                <a:cs typeface="Aptos" pitchFamily="34" charset="-120"/>
              </a:rPr>
              <a:t>Vai  </a:t>
            </a:r>
            <a:r>
              <a:rPr lang="en-US" sz="1100" dirty="0">
                <a:solidFill>
                  <a:srgbClr val="27343A"/>
                </a:solidFill>
                <a:latin typeface="Aptos" pitchFamily="34" charset="0"/>
                <a:ea typeface="Aptos" pitchFamily="34" charset="-122"/>
                <a:cs typeface="Aptos" pitchFamily="34" charset="-120"/>
              </a:rPr>
              <a:t>Điều phối kho, quản lý cửa hàng S0010</a:t>
            </a:r>
            <a:endParaRPr lang="en-US" sz="1100" dirty="0"/>
          </a:p>
        </p:txBody>
      </p:sp>
      <p:sp>
        <p:nvSpPr>
          <p:cNvPr id="8" name="Shape 5"/>
          <p:cNvSpPr/>
          <p:nvPr/>
        </p:nvSpPr>
        <p:spPr>
          <a:xfrm>
            <a:off x="548640" y="1691640"/>
            <a:ext cx="3429000" cy="1170432"/>
          </a:xfrm>
          <a:prstGeom prst="roundRect">
            <a:avLst>
              <a:gd name="adj" fmla="val 6250"/>
            </a:avLst>
          </a:prstGeom>
          <a:solidFill>
            <a:srgbClr val="F7FAFB"/>
          </a:solidFill>
          <a:ln w="12700">
            <a:solidFill>
              <a:srgbClr val="F7FAFB"/>
            </a:solidFill>
            <a:prstDash val="solid"/>
          </a:ln>
        </p:spPr>
        <p:txBody>
          <a:bodyPr/>
          <a:lstStyle/>
          <a:p>
            <a:endParaRPr lang="en-US"/>
          </a:p>
        </p:txBody>
      </p:sp>
      <p:sp>
        <p:nvSpPr>
          <p:cNvPr id="9" name="Shape 6"/>
          <p:cNvSpPr/>
          <p:nvPr/>
        </p:nvSpPr>
        <p:spPr>
          <a:xfrm>
            <a:off x="685800" y="1819656"/>
            <a:ext cx="329184" cy="329184"/>
          </a:xfrm>
          <a:prstGeom prst="ellipse">
            <a:avLst/>
          </a:prstGeom>
          <a:solidFill>
            <a:srgbClr val="4BACC6"/>
          </a:solidFill>
          <a:ln w="12700">
            <a:solidFill>
              <a:srgbClr val="4BACC6"/>
            </a:solidFill>
            <a:prstDash val="solid"/>
          </a:ln>
        </p:spPr>
        <p:txBody>
          <a:bodyPr/>
          <a:lstStyle/>
          <a:p>
            <a:endParaRPr lang="en-US"/>
          </a:p>
        </p:txBody>
      </p:sp>
      <p:sp>
        <p:nvSpPr>
          <p:cNvPr id="10" name="Text 7"/>
          <p:cNvSpPr txBox="1"/>
          <p:nvPr/>
        </p:nvSpPr>
        <p:spPr>
          <a:xfrm>
            <a:off x="685800" y="18196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1" name="Text 8"/>
          <p:cNvSpPr txBox="1"/>
          <p:nvPr/>
        </p:nvSpPr>
        <p:spPr>
          <a:xfrm>
            <a:off x="1115568" y="1801368"/>
            <a:ext cx="2697480"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vào</a:t>
            </a:r>
            <a:endParaRPr lang="en-US" sz="1300" dirty="0"/>
          </a:p>
        </p:txBody>
      </p:sp>
      <p:sp>
        <p:nvSpPr>
          <p:cNvPr id="12" name="Text 9"/>
          <p:cNvSpPr txBox="1"/>
          <p:nvPr/>
        </p:nvSpPr>
        <p:spPr>
          <a:xfrm>
            <a:off x="1051560" y="2167128"/>
            <a:ext cx="2788920" cy="621792"/>
          </a:xfrm>
          <a:prstGeom prst="rect">
            <a:avLst/>
          </a:prstGeom>
          <a:noFill/>
          <a:ln/>
        </p:spPr>
        <p:txBody>
          <a:bodyPr wrap="square" lIns="0" tIns="0" rIns="50800" bIns="0" rtlCol="0" anchor="t"/>
          <a:lstStyle/>
          <a:p>
            <a:pPr marL="152400" indent="-152400">
              <a:spcAft>
                <a:spcPts val="400"/>
              </a:spcAft>
              <a:buSzPct val="100000"/>
              <a:buChar char="•"/>
            </a:pPr>
            <a:r>
              <a:rPr lang="en-US" sz="1100" dirty="0">
                <a:solidFill>
                  <a:srgbClr val="27343A"/>
                </a:solidFill>
                <a:latin typeface="Aptos" pitchFamily="34" charset="0"/>
                <a:ea typeface="Aptos" pitchFamily="34" charset="-122"/>
                <a:cs typeface="Aptos" pitchFamily="34" charset="-120"/>
              </a:rPr>
              <a:t>Bảng Inventory Health</a:t>
            </a:r>
            <a:endParaRPr lang="en-US" sz="1100" dirty="0"/>
          </a:p>
          <a:p>
            <a:pPr marL="152400" indent="-152400">
              <a:spcAft>
                <a:spcPts val="400"/>
              </a:spcAft>
              <a:buSzPct val="100000"/>
              <a:buChar char="•"/>
            </a:pPr>
            <a:r>
              <a:rPr lang="en-US" sz="1100" dirty="0">
                <a:solidFill>
                  <a:srgbClr val="27343A"/>
                </a:solidFill>
                <a:latin typeface="Aptos" pitchFamily="34" charset="0"/>
                <a:ea typeface="Aptos" pitchFamily="34" charset="-122"/>
                <a:cs typeface="Aptos" pitchFamily="34" charset="-120"/>
              </a:rPr>
              <a:t>Địa điểm gắn với vai người hỏi</a:t>
            </a:r>
            <a:endParaRPr lang="en-US" sz="1100" dirty="0"/>
          </a:p>
        </p:txBody>
      </p:sp>
      <p:sp>
        <p:nvSpPr>
          <p:cNvPr id="13" name="Shape 10"/>
          <p:cNvSpPr/>
          <p:nvPr/>
        </p:nvSpPr>
        <p:spPr>
          <a:xfrm>
            <a:off x="548640" y="2971800"/>
            <a:ext cx="3429000" cy="1399032"/>
          </a:xfrm>
          <a:prstGeom prst="roundRect">
            <a:avLst>
              <a:gd name="adj" fmla="val 5229"/>
            </a:avLst>
          </a:prstGeom>
          <a:solidFill>
            <a:srgbClr val="F7FAFB"/>
          </a:solidFill>
          <a:ln w="12700">
            <a:solidFill>
              <a:srgbClr val="F7FAFB"/>
            </a:solidFill>
            <a:prstDash val="solid"/>
          </a:ln>
        </p:spPr>
        <p:txBody>
          <a:bodyPr/>
          <a:lstStyle/>
          <a:p>
            <a:endParaRPr lang="en-US"/>
          </a:p>
        </p:txBody>
      </p:sp>
      <p:sp>
        <p:nvSpPr>
          <p:cNvPr id="14" name="Shape 11"/>
          <p:cNvSpPr/>
          <p:nvPr/>
        </p:nvSpPr>
        <p:spPr>
          <a:xfrm>
            <a:off x="685800" y="3099816"/>
            <a:ext cx="329184" cy="329184"/>
          </a:xfrm>
          <a:prstGeom prst="ellipse">
            <a:avLst/>
          </a:prstGeom>
          <a:solidFill>
            <a:srgbClr val="4BACC6"/>
          </a:solidFill>
          <a:ln w="12700">
            <a:solidFill>
              <a:srgbClr val="4BACC6"/>
            </a:solidFill>
            <a:prstDash val="solid"/>
          </a:ln>
        </p:spPr>
        <p:txBody>
          <a:bodyPr/>
          <a:lstStyle/>
          <a:p>
            <a:endParaRPr lang="en-US"/>
          </a:p>
        </p:txBody>
      </p:sp>
      <p:sp>
        <p:nvSpPr>
          <p:cNvPr id="15" name="Text 12"/>
          <p:cNvSpPr txBox="1"/>
          <p:nvPr/>
        </p:nvSpPr>
        <p:spPr>
          <a:xfrm>
            <a:off x="685800" y="309981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6" name="Text 13"/>
          <p:cNvSpPr txBox="1"/>
          <p:nvPr/>
        </p:nvSpPr>
        <p:spPr>
          <a:xfrm>
            <a:off x="1115568" y="3081528"/>
            <a:ext cx="2697480"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Thao tác</a:t>
            </a:r>
            <a:endParaRPr lang="en-US" sz="1300" dirty="0"/>
          </a:p>
        </p:txBody>
      </p:sp>
      <p:sp>
        <p:nvSpPr>
          <p:cNvPr id="17" name="Text 14"/>
          <p:cNvSpPr txBox="1"/>
          <p:nvPr/>
        </p:nvSpPr>
        <p:spPr>
          <a:xfrm>
            <a:off x="1051560" y="3447288"/>
            <a:ext cx="2788920" cy="850392"/>
          </a:xfrm>
          <a:prstGeom prst="rect">
            <a:avLst/>
          </a:prstGeom>
          <a:noFill/>
          <a:ln/>
        </p:spPr>
        <p:txBody>
          <a:bodyPr wrap="square" lIns="0" tIns="0" rIns="50800" bIns="0" rtlCol="0" anchor="t"/>
          <a:lstStyle/>
          <a:p>
            <a:pPr marL="152400" indent="-152400">
              <a:spcAft>
                <a:spcPts val="400"/>
              </a:spcAft>
              <a:buSzPct val="100000"/>
              <a:buChar char="•"/>
            </a:pPr>
            <a:r>
              <a:rPr lang="en-US" sz="1100" dirty="0">
                <a:solidFill>
                  <a:srgbClr val="27343A"/>
                </a:solidFill>
                <a:latin typeface="Aptos" pitchFamily="34" charset="0"/>
                <a:ea typeface="Aptos" pitchFamily="34" charset="-122"/>
                <a:cs typeface="Aptos" pitchFamily="34" charset="-120"/>
              </a:rPr>
              <a:t>Gõ: có mặt hàng nào đã hết hạn chưa</a:t>
            </a:r>
            <a:endParaRPr lang="en-US" sz="1100" dirty="0"/>
          </a:p>
          <a:p>
            <a:pPr marL="152400" indent="-152400">
              <a:spcAft>
                <a:spcPts val="400"/>
              </a:spcAft>
              <a:buSzPct val="100000"/>
              <a:buChar char="•"/>
            </a:pPr>
            <a:r>
              <a:rPr lang="en-US" sz="1100" dirty="0">
                <a:solidFill>
                  <a:srgbClr val="27343A"/>
                </a:solidFill>
                <a:latin typeface="Aptos" pitchFamily="34" charset="0"/>
                <a:ea typeface="Aptos" pitchFamily="34" charset="-122"/>
                <a:cs typeface="Aptos" pitchFamily="34" charset="-120"/>
              </a:rPr>
              <a:t>Gõ: cửa hàng tôi có lô nào sắp hết hạn không</a:t>
            </a:r>
            <a:endParaRPr lang="en-US" sz="1100" dirty="0"/>
          </a:p>
        </p:txBody>
      </p:sp>
      <p:sp>
        <p:nvSpPr>
          <p:cNvPr id="18" name="Shape 15"/>
          <p:cNvSpPr/>
          <p:nvPr/>
        </p:nvSpPr>
        <p:spPr>
          <a:xfrm>
            <a:off x="548640" y="4480560"/>
            <a:ext cx="3429000" cy="1719072"/>
          </a:xfrm>
          <a:prstGeom prst="roundRect">
            <a:avLst>
              <a:gd name="adj" fmla="val 4255"/>
            </a:avLst>
          </a:prstGeom>
          <a:solidFill>
            <a:srgbClr val="DAEEF3"/>
          </a:solidFill>
          <a:ln w="12700">
            <a:solidFill>
              <a:srgbClr val="DAEEF3"/>
            </a:solidFill>
            <a:prstDash val="solid"/>
          </a:ln>
        </p:spPr>
        <p:txBody>
          <a:bodyPr/>
          <a:lstStyle/>
          <a:p>
            <a:endParaRPr lang="en-US"/>
          </a:p>
        </p:txBody>
      </p:sp>
      <p:sp>
        <p:nvSpPr>
          <p:cNvPr id="19" name="Shape 16"/>
          <p:cNvSpPr/>
          <p:nvPr/>
        </p:nvSpPr>
        <p:spPr>
          <a:xfrm>
            <a:off x="685800" y="4608576"/>
            <a:ext cx="329184" cy="329184"/>
          </a:xfrm>
          <a:prstGeom prst="ellipse">
            <a:avLst/>
          </a:prstGeom>
          <a:solidFill>
            <a:srgbClr val="27343A"/>
          </a:solidFill>
          <a:ln w="12700">
            <a:solidFill>
              <a:srgbClr val="27343A"/>
            </a:solidFill>
            <a:prstDash val="solid"/>
          </a:ln>
        </p:spPr>
        <p:txBody>
          <a:bodyPr/>
          <a:lstStyle/>
          <a:p>
            <a:endParaRPr lang="en-US"/>
          </a:p>
        </p:txBody>
      </p:sp>
      <p:sp>
        <p:nvSpPr>
          <p:cNvPr id="20" name="Text 17"/>
          <p:cNvSpPr txBox="1"/>
          <p:nvPr/>
        </p:nvSpPr>
        <p:spPr>
          <a:xfrm>
            <a:off x="685800" y="46085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1" name="Text 18"/>
          <p:cNvSpPr txBox="1"/>
          <p:nvPr/>
        </p:nvSpPr>
        <p:spPr>
          <a:xfrm>
            <a:off x="1115568" y="4590288"/>
            <a:ext cx="2697480"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ra</a:t>
            </a:r>
            <a:endParaRPr lang="en-US" sz="1300" dirty="0"/>
          </a:p>
        </p:txBody>
      </p:sp>
      <p:sp>
        <p:nvSpPr>
          <p:cNvPr id="22" name="Text 19"/>
          <p:cNvSpPr txBox="1"/>
          <p:nvPr/>
        </p:nvSpPr>
        <p:spPr>
          <a:xfrm>
            <a:off x="1051560" y="4956048"/>
            <a:ext cx="2788920" cy="1170432"/>
          </a:xfrm>
          <a:prstGeom prst="rect">
            <a:avLst/>
          </a:prstGeom>
          <a:noFill/>
          <a:ln/>
        </p:spPr>
        <p:txBody>
          <a:bodyPr wrap="square" lIns="0" tIns="0" rIns="50800" bIns="0" rtlCol="0" anchor="t"/>
          <a:lstStyle/>
          <a:p>
            <a:pPr marL="152400" indent="-152400">
              <a:spcAft>
                <a:spcPts val="400"/>
              </a:spcAft>
              <a:buSzPct val="100000"/>
              <a:buChar char="•"/>
            </a:pPr>
            <a:r>
              <a:rPr lang="en-US" sz="1100" dirty="0">
                <a:solidFill>
                  <a:srgbClr val="27343A"/>
                </a:solidFill>
                <a:latin typeface="Aptos" pitchFamily="34" charset="0"/>
                <a:ea typeface="Aptos" pitchFamily="34" charset="-122"/>
                <a:cs typeface="Aptos" pitchFamily="34" charset="-120"/>
              </a:rPr>
              <a:t>Điều phối: 45 lô, tồn 704, giá trị 1.273,32, chia theo địa điểm</a:t>
            </a:r>
            <a:endParaRPr lang="en-US" sz="1100" dirty="0"/>
          </a:p>
          <a:p>
            <a:pPr marL="152400" indent="-152400">
              <a:spcAft>
                <a:spcPts val="400"/>
              </a:spcAft>
              <a:buSzPct val="100000"/>
              <a:buChar char="•"/>
            </a:pPr>
            <a:r>
              <a:rPr lang="en-US" sz="1100" dirty="0">
                <a:solidFill>
                  <a:srgbClr val="27343A"/>
                </a:solidFill>
                <a:latin typeface="Aptos" pitchFamily="34" charset="0"/>
                <a:ea typeface="Aptos" pitchFamily="34" charset="-122"/>
                <a:cs typeface="Aptos" pitchFamily="34" charset="-120"/>
              </a:rPr>
              <a:t>S0010: 6 lô, chỉ của S0010</a:t>
            </a:r>
            <a:endParaRPr lang="en-US" sz="1100" dirty="0"/>
          </a:p>
          <a:p>
            <a:pPr marL="152400" indent="-152400">
              <a:spcAft>
                <a:spcPts val="400"/>
              </a:spcAft>
              <a:buSzPct val="100000"/>
              <a:buChar char="•"/>
            </a:pPr>
            <a:r>
              <a:rPr lang="en-US" sz="1100" dirty="0">
                <a:solidFill>
                  <a:srgbClr val="27343A"/>
                </a:solidFill>
                <a:latin typeface="Aptos" pitchFamily="34" charset="0"/>
                <a:ea typeface="Aptos" pitchFamily="34" charset="-122"/>
                <a:cs typeface="Aptos" pitchFamily="34" charset="-120"/>
              </a:rPr>
              <a:t>Thẻ các lô giá trị lớn nhất</a:t>
            </a:r>
            <a:endParaRPr lang="en-US" sz="1100" dirty="0"/>
          </a:p>
        </p:txBody>
      </p:sp>
      <p:sp>
        <p:nvSpPr>
          <p:cNvPr id="23" name="Shape 20"/>
          <p:cNvSpPr/>
          <p:nvPr/>
        </p:nvSpPr>
        <p:spPr>
          <a:xfrm>
            <a:off x="4160520" y="1645920"/>
            <a:ext cx="3703320" cy="2981840"/>
          </a:xfrm>
          <a:prstGeom prst="rect">
            <a:avLst/>
          </a:prstGeom>
          <a:solidFill>
            <a:srgbClr val="FFFFFF"/>
          </a:solidFill>
          <a:ln w="9525">
            <a:solidFill>
              <a:srgbClr val="A9D5E2"/>
            </a:solidFill>
            <a:prstDash val="solid"/>
          </a:ln>
          <a:effectLst>
            <a:outerShdw blurRad="76200" dist="25400" dir="5400000" algn="bl" rotWithShape="0">
              <a:srgbClr val="000000">
                <a:alpha val="12000"/>
              </a:srgbClr>
            </a:outerShdw>
          </a:effectLst>
        </p:spPr>
        <p:txBody>
          <a:bodyPr/>
          <a:lstStyle/>
          <a:p>
            <a:endParaRPr lang="en-US"/>
          </a:p>
        </p:txBody>
      </p:sp>
      <p:pic>
        <p:nvPicPr>
          <p:cNvPr id="24" name="Image 0" descr="Điều phối kho hỏi hàng đã hết hạn"/>
          <p:cNvPicPr>
            <a:picLocks noChangeAspect="1"/>
          </p:cNvPicPr>
          <p:nvPr/>
        </p:nvPicPr>
        <p:blipFill>
          <a:blip r:embed="rId3"/>
          <a:stretch>
            <a:fillRect/>
          </a:stretch>
        </p:blipFill>
        <p:spPr>
          <a:xfrm>
            <a:off x="4206240" y="1691640"/>
            <a:ext cx="3611880" cy="2890400"/>
          </a:xfrm>
          <a:prstGeom prst="rect">
            <a:avLst/>
          </a:prstGeom>
        </p:spPr>
      </p:pic>
      <p:sp>
        <p:nvSpPr>
          <p:cNvPr id="25" name="Text 21"/>
          <p:cNvSpPr txBox="1"/>
          <p:nvPr/>
        </p:nvSpPr>
        <p:spPr>
          <a:xfrm>
            <a:off x="4206240" y="4673480"/>
            <a:ext cx="3611880" cy="274320"/>
          </a:xfrm>
          <a:prstGeom prst="rect">
            <a:avLst/>
          </a:prstGeom>
          <a:noFill/>
          <a:ln/>
        </p:spPr>
        <p:txBody>
          <a:bodyPr wrap="square" lIns="0" tIns="0" rIns="0" bIns="0" rtlCol="0" anchor="ctr"/>
          <a:lstStyle/>
          <a:p>
            <a:pPr marL="0" indent="0">
              <a:buNone/>
            </a:pPr>
            <a:r>
              <a:rPr lang="en-US" sz="900" i="1" dirty="0">
                <a:solidFill>
                  <a:srgbClr val="5F6B70"/>
                </a:solidFill>
                <a:latin typeface="Aptos" pitchFamily="34" charset="0"/>
                <a:ea typeface="Aptos" pitchFamily="34" charset="-122"/>
                <a:cs typeface="Aptos" pitchFamily="34" charset="-120"/>
              </a:rPr>
              <a:t>Điều phối kho hỏi hàng đã hết hạn</a:t>
            </a:r>
            <a:endParaRPr lang="en-US" sz="900" dirty="0"/>
          </a:p>
        </p:txBody>
      </p:sp>
      <p:sp>
        <p:nvSpPr>
          <p:cNvPr id="26" name="Shape 22"/>
          <p:cNvSpPr/>
          <p:nvPr/>
        </p:nvSpPr>
        <p:spPr>
          <a:xfrm>
            <a:off x="7982712" y="1645920"/>
            <a:ext cx="3703320" cy="2981840"/>
          </a:xfrm>
          <a:prstGeom prst="rect">
            <a:avLst/>
          </a:prstGeom>
          <a:solidFill>
            <a:srgbClr val="FFFFFF"/>
          </a:solidFill>
          <a:ln w="9525">
            <a:solidFill>
              <a:srgbClr val="A9D5E2"/>
            </a:solidFill>
            <a:prstDash val="solid"/>
          </a:ln>
          <a:effectLst>
            <a:outerShdw blurRad="76200" dist="25400" dir="5400000" algn="bl" rotWithShape="0">
              <a:srgbClr val="000000">
                <a:alpha val="12000"/>
              </a:srgbClr>
            </a:outerShdw>
          </a:effectLst>
        </p:spPr>
        <p:txBody>
          <a:bodyPr/>
          <a:lstStyle/>
          <a:p>
            <a:endParaRPr lang="en-US"/>
          </a:p>
        </p:txBody>
      </p:sp>
      <p:pic>
        <p:nvPicPr>
          <p:cNvPr id="27" name="Image 1" descr="Quản lý S0010 hỏi lô sắp hết hạn"/>
          <p:cNvPicPr>
            <a:picLocks noChangeAspect="1"/>
          </p:cNvPicPr>
          <p:nvPr/>
        </p:nvPicPr>
        <p:blipFill>
          <a:blip r:embed="rId4"/>
          <a:stretch>
            <a:fillRect/>
          </a:stretch>
        </p:blipFill>
        <p:spPr>
          <a:xfrm>
            <a:off x="8028432" y="1691640"/>
            <a:ext cx="3611880" cy="2890400"/>
          </a:xfrm>
          <a:prstGeom prst="rect">
            <a:avLst/>
          </a:prstGeom>
        </p:spPr>
      </p:pic>
      <p:sp>
        <p:nvSpPr>
          <p:cNvPr id="28" name="Text 23"/>
          <p:cNvSpPr txBox="1"/>
          <p:nvPr/>
        </p:nvSpPr>
        <p:spPr>
          <a:xfrm>
            <a:off x="8028432" y="4673480"/>
            <a:ext cx="3611880" cy="274320"/>
          </a:xfrm>
          <a:prstGeom prst="rect">
            <a:avLst/>
          </a:prstGeom>
          <a:noFill/>
          <a:ln/>
        </p:spPr>
        <p:txBody>
          <a:bodyPr wrap="square" lIns="0" tIns="0" rIns="0" bIns="0" rtlCol="0" anchor="ctr"/>
          <a:lstStyle/>
          <a:p>
            <a:pPr marL="0" indent="0">
              <a:buNone/>
            </a:pPr>
            <a:r>
              <a:rPr lang="en-US" sz="900" i="1" dirty="0">
                <a:solidFill>
                  <a:srgbClr val="5F6B70"/>
                </a:solidFill>
                <a:latin typeface="Aptos" pitchFamily="34" charset="0"/>
                <a:ea typeface="Aptos" pitchFamily="34" charset="-122"/>
                <a:cs typeface="Aptos" pitchFamily="34" charset="-120"/>
              </a:rPr>
              <a:t>Quản lý S0010 hỏi lô sắp hết hạn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100" b="1" kern="0" spc="200" dirty="0">
                <a:solidFill>
                  <a:srgbClr val="4BACC6"/>
                </a:solidFill>
                <a:latin typeface="Aptos" pitchFamily="34" charset="0"/>
                <a:ea typeface="Aptos" pitchFamily="34" charset="-122"/>
                <a:cs typeface="Aptos" pitchFamily="34" charset="-120"/>
              </a:rPr>
              <a:t>KỊCH BẢN 6/10 · HỎI TỒN MỘT MÓN</a:t>
            </a:r>
            <a:endParaRPr lang="en-US" sz="1100" dirty="0"/>
          </a:p>
        </p:txBody>
      </p:sp>
      <p:sp>
        <p:nvSpPr>
          <p:cNvPr id="3" name="Text 1"/>
          <p:cNvSpPr txBox="1"/>
          <p:nvPr/>
        </p:nvSpPr>
        <p:spPr>
          <a:xfrm>
            <a:off x="548640" y="566928"/>
            <a:ext cx="11094415" cy="640080"/>
          </a:xfrm>
          <a:prstGeom prst="rect">
            <a:avLst/>
          </a:prstGeom>
          <a:noFill/>
          <a:ln/>
        </p:spPr>
        <p:txBody>
          <a:bodyPr wrap="square" lIns="0" tIns="0" rIns="0" bIns="0" rtlCol="0" anchor="t"/>
          <a:lstStyle/>
          <a:p>
            <a:pPr marL="0" indent="0">
              <a:buNone/>
            </a:pPr>
            <a:r>
              <a:rPr lang="en-US" sz="2800" b="1" dirty="0">
                <a:solidFill>
                  <a:srgbClr val="27343A"/>
                </a:solidFill>
                <a:latin typeface="Aptos Display" pitchFamily="34" charset="0"/>
                <a:ea typeface="Aptos Display" pitchFamily="34" charset="-122"/>
                <a:cs typeface="Aptos Display" pitchFamily="34" charset="-120"/>
              </a:rPr>
              <a:t>Hỏi tồn ở cửa hàng mình và nơi còn hàng</a:t>
            </a:r>
            <a:endParaRPr lang="en-US" sz="2800" dirty="0"/>
          </a:p>
        </p:txBody>
      </p:sp>
      <p:sp>
        <p:nvSpPr>
          <p:cNvPr id="4" name="Text 2"/>
          <p:cNvSpPr txBox="1"/>
          <p:nvPr/>
        </p:nvSpPr>
        <p:spPr>
          <a:xfrm>
            <a:off x="548640" y="6473952"/>
            <a:ext cx="5486400" cy="228600"/>
          </a:xfrm>
          <a:prstGeom prst="rect">
            <a:avLst/>
          </a:prstGeom>
          <a:noFill/>
          <a:ln/>
        </p:spPr>
        <p:txBody>
          <a:bodyPr wrap="square" lIns="0" tIns="0" rIns="0" bIns="0" rtlCol="0" anchor="ctr"/>
          <a:lstStyle/>
          <a:p>
            <a:pPr marL="0" indent="0">
              <a:buNone/>
            </a:pPr>
            <a:r>
              <a:rPr lang="en-US" sz="900" dirty="0">
                <a:solidFill>
                  <a:srgbClr val="5F6B70"/>
                </a:solidFill>
                <a:latin typeface="Aptos" pitchFamily="34" charset="0"/>
                <a:ea typeface="Aptos" pitchFamily="34" charset="-122"/>
                <a:cs typeface="Aptos" pitchFamily="34" charset="-120"/>
              </a:rPr>
              <a:t>UC2 Inventory Health &amp; Traceability</a:t>
            </a:r>
            <a:endParaRPr lang="en-US" sz="900" dirty="0"/>
          </a:p>
        </p:txBody>
      </p:sp>
      <p:sp>
        <p:nvSpPr>
          <p:cNvPr id="5" name="Text 3"/>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5F6B70"/>
                </a:solidFill>
                <a:latin typeface="Aptos" pitchFamily="34" charset="0"/>
                <a:ea typeface="Aptos" pitchFamily="34" charset="-122"/>
                <a:cs typeface="Aptos" pitchFamily="34" charset="-120"/>
              </a:rPr>
              <a:t>13</a:t>
            </a:r>
            <a:endParaRPr lang="en-US" sz="900" dirty="0"/>
          </a:p>
        </p:txBody>
      </p:sp>
      <p:sp>
        <p:nvSpPr>
          <p:cNvPr id="7" name="Text 4"/>
          <p:cNvSpPr txBox="1"/>
          <p:nvPr/>
        </p:nvSpPr>
        <p:spPr>
          <a:xfrm>
            <a:off x="548640" y="1188720"/>
            <a:ext cx="2532888" cy="310896"/>
          </a:xfrm>
          <a:prstGeom prst="roundRect">
            <a:avLst>
              <a:gd name="adj" fmla="val 44118"/>
            </a:avLst>
          </a:prstGeom>
          <a:solidFill>
            <a:srgbClr val="DAEEF3"/>
          </a:solidFill>
          <a:ln>
            <a:solidFill>
              <a:srgbClr val="DAEEF3"/>
            </a:solidFill>
          </a:ln>
        </p:spPr>
        <p:txBody>
          <a:bodyPr wrap="square" lIns="0" tIns="127000" rIns="127000" bIns="0" rtlCol="0" anchor="ctr"/>
          <a:lstStyle/>
          <a:p>
            <a:pPr marL="0" indent="0">
              <a:buNone/>
            </a:pPr>
            <a:r>
              <a:rPr lang="en-US" sz="1100" b="1" dirty="0">
                <a:solidFill>
                  <a:srgbClr val="27343A"/>
                </a:solidFill>
                <a:latin typeface="Aptos" pitchFamily="34" charset="0"/>
                <a:ea typeface="Aptos" pitchFamily="34" charset="-122"/>
                <a:cs typeface="Aptos" pitchFamily="34" charset="-120"/>
              </a:rPr>
              <a:t>Vai  </a:t>
            </a:r>
            <a:r>
              <a:rPr lang="en-US" sz="1100" dirty="0">
                <a:solidFill>
                  <a:srgbClr val="27343A"/>
                </a:solidFill>
                <a:latin typeface="Aptos" pitchFamily="34" charset="0"/>
                <a:ea typeface="Aptos" pitchFamily="34" charset="-122"/>
                <a:cs typeface="Aptos" pitchFamily="34" charset="-120"/>
              </a:rPr>
              <a:t>Quản lý cửa hàng S0001</a:t>
            </a:r>
            <a:endParaRPr lang="en-US" sz="1100" dirty="0"/>
          </a:p>
        </p:txBody>
      </p:sp>
      <p:sp>
        <p:nvSpPr>
          <p:cNvPr id="8" name="Shape 5"/>
          <p:cNvSpPr/>
          <p:nvPr/>
        </p:nvSpPr>
        <p:spPr>
          <a:xfrm>
            <a:off x="1051560" y="1737360"/>
            <a:ext cx="10088575" cy="2410875"/>
          </a:xfrm>
          <a:prstGeom prst="rect">
            <a:avLst/>
          </a:prstGeom>
          <a:solidFill>
            <a:srgbClr val="FFFFFF"/>
          </a:solidFill>
          <a:ln w="9525">
            <a:solidFill>
              <a:srgbClr val="A9D5E2"/>
            </a:solidFill>
            <a:prstDash val="solid"/>
          </a:ln>
          <a:effectLst>
            <a:outerShdw blurRad="76200" dist="25400" dir="5400000" algn="bl" rotWithShape="0">
              <a:srgbClr val="000000">
                <a:alpha val="12000"/>
              </a:srgbClr>
            </a:outerShdw>
          </a:effectLst>
        </p:spPr>
        <p:txBody>
          <a:bodyPr/>
          <a:lstStyle/>
          <a:p>
            <a:endParaRPr lang="en-US"/>
          </a:p>
        </p:txBody>
      </p:sp>
      <p:pic>
        <p:nvPicPr>
          <p:cNvPr id="9" name="Image 0" descr="ton-cua-hang"/>
          <p:cNvPicPr>
            <a:picLocks noChangeAspect="1"/>
          </p:cNvPicPr>
          <p:nvPr/>
        </p:nvPicPr>
        <p:blipFill>
          <a:blip r:embed="rId3"/>
          <a:stretch>
            <a:fillRect/>
          </a:stretch>
        </p:blipFill>
        <p:spPr>
          <a:xfrm>
            <a:off x="1097280" y="1783080"/>
            <a:ext cx="9997135" cy="2319435"/>
          </a:xfrm>
          <a:prstGeom prst="rect">
            <a:avLst/>
          </a:prstGeom>
        </p:spPr>
      </p:pic>
      <p:sp>
        <p:nvSpPr>
          <p:cNvPr id="10" name="Shape 6"/>
          <p:cNvSpPr/>
          <p:nvPr/>
        </p:nvSpPr>
        <p:spPr>
          <a:xfrm>
            <a:off x="548640" y="4480560"/>
            <a:ext cx="3515258" cy="1783080"/>
          </a:xfrm>
          <a:prstGeom prst="roundRect">
            <a:avLst>
              <a:gd name="adj" fmla="val 4103"/>
            </a:avLst>
          </a:prstGeom>
          <a:solidFill>
            <a:srgbClr val="F7FAFB"/>
          </a:solidFill>
          <a:ln w="12700">
            <a:solidFill>
              <a:srgbClr val="F7FAFB"/>
            </a:solidFill>
            <a:prstDash val="solid"/>
          </a:ln>
        </p:spPr>
        <p:txBody>
          <a:bodyPr/>
          <a:lstStyle/>
          <a:p>
            <a:endParaRPr lang="en-US"/>
          </a:p>
        </p:txBody>
      </p:sp>
      <p:sp>
        <p:nvSpPr>
          <p:cNvPr id="11" name="Shape 7"/>
          <p:cNvSpPr/>
          <p:nvPr/>
        </p:nvSpPr>
        <p:spPr>
          <a:xfrm>
            <a:off x="685800" y="4608576"/>
            <a:ext cx="329184" cy="329184"/>
          </a:xfrm>
          <a:prstGeom prst="ellipse">
            <a:avLst/>
          </a:prstGeom>
          <a:solidFill>
            <a:srgbClr val="4BACC6"/>
          </a:solidFill>
          <a:ln w="12700">
            <a:solidFill>
              <a:srgbClr val="4BACC6"/>
            </a:solidFill>
            <a:prstDash val="solid"/>
          </a:ln>
        </p:spPr>
        <p:txBody>
          <a:bodyPr/>
          <a:lstStyle/>
          <a:p>
            <a:endParaRPr lang="en-US"/>
          </a:p>
        </p:txBody>
      </p:sp>
      <p:sp>
        <p:nvSpPr>
          <p:cNvPr id="12" name="Text 8"/>
          <p:cNvSpPr txBox="1"/>
          <p:nvPr/>
        </p:nvSpPr>
        <p:spPr>
          <a:xfrm>
            <a:off x="685800" y="46085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3" name="Text 9"/>
          <p:cNvSpPr txBox="1"/>
          <p:nvPr/>
        </p:nvSpPr>
        <p:spPr>
          <a:xfrm>
            <a:off x="1115568" y="4590288"/>
            <a:ext cx="2783738"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vào</a:t>
            </a:r>
            <a:endParaRPr lang="en-US" sz="1300" dirty="0"/>
          </a:p>
        </p:txBody>
      </p:sp>
      <p:sp>
        <p:nvSpPr>
          <p:cNvPr id="14" name="Text 10"/>
          <p:cNvSpPr txBox="1"/>
          <p:nvPr/>
        </p:nvSpPr>
        <p:spPr>
          <a:xfrm>
            <a:off x="1051560" y="4983480"/>
            <a:ext cx="2875178" cy="1188720"/>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Tồn theo mặt hàng và địa điểm</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Số ngày đủ bán từ bảng Inventory Health</a:t>
            </a:r>
            <a:endParaRPr lang="en-US" sz="1200" dirty="0"/>
          </a:p>
        </p:txBody>
      </p:sp>
      <p:sp>
        <p:nvSpPr>
          <p:cNvPr id="15" name="Shape 11"/>
          <p:cNvSpPr/>
          <p:nvPr/>
        </p:nvSpPr>
        <p:spPr>
          <a:xfrm>
            <a:off x="4338218" y="4480560"/>
            <a:ext cx="3515258" cy="1783080"/>
          </a:xfrm>
          <a:prstGeom prst="roundRect">
            <a:avLst>
              <a:gd name="adj" fmla="val 4103"/>
            </a:avLst>
          </a:prstGeom>
          <a:solidFill>
            <a:srgbClr val="F7FAFB"/>
          </a:solidFill>
          <a:ln w="12700">
            <a:solidFill>
              <a:srgbClr val="F7FAFB"/>
            </a:solidFill>
            <a:prstDash val="solid"/>
          </a:ln>
        </p:spPr>
        <p:txBody>
          <a:bodyPr/>
          <a:lstStyle/>
          <a:p>
            <a:endParaRPr lang="en-US"/>
          </a:p>
        </p:txBody>
      </p:sp>
      <p:sp>
        <p:nvSpPr>
          <p:cNvPr id="16" name="Shape 12"/>
          <p:cNvSpPr/>
          <p:nvPr/>
        </p:nvSpPr>
        <p:spPr>
          <a:xfrm>
            <a:off x="4475378" y="4608576"/>
            <a:ext cx="329184" cy="329184"/>
          </a:xfrm>
          <a:prstGeom prst="ellipse">
            <a:avLst/>
          </a:prstGeom>
          <a:solidFill>
            <a:srgbClr val="4BACC6"/>
          </a:solidFill>
          <a:ln w="12700">
            <a:solidFill>
              <a:srgbClr val="4BACC6"/>
            </a:solidFill>
            <a:prstDash val="solid"/>
          </a:ln>
        </p:spPr>
        <p:txBody>
          <a:bodyPr/>
          <a:lstStyle/>
          <a:p>
            <a:endParaRPr lang="en-US"/>
          </a:p>
        </p:txBody>
      </p:sp>
      <p:sp>
        <p:nvSpPr>
          <p:cNvPr id="17" name="Text 13"/>
          <p:cNvSpPr txBox="1"/>
          <p:nvPr/>
        </p:nvSpPr>
        <p:spPr>
          <a:xfrm>
            <a:off x="4475378" y="46085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8" name="Text 14"/>
          <p:cNvSpPr txBox="1"/>
          <p:nvPr/>
        </p:nvSpPr>
        <p:spPr>
          <a:xfrm>
            <a:off x="4905146" y="4590288"/>
            <a:ext cx="2783738"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Thao tác</a:t>
            </a:r>
            <a:endParaRPr lang="en-US" sz="1300" dirty="0"/>
          </a:p>
        </p:txBody>
      </p:sp>
      <p:sp>
        <p:nvSpPr>
          <p:cNvPr id="19" name="Text 15"/>
          <p:cNvSpPr txBox="1"/>
          <p:nvPr/>
        </p:nvSpPr>
        <p:spPr>
          <a:xfrm>
            <a:off x="4841138" y="4983480"/>
            <a:ext cx="2875178" cy="1188720"/>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Gõ: Choco nuts ở cửa hàng tôi còn bao nhiêu</a:t>
            </a:r>
            <a:endParaRPr lang="en-US" sz="1200" dirty="0"/>
          </a:p>
        </p:txBody>
      </p:sp>
      <p:sp>
        <p:nvSpPr>
          <p:cNvPr id="20" name="Shape 16"/>
          <p:cNvSpPr/>
          <p:nvPr/>
        </p:nvSpPr>
        <p:spPr>
          <a:xfrm>
            <a:off x="8127797" y="4480560"/>
            <a:ext cx="3515258" cy="1783080"/>
          </a:xfrm>
          <a:prstGeom prst="roundRect">
            <a:avLst>
              <a:gd name="adj" fmla="val 4103"/>
            </a:avLst>
          </a:prstGeom>
          <a:solidFill>
            <a:srgbClr val="DAEEF3"/>
          </a:solidFill>
          <a:ln w="12700">
            <a:solidFill>
              <a:srgbClr val="DAEEF3"/>
            </a:solidFill>
            <a:prstDash val="solid"/>
          </a:ln>
        </p:spPr>
        <p:txBody>
          <a:bodyPr/>
          <a:lstStyle/>
          <a:p>
            <a:endParaRPr lang="en-US"/>
          </a:p>
        </p:txBody>
      </p:sp>
      <p:sp>
        <p:nvSpPr>
          <p:cNvPr id="21" name="Shape 17"/>
          <p:cNvSpPr/>
          <p:nvPr/>
        </p:nvSpPr>
        <p:spPr>
          <a:xfrm>
            <a:off x="8264957" y="4608576"/>
            <a:ext cx="329184" cy="329184"/>
          </a:xfrm>
          <a:prstGeom prst="ellipse">
            <a:avLst/>
          </a:prstGeom>
          <a:solidFill>
            <a:srgbClr val="27343A"/>
          </a:solidFill>
          <a:ln w="12700">
            <a:solidFill>
              <a:srgbClr val="27343A"/>
            </a:solidFill>
            <a:prstDash val="solid"/>
          </a:ln>
        </p:spPr>
        <p:txBody>
          <a:bodyPr/>
          <a:lstStyle/>
          <a:p>
            <a:endParaRPr lang="en-US"/>
          </a:p>
        </p:txBody>
      </p:sp>
      <p:sp>
        <p:nvSpPr>
          <p:cNvPr id="22" name="Text 18"/>
          <p:cNvSpPr txBox="1"/>
          <p:nvPr/>
        </p:nvSpPr>
        <p:spPr>
          <a:xfrm>
            <a:off x="8264957" y="46085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3" name="Text 19"/>
          <p:cNvSpPr txBox="1"/>
          <p:nvPr/>
        </p:nvSpPr>
        <p:spPr>
          <a:xfrm>
            <a:off x="8694725" y="4590288"/>
            <a:ext cx="2783738"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ra</a:t>
            </a:r>
            <a:endParaRPr lang="en-US" sz="1300" dirty="0"/>
          </a:p>
        </p:txBody>
      </p:sp>
      <p:sp>
        <p:nvSpPr>
          <p:cNvPr id="24" name="Text 20"/>
          <p:cNvSpPr txBox="1"/>
          <p:nvPr/>
        </p:nvSpPr>
        <p:spPr>
          <a:xfrm>
            <a:off x="8630717" y="4983480"/>
            <a:ext cx="2875178" cy="1188720"/>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S0001 đã hết</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Nơi khác: S0002 415 (41,2 ngày), S0005 52, S0010 74, W0003 685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100" b="1" kern="0" spc="200" dirty="0">
                <a:solidFill>
                  <a:srgbClr val="4BACC6"/>
                </a:solidFill>
                <a:latin typeface="Aptos" pitchFamily="34" charset="0"/>
                <a:ea typeface="Aptos" pitchFamily="34" charset="-122"/>
                <a:cs typeface="Aptos" pitchFamily="34" charset="-120"/>
              </a:rPr>
              <a:t>KỊCH BẢN 7/10 · ĐỀ XUẤT XỬ LÝ LÔ</a:t>
            </a:r>
            <a:endParaRPr lang="en-US" sz="1100" dirty="0"/>
          </a:p>
        </p:txBody>
      </p:sp>
      <p:sp>
        <p:nvSpPr>
          <p:cNvPr id="3" name="Text 1"/>
          <p:cNvSpPr txBox="1"/>
          <p:nvPr/>
        </p:nvSpPr>
        <p:spPr>
          <a:xfrm>
            <a:off x="548640" y="566928"/>
            <a:ext cx="11094415" cy="640080"/>
          </a:xfrm>
          <a:prstGeom prst="rect">
            <a:avLst/>
          </a:prstGeom>
          <a:noFill/>
          <a:ln/>
        </p:spPr>
        <p:txBody>
          <a:bodyPr wrap="square" lIns="0" tIns="0" rIns="0" bIns="0" rtlCol="0" anchor="t"/>
          <a:lstStyle/>
          <a:p>
            <a:pPr marL="0" indent="0">
              <a:buNone/>
            </a:pPr>
            <a:r>
              <a:rPr lang="en-US" sz="2800" b="1" dirty="0">
                <a:solidFill>
                  <a:srgbClr val="27343A"/>
                </a:solidFill>
                <a:latin typeface="Aptos Display" pitchFamily="34" charset="0"/>
                <a:ea typeface="Aptos Display" pitchFamily="34" charset="-122"/>
                <a:cs typeface="Aptos Display" pitchFamily="34" charset="-120"/>
              </a:rPr>
              <a:t>Từ thẻ lô ra đề xuất có số lô trong Business Central</a:t>
            </a:r>
            <a:endParaRPr lang="en-US" sz="2800" dirty="0"/>
          </a:p>
        </p:txBody>
      </p:sp>
      <p:sp>
        <p:nvSpPr>
          <p:cNvPr id="4" name="Text 2"/>
          <p:cNvSpPr txBox="1"/>
          <p:nvPr/>
        </p:nvSpPr>
        <p:spPr>
          <a:xfrm>
            <a:off x="548640" y="6473952"/>
            <a:ext cx="5486400" cy="228600"/>
          </a:xfrm>
          <a:prstGeom prst="rect">
            <a:avLst/>
          </a:prstGeom>
          <a:noFill/>
          <a:ln/>
        </p:spPr>
        <p:txBody>
          <a:bodyPr wrap="square" lIns="0" tIns="0" rIns="0" bIns="0" rtlCol="0" anchor="ctr"/>
          <a:lstStyle/>
          <a:p>
            <a:pPr marL="0" indent="0">
              <a:buNone/>
            </a:pPr>
            <a:r>
              <a:rPr lang="en-US" sz="900" dirty="0">
                <a:solidFill>
                  <a:srgbClr val="5F6B70"/>
                </a:solidFill>
                <a:latin typeface="Aptos" pitchFamily="34" charset="0"/>
                <a:ea typeface="Aptos" pitchFamily="34" charset="-122"/>
                <a:cs typeface="Aptos" pitchFamily="34" charset="-120"/>
              </a:rPr>
              <a:t>UC2 Inventory Health &amp; Traceability</a:t>
            </a:r>
            <a:endParaRPr lang="en-US" sz="900" dirty="0"/>
          </a:p>
        </p:txBody>
      </p:sp>
      <p:sp>
        <p:nvSpPr>
          <p:cNvPr id="5" name="Text 3"/>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5F6B70"/>
                </a:solidFill>
                <a:latin typeface="Aptos" pitchFamily="34" charset="0"/>
                <a:ea typeface="Aptos" pitchFamily="34" charset="-122"/>
                <a:cs typeface="Aptos" pitchFamily="34" charset="-120"/>
              </a:rPr>
              <a:t>14</a:t>
            </a:r>
            <a:endParaRPr lang="en-US" sz="900" dirty="0"/>
          </a:p>
        </p:txBody>
      </p:sp>
      <p:sp>
        <p:nvSpPr>
          <p:cNvPr id="7" name="Text 4"/>
          <p:cNvSpPr txBox="1"/>
          <p:nvPr/>
        </p:nvSpPr>
        <p:spPr>
          <a:xfrm>
            <a:off x="548640" y="1188720"/>
            <a:ext cx="1755648" cy="310896"/>
          </a:xfrm>
          <a:prstGeom prst="roundRect">
            <a:avLst>
              <a:gd name="adj" fmla="val 44118"/>
            </a:avLst>
          </a:prstGeom>
          <a:solidFill>
            <a:srgbClr val="DAEEF3"/>
          </a:solidFill>
          <a:ln>
            <a:solidFill>
              <a:srgbClr val="DAEEF3"/>
            </a:solidFill>
          </a:ln>
        </p:spPr>
        <p:txBody>
          <a:bodyPr wrap="square" lIns="0" tIns="127000" rIns="127000" bIns="0" rtlCol="0" anchor="ctr"/>
          <a:lstStyle/>
          <a:p>
            <a:pPr marL="0" indent="0">
              <a:buNone/>
            </a:pPr>
            <a:r>
              <a:rPr lang="en-US" sz="1100" b="1" dirty="0">
                <a:solidFill>
                  <a:srgbClr val="27343A"/>
                </a:solidFill>
                <a:latin typeface="Aptos" pitchFamily="34" charset="0"/>
                <a:ea typeface="Aptos" pitchFamily="34" charset="-122"/>
                <a:cs typeface="Aptos" pitchFamily="34" charset="-120"/>
              </a:rPr>
              <a:t>Vai  </a:t>
            </a:r>
            <a:r>
              <a:rPr lang="en-US" sz="1100" dirty="0">
                <a:solidFill>
                  <a:srgbClr val="27343A"/>
                </a:solidFill>
                <a:latin typeface="Aptos" pitchFamily="34" charset="0"/>
                <a:ea typeface="Aptos" pitchFamily="34" charset="-122"/>
                <a:cs typeface="Aptos" pitchFamily="34" charset="-120"/>
              </a:rPr>
              <a:t>Supply Chain</a:t>
            </a:r>
            <a:endParaRPr lang="en-US" sz="1100" dirty="0"/>
          </a:p>
        </p:txBody>
      </p:sp>
      <p:sp>
        <p:nvSpPr>
          <p:cNvPr id="8" name="Shape 5"/>
          <p:cNvSpPr/>
          <p:nvPr/>
        </p:nvSpPr>
        <p:spPr>
          <a:xfrm>
            <a:off x="548640" y="1691640"/>
            <a:ext cx="4846320" cy="1307592"/>
          </a:xfrm>
          <a:prstGeom prst="roundRect">
            <a:avLst>
              <a:gd name="adj" fmla="val 5594"/>
            </a:avLst>
          </a:prstGeom>
          <a:solidFill>
            <a:srgbClr val="F7FAFB"/>
          </a:solidFill>
          <a:ln w="12700">
            <a:solidFill>
              <a:srgbClr val="F7FAFB"/>
            </a:solidFill>
            <a:prstDash val="solid"/>
          </a:ln>
        </p:spPr>
        <p:txBody>
          <a:bodyPr/>
          <a:lstStyle/>
          <a:p>
            <a:endParaRPr lang="en-US"/>
          </a:p>
        </p:txBody>
      </p:sp>
      <p:sp>
        <p:nvSpPr>
          <p:cNvPr id="9" name="Shape 6"/>
          <p:cNvSpPr/>
          <p:nvPr/>
        </p:nvSpPr>
        <p:spPr>
          <a:xfrm>
            <a:off x="685800" y="1819656"/>
            <a:ext cx="329184" cy="329184"/>
          </a:xfrm>
          <a:prstGeom prst="ellipse">
            <a:avLst/>
          </a:prstGeom>
          <a:solidFill>
            <a:srgbClr val="4BACC6"/>
          </a:solidFill>
          <a:ln w="12700">
            <a:solidFill>
              <a:srgbClr val="4BACC6"/>
            </a:solidFill>
            <a:prstDash val="solid"/>
          </a:ln>
        </p:spPr>
        <p:txBody>
          <a:bodyPr/>
          <a:lstStyle/>
          <a:p>
            <a:endParaRPr lang="en-US"/>
          </a:p>
        </p:txBody>
      </p:sp>
      <p:sp>
        <p:nvSpPr>
          <p:cNvPr id="10" name="Text 7"/>
          <p:cNvSpPr txBox="1"/>
          <p:nvPr/>
        </p:nvSpPr>
        <p:spPr>
          <a:xfrm>
            <a:off x="685800" y="18196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1" name="Text 8"/>
          <p:cNvSpPr txBox="1"/>
          <p:nvPr/>
        </p:nvSpPr>
        <p:spPr>
          <a:xfrm>
            <a:off x="1115568" y="1801368"/>
            <a:ext cx="4114800"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vào</a:t>
            </a:r>
            <a:endParaRPr lang="en-US" sz="1300" dirty="0"/>
          </a:p>
        </p:txBody>
      </p:sp>
      <p:sp>
        <p:nvSpPr>
          <p:cNvPr id="12" name="Text 9"/>
          <p:cNvSpPr txBox="1"/>
          <p:nvPr/>
        </p:nvSpPr>
        <p:spPr>
          <a:xfrm>
            <a:off x="1051560" y="2167128"/>
            <a:ext cx="4206240" cy="75895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Thẻ lô từ brief hoặc câu trả lời</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Tốc độ bán theo cửa hàng, quy định phê duyệt, đề xuất đang chờ trong BC</a:t>
            </a:r>
            <a:endParaRPr lang="en-US" sz="1200" dirty="0"/>
          </a:p>
        </p:txBody>
      </p:sp>
      <p:sp>
        <p:nvSpPr>
          <p:cNvPr id="13" name="Shape 10"/>
          <p:cNvSpPr/>
          <p:nvPr/>
        </p:nvSpPr>
        <p:spPr>
          <a:xfrm>
            <a:off x="548640" y="3108960"/>
            <a:ext cx="4846320" cy="1261872"/>
          </a:xfrm>
          <a:prstGeom prst="roundRect">
            <a:avLst>
              <a:gd name="adj" fmla="val 5797"/>
            </a:avLst>
          </a:prstGeom>
          <a:solidFill>
            <a:srgbClr val="F7FAFB"/>
          </a:solidFill>
          <a:ln w="12700">
            <a:solidFill>
              <a:srgbClr val="F7FAFB"/>
            </a:solidFill>
            <a:prstDash val="solid"/>
          </a:ln>
        </p:spPr>
        <p:txBody>
          <a:bodyPr/>
          <a:lstStyle/>
          <a:p>
            <a:endParaRPr lang="en-US"/>
          </a:p>
        </p:txBody>
      </p:sp>
      <p:sp>
        <p:nvSpPr>
          <p:cNvPr id="14" name="Shape 11"/>
          <p:cNvSpPr/>
          <p:nvPr/>
        </p:nvSpPr>
        <p:spPr>
          <a:xfrm>
            <a:off x="685800" y="3236976"/>
            <a:ext cx="329184" cy="329184"/>
          </a:xfrm>
          <a:prstGeom prst="ellipse">
            <a:avLst/>
          </a:prstGeom>
          <a:solidFill>
            <a:srgbClr val="4BACC6"/>
          </a:solidFill>
          <a:ln w="12700">
            <a:solidFill>
              <a:srgbClr val="4BACC6"/>
            </a:solidFill>
            <a:prstDash val="solid"/>
          </a:ln>
        </p:spPr>
        <p:txBody>
          <a:bodyPr/>
          <a:lstStyle/>
          <a:p>
            <a:endParaRPr lang="en-US"/>
          </a:p>
        </p:txBody>
      </p:sp>
      <p:sp>
        <p:nvSpPr>
          <p:cNvPr id="15" name="Text 12"/>
          <p:cNvSpPr txBox="1"/>
          <p:nvPr/>
        </p:nvSpPr>
        <p:spPr>
          <a:xfrm>
            <a:off x="685800" y="32369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6" name="Text 13"/>
          <p:cNvSpPr txBox="1"/>
          <p:nvPr/>
        </p:nvSpPr>
        <p:spPr>
          <a:xfrm>
            <a:off x="1115568" y="3218688"/>
            <a:ext cx="4114800"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Thao tác</a:t>
            </a:r>
            <a:endParaRPr lang="en-US" sz="1300" dirty="0"/>
          </a:p>
        </p:txBody>
      </p:sp>
      <p:sp>
        <p:nvSpPr>
          <p:cNvPr id="17" name="Text 14"/>
          <p:cNvSpPr txBox="1"/>
          <p:nvPr/>
        </p:nvSpPr>
        <p:spPr>
          <a:xfrm>
            <a:off x="1051560" y="3584448"/>
            <a:ext cx="4206240" cy="71323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Bấm Đề xuất hủy trên lô quá hạn</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Bấm Chuyển sang cửa hàng bán nhanh trên lô cận date</a:t>
            </a:r>
            <a:endParaRPr lang="en-US" sz="1200" dirty="0"/>
          </a:p>
        </p:txBody>
      </p:sp>
      <p:sp>
        <p:nvSpPr>
          <p:cNvPr id="18" name="Shape 15"/>
          <p:cNvSpPr/>
          <p:nvPr/>
        </p:nvSpPr>
        <p:spPr>
          <a:xfrm>
            <a:off x="548640" y="4480560"/>
            <a:ext cx="4846320" cy="1719072"/>
          </a:xfrm>
          <a:prstGeom prst="roundRect">
            <a:avLst>
              <a:gd name="adj" fmla="val 4255"/>
            </a:avLst>
          </a:prstGeom>
          <a:solidFill>
            <a:srgbClr val="DAEEF3"/>
          </a:solidFill>
          <a:ln w="12700">
            <a:solidFill>
              <a:srgbClr val="DAEEF3"/>
            </a:solidFill>
            <a:prstDash val="solid"/>
          </a:ln>
        </p:spPr>
        <p:txBody>
          <a:bodyPr/>
          <a:lstStyle/>
          <a:p>
            <a:endParaRPr lang="en-US"/>
          </a:p>
        </p:txBody>
      </p:sp>
      <p:sp>
        <p:nvSpPr>
          <p:cNvPr id="19" name="Shape 16"/>
          <p:cNvSpPr/>
          <p:nvPr/>
        </p:nvSpPr>
        <p:spPr>
          <a:xfrm>
            <a:off x="685800" y="4608576"/>
            <a:ext cx="329184" cy="329184"/>
          </a:xfrm>
          <a:prstGeom prst="ellipse">
            <a:avLst/>
          </a:prstGeom>
          <a:solidFill>
            <a:srgbClr val="27343A"/>
          </a:solidFill>
          <a:ln w="12700">
            <a:solidFill>
              <a:srgbClr val="27343A"/>
            </a:solidFill>
            <a:prstDash val="solid"/>
          </a:ln>
        </p:spPr>
        <p:txBody>
          <a:bodyPr/>
          <a:lstStyle/>
          <a:p>
            <a:endParaRPr lang="en-US"/>
          </a:p>
        </p:txBody>
      </p:sp>
      <p:sp>
        <p:nvSpPr>
          <p:cNvPr id="20" name="Text 17"/>
          <p:cNvSpPr txBox="1"/>
          <p:nvPr/>
        </p:nvSpPr>
        <p:spPr>
          <a:xfrm>
            <a:off x="685800" y="46085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1" name="Text 18"/>
          <p:cNvSpPr txBox="1"/>
          <p:nvPr/>
        </p:nvSpPr>
        <p:spPr>
          <a:xfrm>
            <a:off x="1115568" y="4590288"/>
            <a:ext cx="4114800"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ra</a:t>
            </a:r>
            <a:endParaRPr lang="en-US" sz="1300" dirty="0"/>
          </a:p>
        </p:txBody>
      </p:sp>
      <p:sp>
        <p:nvSpPr>
          <p:cNvPr id="22" name="Text 19"/>
          <p:cNvSpPr txBox="1"/>
          <p:nvPr/>
        </p:nvSpPr>
        <p:spPr>
          <a:xfrm>
            <a:off x="1051560" y="4956048"/>
            <a:ext cx="4206240" cy="117043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Đề xuất WriteOff hoặc Transfer có số lô, trạng thái Proposed</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Chọn cửa hàng bán nhanh nhất, ví dụ S0001 bán 3,0 mỗi ngày</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Bấm lần hai thì báo đã có đề xuất đang chờ</a:t>
            </a:r>
            <a:endParaRPr lang="en-US" sz="1200" dirty="0"/>
          </a:p>
        </p:txBody>
      </p:sp>
      <p:sp>
        <p:nvSpPr>
          <p:cNvPr id="23" name="Shape 20"/>
          <p:cNvSpPr/>
          <p:nvPr/>
        </p:nvSpPr>
        <p:spPr>
          <a:xfrm>
            <a:off x="5669280" y="1645920"/>
            <a:ext cx="6016752" cy="3612810"/>
          </a:xfrm>
          <a:prstGeom prst="rect">
            <a:avLst/>
          </a:prstGeom>
          <a:solidFill>
            <a:srgbClr val="FFFFFF"/>
          </a:solidFill>
          <a:ln w="9525">
            <a:solidFill>
              <a:srgbClr val="A9D5E2"/>
            </a:solidFill>
            <a:prstDash val="solid"/>
          </a:ln>
          <a:effectLst>
            <a:outerShdw blurRad="76200" dist="25400" dir="5400000" algn="bl" rotWithShape="0">
              <a:srgbClr val="000000">
                <a:alpha val="12000"/>
              </a:srgbClr>
            </a:outerShdw>
          </a:effectLst>
        </p:spPr>
        <p:txBody>
          <a:bodyPr/>
          <a:lstStyle/>
          <a:p>
            <a:endParaRPr lang="en-US"/>
          </a:p>
        </p:txBody>
      </p:sp>
      <p:pic>
        <p:nvPicPr>
          <p:cNvPr id="24" name="Image 0" descr="Dữ liệu mô phỏng"/>
          <p:cNvPicPr>
            <a:picLocks noChangeAspect="1"/>
          </p:cNvPicPr>
          <p:nvPr/>
        </p:nvPicPr>
        <p:blipFill>
          <a:blip r:embed="rId3"/>
          <a:stretch>
            <a:fillRect/>
          </a:stretch>
        </p:blipFill>
        <p:spPr>
          <a:xfrm>
            <a:off x="5715000" y="1691640"/>
            <a:ext cx="5925312" cy="3521370"/>
          </a:xfrm>
          <a:prstGeom prst="rect">
            <a:avLst/>
          </a:prstGeom>
        </p:spPr>
      </p:pic>
      <p:sp>
        <p:nvSpPr>
          <p:cNvPr id="25" name="Text 21"/>
          <p:cNvSpPr txBox="1"/>
          <p:nvPr/>
        </p:nvSpPr>
        <p:spPr>
          <a:xfrm>
            <a:off x="5715000" y="5304450"/>
            <a:ext cx="5925312" cy="274320"/>
          </a:xfrm>
          <a:prstGeom prst="rect">
            <a:avLst/>
          </a:prstGeom>
          <a:noFill/>
          <a:ln/>
        </p:spPr>
        <p:txBody>
          <a:bodyPr wrap="square" lIns="0" tIns="0" rIns="0" bIns="0" rtlCol="0" anchor="ctr"/>
          <a:lstStyle/>
          <a:p>
            <a:pPr marL="0" indent="0">
              <a:buNone/>
            </a:pPr>
            <a:r>
              <a:rPr lang="en-US" sz="900" i="1" dirty="0">
                <a:solidFill>
                  <a:srgbClr val="5F6B70"/>
                </a:solidFill>
                <a:latin typeface="Aptos" pitchFamily="34" charset="0"/>
                <a:ea typeface="Aptos" pitchFamily="34" charset="-122"/>
                <a:cs typeface="Aptos" pitchFamily="34" charset="-120"/>
              </a:rPr>
              <a:t>Dữ liệu mô phỏng</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100" b="1" kern="0" spc="200" dirty="0">
                <a:solidFill>
                  <a:srgbClr val="4BACC6"/>
                </a:solidFill>
                <a:latin typeface="Aptos" pitchFamily="34" charset="0"/>
                <a:ea typeface="Aptos" pitchFamily="34" charset="-122"/>
                <a:cs typeface="Aptos" pitchFamily="34" charset="-120"/>
              </a:rPr>
              <a:t>KỊCH BẢN 8/10 · DUYỆT ĐỀ XUẤT</a:t>
            </a:r>
            <a:endParaRPr lang="en-US" sz="1100" dirty="0"/>
          </a:p>
        </p:txBody>
      </p:sp>
      <p:sp>
        <p:nvSpPr>
          <p:cNvPr id="3" name="Text 1"/>
          <p:cNvSpPr txBox="1"/>
          <p:nvPr/>
        </p:nvSpPr>
        <p:spPr>
          <a:xfrm>
            <a:off x="548640" y="566928"/>
            <a:ext cx="11094415" cy="640080"/>
          </a:xfrm>
          <a:prstGeom prst="rect">
            <a:avLst/>
          </a:prstGeom>
          <a:noFill/>
          <a:ln/>
        </p:spPr>
        <p:txBody>
          <a:bodyPr wrap="square" lIns="0" tIns="0" rIns="0" bIns="0" rtlCol="0" anchor="t"/>
          <a:lstStyle/>
          <a:p>
            <a:pPr marL="0" indent="0">
              <a:buNone/>
            </a:pPr>
            <a:r>
              <a:rPr lang="en-US" sz="2800" b="1" dirty="0">
                <a:solidFill>
                  <a:srgbClr val="27343A"/>
                </a:solidFill>
                <a:latin typeface="Aptos Display" pitchFamily="34" charset="0"/>
                <a:ea typeface="Aptos Display" pitchFamily="34" charset="-122"/>
                <a:cs typeface="Aptos Display" pitchFamily="34" charset="-120"/>
              </a:rPr>
              <a:t>Người duyệt nhận thẻ và quyết định trong một lần bấm</a:t>
            </a:r>
            <a:endParaRPr lang="en-US" sz="2800" dirty="0"/>
          </a:p>
        </p:txBody>
      </p:sp>
      <p:sp>
        <p:nvSpPr>
          <p:cNvPr id="4" name="Text 2"/>
          <p:cNvSpPr txBox="1"/>
          <p:nvPr/>
        </p:nvSpPr>
        <p:spPr>
          <a:xfrm>
            <a:off x="548640" y="6473952"/>
            <a:ext cx="5486400" cy="228600"/>
          </a:xfrm>
          <a:prstGeom prst="rect">
            <a:avLst/>
          </a:prstGeom>
          <a:noFill/>
          <a:ln/>
        </p:spPr>
        <p:txBody>
          <a:bodyPr wrap="square" lIns="0" tIns="0" rIns="0" bIns="0" rtlCol="0" anchor="ctr"/>
          <a:lstStyle/>
          <a:p>
            <a:pPr marL="0" indent="0">
              <a:buNone/>
            </a:pPr>
            <a:r>
              <a:rPr lang="en-US" sz="900" dirty="0">
                <a:solidFill>
                  <a:srgbClr val="5F6B70"/>
                </a:solidFill>
                <a:latin typeface="Aptos" pitchFamily="34" charset="0"/>
                <a:ea typeface="Aptos" pitchFamily="34" charset="-122"/>
                <a:cs typeface="Aptos" pitchFamily="34" charset="-120"/>
              </a:rPr>
              <a:t>UC2 Inventory Health &amp; Traceability</a:t>
            </a:r>
            <a:endParaRPr lang="en-US" sz="900" dirty="0"/>
          </a:p>
        </p:txBody>
      </p:sp>
      <p:sp>
        <p:nvSpPr>
          <p:cNvPr id="5" name="Text 3"/>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5F6B70"/>
                </a:solidFill>
                <a:latin typeface="Aptos" pitchFamily="34" charset="0"/>
                <a:ea typeface="Aptos" pitchFamily="34" charset="-122"/>
                <a:cs typeface="Aptos" pitchFamily="34" charset="-120"/>
              </a:rPr>
              <a:t>15</a:t>
            </a:r>
            <a:endParaRPr lang="en-US" sz="900" dirty="0"/>
          </a:p>
        </p:txBody>
      </p:sp>
      <p:sp>
        <p:nvSpPr>
          <p:cNvPr id="7" name="Text 4"/>
          <p:cNvSpPr txBox="1"/>
          <p:nvPr/>
        </p:nvSpPr>
        <p:spPr>
          <a:xfrm>
            <a:off x="548640" y="1188720"/>
            <a:ext cx="3621024" cy="310896"/>
          </a:xfrm>
          <a:prstGeom prst="roundRect">
            <a:avLst>
              <a:gd name="adj" fmla="val 44118"/>
            </a:avLst>
          </a:prstGeom>
          <a:solidFill>
            <a:srgbClr val="DAEEF3"/>
          </a:solidFill>
          <a:ln>
            <a:solidFill>
              <a:srgbClr val="DAEEF3"/>
            </a:solidFill>
          </a:ln>
        </p:spPr>
        <p:txBody>
          <a:bodyPr wrap="square" lIns="0" tIns="127000" rIns="127000" bIns="0" rtlCol="0" anchor="ctr"/>
          <a:lstStyle/>
          <a:p>
            <a:pPr marL="0" indent="0">
              <a:buNone/>
            </a:pPr>
            <a:r>
              <a:rPr lang="en-US" sz="1100" b="1" dirty="0">
                <a:solidFill>
                  <a:srgbClr val="27343A"/>
                </a:solidFill>
                <a:latin typeface="Aptos" pitchFamily="34" charset="0"/>
                <a:ea typeface="Aptos" pitchFamily="34" charset="-122"/>
                <a:cs typeface="Aptos" pitchFamily="34" charset="-120"/>
              </a:rPr>
              <a:t>Vai  </a:t>
            </a:r>
            <a:r>
              <a:rPr lang="en-US" sz="1100" dirty="0">
                <a:solidFill>
                  <a:srgbClr val="27343A"/>
                </a:solidFill>
                <a:latin typeface="Aptos" pitchFamily="34" charset="0"/>
                <a:ea typeface="Aptos" pitchFamily="34" charset="-122"/>
                <a:cs typeface="Aptos" pitchFamily="34" charset="-120"/>
              </a:rPr>
              <a:t>Người duyệt: Supply Chain, điều phối</a:t>
            </a:r>
            <a:endParaRPr lang="en-US" sz="1100" dirty="0"/>
          </a:p>
        </p:txBody>
      </p:sp>
      <p:sp>
        <p:nvSpPr>
          <p:cNvPr id="8" name="Shape 5"/>
          <p:cNvSpPr/>
          <p:nvPr/>
        </p:nvSpPr>
        <p:spPr>
          <a:xfrm>
            <a:off x="502920" y="1645920"/>
            <a:ext cx="5466599" cy="4526280"/>
          </a:xfrm>
          <a:prstGeom prst="rect">
            <a:avLst/>
          </a:prstGeom>
          <a:solidFill>
            <a:srgbClr val="FFFFFF"/>
          </a:solidFill>
          <a:ln w="9525">
            <a:solidFill>
              <a:srgbClr val="A9D5E2"/>
            </a:solidFill>
            <a:prstDash val="solid"/>
          </a:ln>
          <a:effectLst>
            <a:outerShdw blurRad="76200" dist="25400" dir="5400000" algn="bl" rotWithShape="0">
              <a:srgbClr val="000000">
                <a:alpha val="12000"/>
              </a:srgbClr>
            </a:outerShdw>
          </a:effectLst>
        </p:spPr>
        <p:txBody>
          <a:bodyPr/>
          <a:lstStyle/>
          <a:p>
            <a:endParaRPr lang="en-US"/>
          </a:p>
        </p:txBody>
      </p:sp>
      <p:pic>
        <p:nvPicPr>
          <p:cNvPr id="9" name="Image 0" descr="Dữ liệu mô phỏng"/>
          <p:cNvPicPr>
            <a:picLocks noChangeAspect="1"/>
          </p:cNvPicPr>
          <p:nvPr/>
        </p:nvPicPr>
        <p:blipFill>
          <a:blip r:embed="rId3"/>
          <a:stretch>
            <a:fillRect/>
          </a:stretch>
        </p:blipFill>
        <p:spPr>
          <a:xfrm>
            <a:off x="548640" y="1691640"/>
            <a:ext cx="5375159" cy="4434840"/>
          </a:xfrm>
          <a:prstGeom prst="rect">
            <a:avLst/>
          </a:prstGeom>
        </p:spPr>
      </p:pic>
      <p:sp>
        <p:nvSpPr>
          <p:cNvPr id="10" name="Text 6"/>
          <p:cNvSpPr txBox="1"/>
          <p:nvPr/>
        </p:nvSpPr>
        <p:spPr>
          <a:xfrm>
            <a:off x="548640" y="6217920"/>
            <a:ext cx="5375159" cy="274320"/>
          </a:xfrm>
          <a:prstGeom prst="rect">
            <a:avLst/>
          </a:prstGeom>
          <a:noFill/>
          <a:ln/>
        </p:spPr>
        <p:txBody>
          <a:bodyPr wrap="square" lIns="0" tIns="0" rIns="0" bIns="0" rtlCol="0" anchor="ctr"/>
          <a:lstStyle/>
          <a:p>
            <a:pPr marL="0" indent="0">
              <a:buNone/>
            </a:pPr>
            <a:r>
              <a:rPr lang="en-US" sz="900" i="1" dirty="0">
                <a:solidFill>
                  <a:srgbClr val="5F6B70"/>
                </a:solidFill>
                <a:latin typeface="Aptos" pitchFamily="34" charset="0"/>
                <a:ea typeface="Aptos" pitchFamily="34" charset="-122"/>
                <a:cs typeface="Aptos" pitchFamily="34" charset="-120"/>
              </a:rPr>
              <a:t>Dữ liệu mô phỏng</a:t>
            </a:r>
            <a:endParaRPr lang="en-US" sz="900" dirty="0"/>
          </a:p>
        </p:txBody>
      </p:sp>
      <p:sp>
        <p:nvSpPr>
          <p:cNvPr id="11" name="Shape 7"/>
          <p:cNvSpPr/>
          <p:nvPr/>
        </p:nvSpPr>
        <p:spPr>
          <a:xfrm>
            <a:off x="6400800" y="1691640"/>
            <a:ext cx="5239512" cy="1261872"/>
          </a:xfrm>
          <a:prstGeom prst="roundRect">
            <a:avLst>
              <a:gd name="adj" fmla="val 5797"/>
            </a:avLst>
          </a:prstGeom>
          <a:solidFill>
            <a:srgbClr val="F7FAFB"/>
          </a:solidFill>
          <a:ln w="12700">
            <a:solidFill>
              <a:srgbClr val="F7FAFB"/>
            </a:solidFill>
            <a:prstDash val="solid"/>
          </a:ln>
        </p:spPr>
        <p:txBody>
          <a:bodyPr/>
          <a:lstStyle/>
          <a:p>
            <a:endParaRPr lang="en-US"/>
          </a:p>
        </p:txBody>
      </p:sp>
      <p:sp>
        <p:nvSpPr>
          <p:cNvPr id="12" name="Shape 8"/>
          <p:cNvSpPr/>
          <p:nvPr/>
        </p:nvSpPr>
        <p:spPr>
          <a:xfrm>
            <a:off x="6537960" y="1819656"/>
            <a:ext cx="329184" cy="329184"/>
          </a:xfrm>
          <a:prstGeom prst="ellipse">
            <a:avLst/>
          </a:prstGeom>
          <a:solidFill>
            <a:srgbClr val="4BACC6"/>
          </a:solidFill>
          <a:ln w="12700">
            <a:solidFill>
              <a:srgbClr val="4BACC6"/>
            </a:solidFill>
            <a:prstDash val="solid"/>
          </a:ln>
        </p:spPr>
        <p:txBody>
          <a:bodyPr/>
          <a:lstStyle/>
          <a:p>
            <a:endParaRPr lang="en-US"/>
          </a:p>
        </p:txBody>
      </p:sp>
      <p:sp>
        <p:nvSpPr>
          <p:cNvPr id="13" name="Text 9"/>
          <p:cNvSpPr txBox="1"/>
          <p:nvPr/>
        </p:nvSpPr>
        <p:spPr>
          <a:xfrm>
            <a:off x="6537960" y="18196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4" name="Text 10"/>
          <p:cNvSpPr txBox="1"/>
          <p:nvPr/>
        </p:nvSpPr>
        <p:spPr>
          <a:xfrm>
            <a:off x="6967728" y="1801368"/>
            <a:ext cx="4507992"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vào</a:t>
            </a:r>
            <a:endParaRPr lang="en-US" sz="1300" dirty="0"/>
          </a:p>
        </p:txBody>
      </p:sp>
      <p:sp>
        <p:nvSpPr>
          <p:cNvPr id="15" name="Text 11"/>
          <p:cNvSpPr txBox="1"/>
          <p:nvPr/>
        </p:nvSpPr>
        <p:spPr>
          <a:xfrm>
            <a:off x="6903720" y="2167128"/>
            <a:ext cx="4599432" cy="71323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Đề xuất Proposed trong bảng NWV Agent Proposal</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Quy định phê duyệt khớp với loại đề xuất</a:t>
            </a:r>
            <a:endParaRPr lang="en-US" sz="1200" dirty="0"/>
          </a:p>
        </p:txBody>
      </p:sp>
      <p:sp>
        <p:nvSpPr>
          <p:cNvPr id="16" name="Shape 12"/>
          <p:cNvSpPr/>
          <p:nvPr/>
        </p:nvSpPr>
        <p:spPr>
          <a:xfrm>
            <a:off x="6400800" y="3063240"/>
            <a:ext cx="5239512" cy="1490472"/>
          </a:xfrm>
          <a:prstGeom prst="roundRect">
            <a:avLst>
              <a:gd name="adj" fmla="val 4908"/>
            </a:avLst>
          </a:prstGeom>
          <a:solidFill>
            <a:srgbClr val="F7FAFB"/>
          </a:solidFill>
          <a:ln w="12700">
            <a:solidFill>
              <a:srgbClr val="F7FAFB"/>
            </a:solidFill>
            <a:prstDash val="solid"/>
          </a:ln>
        </p:spPr>
        <p:txBody>
          <a:bodyPr/>
          <a:lstStyle/>
          <a:p>
            <a:endParaRPr lang="en-US"/>
          </a:p>
        </p:txBody>
      </p:sp>
      <p:sp>
        <p:nvSpPr>
          <p:cNvPr id="17" name="Shape 13"/>
          <p:cNvSpPr/>
          <p:nvPr/>
        </p:nvSpPr>
        <p:spPr>
          <a:xfrm>
            <a:off x="6537960" y="3191256"/>
            <a:ext cx="329184" cy="329184"/>
          </a:xfrm>
          <a:prstGeom prst="ellipse">
            <a:avLst/>
          </a:prstGeom>
          <a:solidFill>
            <a:srgbClr val="4BACC6"/>
          </a:solidFill>
          <a:ln w="12700">
            <a:solidFill>
              <a:srgbClr val="4BACC6"/>
            </a:solidFill>
            <a:prstDash val="solid"/>
          </a:ln>
        </p:spPr>
        <p:txBody>
          <a:bodyPr/>
          <a:lstStyle/>
          <a:p>
            <a:endParaRPr lang="en-US"/>
          </a:p>
        </p:txBody>
      </p:sp>
      <p:sp>
        <p:nvSpPr>
          <p:cNvPr id="18" name="Text 14"/>
          <p:cNvSpPr txBox="1"/>
          <p:nvPr/>
        </p:nvSpPr>
        <p:spPr>
          <a:xfrm>
            <a:off x="6537960" y="31912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9" name="Text 15"/>
          <p:cNvSpPr txBox="1"/>
          <p:nvPr/>
        </p:nvSpPr>
        <p:spPr>
          <a:xfrm>
            <a:off x="6967728" y="3172968"/>
            <a:ext cx="4507992"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Thao tác</a:t>
            </a:r>
            <a:endParaRPr lang="en-US" sz="1300" dirty="0"/>
          </a:p>
        </p:txBody>
      </p:sp>
      <p:sp>
        <p:nvSpPr>
          <p:cNvPr id="20" name="Text 16"/>
          <p:cNvSpPr txBox="1"/>
          <p:nvPr/>
        </p:nvSpPr>
        <p:spPr>
          <a:xfrm>
            <a:off x="6903720" y="3538728"/>
            <a:ext cx="4599432" cy="94183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Bấm Duyệt hủy hoặc Duyệt chuyển hàng</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Hoặc Từ chối, kèm lý do</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Có thể duyệt ngay trên page NWV Agent Proposals trong BC</a:t>
            </a:r>
            <a:endParaRPr lang="en-US" sz="1200" dirty="0"/>
          </a:p>
        </p:txBody>
      </p:sp>
      <p:sp>
        <p:nvSpPr>
          <p:cNvPr id="21" name="Shape 17"/>
          <p:cNvSpPr/>
          <p:nvPr/>
        </p:nvSpPr>
        <p:spPr>
          <a:xfrm>
            <a:off x="6400800" y="4663440"/>
            <a:ext cx="5239512" cy="1536192"/>
          </a:xfrm>
          <a:prstGeom prst="roundRect">
            <a:avLst>
              <a:gd name="adj" fmla="val 4762"/>
            </a:avLst>
          </a:prstGeom>
          <a:solidFill>
            <a:srgbClr val="DAEEF3"/>
          </a:solidFill>
          <a:ln w="12700">
            <a:solidFill>
              <a:srgbClr val="DAEEF3"/>
            </a:solidFill>
            <a:prstDash val="solid"/>
          </a:ln>
        </p:spPr>
        <p:txBody>
          <a:bodyPr/>
          <a:lstStyle/>
          <a:p>
            <a:endParaRPr lang="en-US"/>
          </a:p>
        </p:txBody>
      </p:sp>
      <p:sp>
        <p:nvSpPr>
          <p:cNvPr id="22" name="Shape 18"/>
          <p:cNvSpPr/>
          <p:nvPr/>
        </p:nvSpPr>
        <p:spPr>
          <a:xfrm>
            <a:off x="6537960" y="4791456"/>
            <a:ext cx="329184" cy="329184"/>
          </a:xfrm>
          <a:prstGeom prst="ellipse">
            <a:avLst/>
          </a:prstGeom>
          <a:solidFill>
            <a:srgbClr val="27343A"/>
          </a:solidFill>
          <a:ln w="12700">
            <a:solidFill>
              <a:srgbClr val="27343A"/>
            </a:solidFill>
            <a:prstDash val="solid"/>
          </a:ln>
        </p:spPr>
        <p:txBody>
          <a:bodyPr/>
          <a:lstStyle/>
          <a:p>
            <a:endParaRPr lang="en-US"/>
          </a:p>
        </p:txBody>
      </p:sp>
      <p:sp>
        <p:nvSpPr>
          <p:cNvPr id="23" name="Text 19"/>
          <p:cNvSpPr txBox="1"/>
          <p:nvPr/>
        </p:nvSpPr>
        <p:spPr>
          <a:xfrm>
            <a:off x="6537960" y="47914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4" name="Text 20"/>
          <p:cNvSpPr txBox="1"/>
          <p:nvPr/>
        </p:nvSpPr>
        <p:spPr>
          <a:xfrm>
            <a:off x="6967728" y="4773168"/>
            <a:ext cx="4507992"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ra</a:t>
            </a:r>
            <a:endParaRPr lang="en-US" sz="1300" dirty="0"/>
          </a:p>
        </p:txBody>
      </p:sp>
      <p:sp>
        <p:nvSpPr>
          <p:cNvPr id="25" name="Text 21"/>
          <p:cNvSpPr txBox="1"/>
          <p:nvPr/>
        </p:nvSpPr>
        <p:spPr>
          <a:xfrm>
            <a:off x="6903720" y="5138928"/>
            <a:ext cx="4599432" cy="98755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Trạng thái đề xuất cập nhật trong BC</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Duyệt chuyển hàng: BC tạo Transfer Order trạng thái Open</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Link mở lô, dòng Inventory Health và page đề xuất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100" b="1" kern="0" spc="200" dirty="0">
                <a:solidFill>
                  <a:srgbClr val="4BACC6"/>
                </a:solidFill>
                <a:latin typeface="Aptos" pitchFamily="34" charset="0"/>
                <a:ea typeface="Aptos" pitchFamily="34" charset="-122"/>
                <a:cs typeface="Aptos" pitchFamily="34" charset="-120"/>
              </a:rPr>
              <a:t>KỊCH BẢN 9/10 · TRUY XUẤT LÔ</a:t>
            </a:r>
            <a:endParaRPr lang="en-US" sz="1100" dirty="0"/>
          </a:p>
        </p:txBody>
      </p:sp>
      <p:sp>
        <p:nvSpPr>
          <p:cNvPr id="3" name="Text 1"/>
          <p:cNvSpPr txBox="1"/>
          <p:nvPr/>
        </p:nvSpPr>
        <p:spPr>
          <a:xfrm>
            <a:off x="548640" y="566928"/>
            <a:ext cx="11094415" cy="640080"/>
          </a:xfrm>
          <a:prstGeom prst="rect">
            <a:avLst/>
          </a:prstGeom>
          <a:noFill/>
          <a:ln/>
        </p:spPr>
        <p:txBody>
          <a:bodyPr wrap="square" lIns="0" tIns="0" rIns="0" bIns="0" rtlCol="0" anchor="t"/>
          <a:lstStyle/>
          <a:p>
            <a:pPr marL="0" indent="0">
              <a:buNone/>
            </a:pPr>
            <a:r>
              <a:rPr lang="en-US" sz="2800" b="1" dirty="0">
                <a:solidFill>
                  <a:srgbClr val="27343A"/>
                </a:solidFill>
                <a:latin typeface="Aptos Display" pitchFamily="34" charset="0"/>
                <a:ea typeface="Aptos Display" pitchFamily="34" charset="-122"/>
                <a:cs typeface="Aptos Display" pitchFamily="34" charset="-120"/>
              </a:rPr>
              <a:t>Lô đi đâu, còn ở đâu, thu hồi lấy lại được bao nhiêu</a:t>
            </a:r>
            <a:endParaRPr lang="en-US" sz="2800" dirty="0"/>
          </a:p>
        </p:txBody>
      </p:sp>
      <p:sp>
        <p:nvSpPr>
          <p:cNvPr id="4" name="Text 2"/>
          <p:cNvSpPr txBox="1"/>
          <p:nvPr/>
        </p:nvSpPr>
        <p:spPr>
          <a:xfrm>
            <a:off x="548640" y="6473952"/>
            <a:ext cx="5486400" cy="228600"/>
          </a:xfrm>
          <a:prstGeom prst="rect">
            <a:avLst/>
          </a:prstGeom>
          <a:noFill/>
          <a:ln/>
        </p:spPr>
        <p:txBody>
          <a:bodyPr wrap="square" lIns="0" tIns="0" rIns="0" bIns="0" rtlCol="0" anchor="ctr"/>
          <a:lstStyle/>
          <a:p>
            <a:pPr marL="0" indent="0">
              <a:buNone/>
            </a:pPr>
            <a:r>
              <a:rPr lang="en-US" sz="900" dirty="0">
                <a:solidFill>
                  <a:srgbClr val="5F6B70"/>
                </a:solidFill>
                <a:latin typeface="Aptos" pitchFamily="34" charset="0"/>
                <a:ea typeface="Aptos" pitchFamily="34" charset="-122"/>
                <a:cs typeface="Aptos" pitchFamily="34" charset="-120"/>
              </a:rPr>
              <a:t>UC2 Inventory Health &amp; Traceability</a:t>
            </a:r>
            <a:endParaRPr lang="en-US" sz="900" dirty="0"/>
          </a:p>
        </p:txBody>
      </p:sp>
      <p:sp>
        <p:nvSpPr>
          <p:cNvPr id="5" name="Text 3"/>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5F6B70"/>
                </a:solidFill>
                <a:latin typeface="Aptos" pitchFamily="34" charset="0"/>
                <a:ea typeface="Aptos" pitchFamily="34" charset="-122"/>
                <a:cs typeface="Aptos" pitchFamily="34" charset="-120"/>
              </a:rPr>
              <a:t>16</a:t>
            </a:r>
            <a:endParaRPr lang="en-US" sz="900" dirty="0"/>
          </a:p>
        </p:txBody>
      </p:sp>
      <p:sp>
        <p:nvSpPr>
          <p:cNvPr id="7" name="Text 4"/>
          <p:cNvSpPr txBox="1"/>
          <p:nvPr/>
        </p:nvSpPr>
        <p:spPr>
          <a:xfrm>
            <a:off x="548640" y="1188720"/>
            <a:ext cx="2144268" cy="310896"/>
          </a:xfrm>
          <a:prstGeom prst="roundRect">
            <a:avLst>
              <a:gd name="adj" fmla="val 44118"/>
            </a:avLst>
          </a:prstGeom>
          <a:solidFill>
            <a:srgbClr val="DAEEF3"/>
          </a:solidFill>
          <a:ln>
            <a:solidFill>
              <a:srgbClr val="DAEEF3"/>
            </a:solidFill>
          </a:ln>
        </p:spPr>
        <p:txBody>
          <a:bodyPr wrap="square" lIns="0" tIns="127000" rIns="127000" bIns="0" rtlCol="0" anchor="ctr"/>
          <a:lstStyle/>
          <a:p>
            <a:pPr marL="0" indent="0">
              <a:buNone/>
            </a:pPr>
            <a:r>
              <a:rPr lang="en-US" sz="1100" b="1" dirty="0">
                <a:solidFill>
                  <a:srgbClr val="27343A"/>
                </a:solidFill>
                <a:latin typeface="Aptos" pitchFamily="34" charset="0"/>
                <a:ea typeface="Aptos" pitchFamily="34" charset="-122"/>
                <a:cs typeface="Aptos" pitchFamily="34" charset="-120"/>
              </a:rPr>
              <a:t>Vai  </a:t>
            </a:r>
            <a:r>
              <a:rPr lang="en-US" sz="1100" dirty="0">
                <a:solidFill>
                  <a:srgbClr val="27343A"/>
                </a:solidFill>
                <a:latin typeface="Aptos" pitchFamily="34" charset="0"/>
                <a:ea typeface="Aptos" pitchFamily="34" charset="-122"/>
                <a:cs typeface="Aptos" pitchFamily="34" charset="-120"/>
              </a:rPr>
              <a:t>QA, điều phối kho</a:t>
            </a:r>
            <a:endParaRPr lang="en-US" sz="1100" dirty="0"/>
          </a:p>
        </p:txBody>
      </p:sp>
      <p:sp>
        <p:nvSpPr>
          <p:cNvPr id="8" name="Shape 5"/>
          <p:cNvSpPr/>
          <p:nvPr/>
        </p:nvSpPr>
        <p:spPr>
          <a:xfrm>
            <a:off x="502920" y="1645920"/>
            <a:ext cx="5852160" cy="3536436"/>
          </a:xfrm>
          <a:prstGeom prst="rect">
            <a:avLst/>
          </a:prstGeom>
          <a:solidFill>
            <a:srgbClr val="FFFFFF"/>
          </a:solidFill>
          <a:ln w="9525">
            <a:solidFill>
              <a:srgbClr val="A9D5E2"/>
            </a:solidFill>
            <a:prstDash val="solid"/>
          </a:ln>
          <a:effectLst>
            <a:outerShdw blurRad="76200" dist="25400" dir="5400000" algn="bl" rotWithShape="0">
              <a:srgbClr val="000000">
                <a:alpha val="12000"/>
              </a:srgbClr>
            </a:outerShdw>
          </a:effectLst>
        </p:spPr>
        <p:txBody>
          <a:bodyPr/>
          <a:lstStyle/>
          <a:p>
            <a:endParaRPr lang="en-US"/>
          </a:p>
        </p:txBody>
      </p:sp>
      <p:pic>
        <p:nvPicPr>
          <p:cNvPr id="9" name="Image 0" descr="truy-xuat"/>
          <p:cNvPicPr>
            <a:picLocks noChangeAspect="1"/>
          </p:cNvPicPr>
          <p:nvPr/>
        </p:nvPicPr>
        <p:blipFill>
          <a:blip r:embed="rId3"/>
          <a:stretch>
            <a:fillRect/>
          </a:stretch>
        </p:blipFill>
        <p:spPr>
          <a:xfrm>
            <a:off x="548640" y="1691640"/>
            <a:ext cx="5760720" cy="3444996"/>
          </a:xfrm>
          <a:prstGeom prst="rect">
            <a:avLst/>
          </a:prstGeom>
        </p:spPr>
      </p:pic>
      <p:sp>
        <p:nvSpPr>
          <p:cNvPr id="10" name="Shape 6"/>
          <p:cNvSpPr/>
          <p:nvPr/>
        </p:nvSpPr>
        <p:spPr>
          <a:xfrm>
            <a:off x="6629400" y="1691640"/>
            <a:ext cx="5010912" cy="1170432"/>
          </a:xfrm>
          <a:prstGeom prst="roundRect">
            <a:avLst>
              <a:gd name="adj" fmla="val 6250"/>
            </a:avLst>
          </a:prstGeom>
          <a:solidFill>
            <a:srgbClr val="F7FAFB"/>
          </a:solidFill>
          <a:ln w="12700">
            <a:solidFill>
              <a:srgbClr val="F7FAFB"/>
            </a:solidFill>
            <a:prstDash val="solid"/>
          </a:ln>
        </p:spPr>
        <p:txBody>
          <a:bodyPr/>
          <a:lstStyle/>
          <a:p>
            <a:endParaRPr lang="en-US"/>
          </a:p>
        </p:txBody>
      </p:sp>
      <p:sp>
        <p:nvSpPr>
          <p:cNvPr id="11" name="Shape 7"/>
          <p:cNvSpPr/>
          <p:nvPr/>
        </p:nvSpPr>
        <p:spPr>
          <a:xfrm>
            <a:off x="6766560" y="1819656"/>
            <a:ext cx="329184" cy="329184"/>
          </a:xfrm>
          <a:prstGeom prst="ellipse">
            <a:avLst/>
          </a:prstGeom>
          <a:solidFill>
            <a:srgbClr val="4BACC6"/>
          </a:solidFill>
          <a:ln w="12700">
            <a:solidFill>
              <a:srgbClr val="4BACC6"/>
            </a:solidFill>
            <a:prstDash val="solid"/>
          </a:ln>
        </p:spPr>
        <p:txBody>
          <a:bodyPr/>
          <a:lstStyle/>
          <a:p>
            <a:endParaRPr lang="en-US"/>
          </a:p>
        </p:txBody>
      </p:sp>
      <p:sp>
        <p:nvSpPr>
          <p:cNvPr id="12" name="Text 8"/>
          <p:cNvSpPr txBox="1"/>
          <p:nvPr/>
        </p:nvSpPr>
        <p:spPr>
          <a:xfrm>
            <a:off x="6766560" y="18196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3" name="Text 9"/>
          <p:cNvSpPr txBox="1"/>
          <p:nvPr/>
        </p:nvSpPr>
        <p:spPr>
          <a:xfrm>
            <a:off x="7196328" y="1801368"/>
            <a:ext cx="4279392"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vào</a:t>
            </a:r>
            <a:endParaRPr lang="en-US" sz="1300" dirty="0"/>
          </a:p>
        </p:txBody>
      </p:sp>
      <p:sp>
        <p:nvSpPr>
          <p:cNvPr id="14" name="Text 10"/>
          <p:cNvSpPr txBox="1"/>
          <p:nvPr/>
        </p:nvSpPr>
        <p:spPr>
          <a:xfrm>
            <a:off x="7132320" y="2167128"/>
            <a:ext cx="4370832" cy="62179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Item Ledger Entry của lô: nhập, chuyển, bán</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Hạn dùng của lô</a:t>
            </a:r>
            <a:endParaRPr lang="en-US" sz="1200" dirty="0"/>
          </a:p>
        </p:txBody>
      </p:sp>
      <p:sp>
        <p:nvSpPr>
          <p:cNvPr id="15" name="Shape 11"/>
          <p:cNvSpPr/>
          <p:nvPr/>
        </p:nvSpPr>
        <p:spPr>
          <a:xfrm>
            <a:off x="6629400" y="2971800"/>
            <a:ext cx="5010912" cy="941832"/>
          </a:xfrm>
          <a:prstGeom prst="roundRect">
            <a:avLst>
              <a:gd name="adj" fmla="val 7767"/>
            </a:avLst>
          </a:prstGeom>
          <a:solidFill>
            <a:srgbClr val="F7FAFB"/>
          </a:solidFill>
          <a:ln w="12700">
            <a:solidFill>
              <a:srgbClr val="F7FAFB"/>
            </a:solidFill>
            <a:prstDash val="solid"/>
          </a:ln>
        </p:spPr>
        <p:txBody>
          <a:bodyPr/>
          <a:lstStyle/>
          <a:p>
            <a:endParaRPr lang="en-US"/>
          </a:p>
        </p:txBody>
      </p:sp>
      <p:sp>
        <p:nvSpPr>
          <p:cNvPr id="16" name="Shape 12"/>
          <p:cNvSpPr/>
          <p:nvPr/>
        </p:nvSpPr>
        <p:spPr>
          <a:xfrm>
            <a:off x="6766560" y="3099816"/>
            <a:ext cx="329184" cy="329184"/>
          </a:xfrm>
          <a:prstGeom prst="ellipse">
            <a:avLst/>
          </a:prstGeom>
          <a:solidFill>
            <a:srgbClr val="4BACC6"/>
          </a:solidFill>
          <a:ln w="12700">
            <a:solidFill>
              <a:srgbClr val="4BACC6"/>
            </a:solidFill>
            <a:prstDash val="solid"/>
          </a:ln>
        </p:spPr>
        <p:txBody>
          <a:bodyPr/>
          <a:lstStyle/>
          <a:p>
            <a:endParaRPr lang="en-US"/>
          </a:p>
        </p:txBody>
      </p:sp>
      <p:sp>
        <p:nvSpPr>
          <p:cNvPr id="17" name="Text 13"/>
          <p:cNvSpPr txBox="1"/>
          <p:nvPr/>
        </p:nvSpPr>
        <p:spPr>
          <a:xfrm>
            <a:off x="6766560" y="309981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8" name="Text 14"/>
          <p:cNvSpPr txBox="1"/>
          <p:nvPr/>
        </p:nvSpPr>
        <p:spPr>
          <a:xfrm>
            <a:off x="7196328" y="3081528"/>
            <a:ext cx="4279392"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Thao tác</a:t>
            </a:r>
            <a:endParaRPr lang="en-US" sz="1300" dirty="0"/>
          </a:p>
        </p:txBody>
      </p:sp>
      <p:sp>
        <p:nvSpPr>
          <p:cNvPr id="19" name="Text 15"/>
          <p:cNvSpPr txBox="1"/>
          <p:nvPr/>
        </p:nvSpPr>
        <p:spPr>
          <a:xfrm>
            <a:off x="7132320" y="3447288"/>
            <a:ext cx="4370832" cy="39319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Gõ: truy xuất lô L260908-33170B</a:t>
            </a:r>
            <a:endParaRPr lang="en-US" sz="1200" dirty="0"/>
          </a:p>
        </p:txBody>
      </p:sp>
      <p:sp>
        <p:nvSpPr>
          <p:cNvPr id="20" name="Shape 16"/>
          <p:cNvSpPr/>
          <p:nvPr/>
        </p:nvSpPr>
        <p:spPr>
          <a:xfrm>
            <a:off x="6629400" y="4023360"/>
            <a:ext cx="5010912" cy="2176272"/>
          </a:xfrm>
          <a:prstGeom prst="roundRect">
            <a:avLst>
              <a:gd name="adj" fmla="val 3361"/>
            </a:avLst>
          </a:prstGeom>
          <a:solidFill>
            <a:srgbClr val="DAEEF3"/>
          </a:solidFill>
          <a:ln w="12700">
            <a:solidFill>
              <a:srgbClr val="DAEEF3"/>
            </a:solidFill>
            <a:prstDash val="solid"/>
          </a:ln>
        </p:spPr>
        <p:txBody>
          <a:bodyPr/>
          <a:lstStyle/>
          <a:p>
            <a:endParaRPr lang="en-US"/>
          </a:p>
        </p:txBody>
      </p:sp>
      <p:sp>
        <p:nvSpPr>
          <p:cNvPr id="21" name="Shape 17"/>
          <p:cNvSpPr/>
          <p:nvPr/>
        </p:nvSpPr>
        <p:spPr>
          <a:xfrm>
            <a:off x="6766560" y="4151376"/>
            <a:ext cx="329184" cy="329184"/>
          </a:xfrm>
          <a:prstGeom prst="ellipse">
            <a:avLst/>
          </a:prstGeom>
          <a:solidFill>
            <a:srgbClr val="27343A"/>
          </a:solidFill>
          <a:ln w="12700">
            <a:solidFill>
              <a:srgbClr val="27343A"/>
            </a:solidFill>
            <a:prstDash val="solid"/>
          </a:ln>
        </p:spPr>
        <p:txBody>
          <a:bodyPr/>
          <a:lstStyle/>
          <a:p>
            <a:endParaRPr lang="en-US"/>
          </a:p>
        </p:txBody>
      </p:sp>
      <p:sp>
        <p:nvSpPr>
          <p:cNvPr id="22" name="Text 18"/>
          <p:cNvSpPr txBox="1"/>
          <p:nvPr/>
        </p:nvSpPr>
        <p:spPr>
          <a:xfrm>
            <a:off x="6766560" y="41513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3" name="Text 19"/>
          <p:cNvSpPr txBox="1"/>
          <p:nvPr/>
        </p:nvSpPr>
        <p:spPr>
          <a:xfrm>
            <a:off x="7196328" y="4133088"/>
            <a:ext cx="4279392"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ra</a:t>
            </a:r>
            <a:endParaRPr lang="en-US" sz="1300" dirty="0"/>
          </a:p>
        </p:txBody>
      </p:sp>
      <p:sp>
        <p:nvSpPr>
          <p:cNvPr id="24" name="Text 20"/>
          <p:cNvSpPr txBox="1"/>
          <p:nvPr/>
        </p:nvSpPr>
        <p:spPr>
          <a:xfrm>
            <a:off x="7132320" y="4498848"/>
            <a:ext cx="4370832" cy="162763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Hành trình theo địa điểm: W0003 nhập 22; S0001 nhận 14, còn 12; S0002 nhận 8, còn 2</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Thu hồi: lấy lại 12 tại S0001, 2 tại S0002; 8 cái đã bán</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Cảnh báo lô đã quá hạn từ 13/09 mà còn tồn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100" b="1" kern="0" spc="200" dirty="0">
                <a:solidFill>
                  <a:srgbClr val="4BACC6"/>
                </a:solidFill>
                <a:latin typeface="Aptos" pitchFamily="34" charset="0"/>
                <a:ea typeface="Aptos" pitchFamily="34" charset="-122"/>
                <a:cs typeface="Aptos" pitchFamily="34" charset="-120"/>
              </a:rPr>
              <a:t>KỊCH BẢN 10/10 · HỎI TỰ DO KHI BẬT AI</a:t>
            </a:r>
            <a:endParaRPr lang="en-US" sz="1100" dirty="0"/>
          </a:p>
        </p:txBody>
      </p:sp>
      <p:sp>
        <p:nvSpPr>
          <p:cNvPr id="3" name="Text 1"/>
          <p:cNvSpPr txBox="1"/>
          <p:nvPr/>
        </p:nvSpPr>
        <p:spPr>
          <a:xfrm>
            <a:off x="548640" y="566928"/>
            <a:ext cx="11094415" cy="640080"/>
          </a:xfrm>
          <a:prstGeom prst="rect">
            <a:avLst/>
          </a:prstGeom>
          <a:noFill/>
          <a:ln/>
        </p:spPr>
        <p:txBody>
          <a:bodyPr wrap="square" lIns="0" tIns="0" rIns="0" bIns="0" rtlCol="0" anchor="t"/>
          <a:lstStyle/>
          <a:p>
            <a:pPr marL="0" indent="0">
              <a:buNone/>
            </a:pPr>
            <a:r>
              <a:rPr lang="en-US" sz="2800" b="1" dirty="0">
                <a:solidFill>
                  <a:srgbClr val="27343A"/>
                </a:solidFill>
                <a:latin typeface="Aptos Display" pitchFamily="34" charset="0"/>
                <a:ea typeface="Aptos Display" pitchFamily="34" charset="-122"/>
                <a:cs typeface="Aptos Display" pitchFamily="34" charset="-120"/>
              </a:rPr>
              <a:t>Câu hỏi chưa có mẫu: model chọn dữ liệu cần đọc</a:t>
            </a:r>
            <a:endParaRPr lang="en-US" sz="2800" dirty="0"/>
          </a:p>
        </p:txBody>
      </p:sp>
      <p:sp>
        <p:nvSpPr>
          <p:cNvPr id="4" name="Text 2"/>
          <p:cNvSpPr txBox="1"/>
          <p:nvPr/>
        </p:nvSpPr>
        <p:spPr>
          <a:xfrm>
            <a:off x="548640" y="6473952"/>
            <a:ext cx="5486400" cy="228600"/>
          </a:xfrm>
          <a:prstGeom prst="rect">
            <a:avLst/>
          </a:prstGeom>
          <a:noFill/>
          <a:ln/>
        </p:spPr>
        <p:txBody>
          <a:bodyPr wrap="square" lIns="0" tIns="0" rIns="0" bIns="0" rtlCol="0" anchor="ctr"/>
          <a:lstStyle/>
          <a:p>
            <a:pPr marL="0" indent="0">
              <a:buNone/>
            </a:pPr>
            <a:r>
              <a:rPr lang="en-US" sz="900" dirty="0">
                <a:solidFill>
                  <a:srgbClr val="5F6B70"/>
                </a:solidFill>
                <a:latin typeface="Aptos" pitchFamily="34" charset="0"/>
                <a:ea typeface="Aptos" pitchFamily="34" charset="-122"/>
                <a:cs typeface="Aptos" pitchFamily="34" charset="-120"/>
              </a:rPr>
              <a:t>UC2 Inventory Health &amp; Traceability</a:t>
            </a:r>
            <a:endParaRPr lang="en-US" sz="900" dirty="0"/>
          </a:p>
        </p:txBody>
      </p:sp>
      <p:sp>
        <p:nvSpPr>
          <p:cNvPr id="5" name="Text 3"/>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5F6B70"/>
                </a:solidFill>
                <a:latin typeface="Aptos" pitchFamily="34" charset="0"/>
                <a:ea typeface="Aptos" pitchFamily="34" charset="-122"/>
                <a:cs typeface="Aptos" pitchFamily="34" charset="-120"/>
              </a:rPr>
              <a:t>17</a:t>
            </a:r>
            <a:endParaRPr lang="en-US" sz="900" dirty="0"/>
          </a:p>
        </p:txBody>
      </p:sp>
      <p:sp>
        <p:nvSpPr>
          <p:cNvPr id="7" name="Text 4"/>
          <p:cNvSpPr txBox="1"/>
          <p:nvPr/>
        </p:nvSpPr>
        <p:spPr>
          <a:xfrm>
            <a:off x="548640" y="1188720"/>
            <a:ext cx="1755648" cy="310896"/>
          </a:xfrm>
          <a:prstGeom prst="roundRect">
            <a:avLst>
              <a:gd name="adj" fmla="val 44118"/>
            </a:avLst>
          </a:prstGeom>
          <a:solidFill>
            <a:srgbClr val="DAEEF3"/>
          </a:solidFill>
          <a:ln>
            <a:solidFill>
              <a:srgbClr val="DAEEF3"/>
            </a:solidFill>
          </a:ln>
        </p:spPr>
        <p:txBody>
          <a:bodyPr wrap="square" lIns="0" tIns="127000" rIns="127000" bIns="0" rtlCol="0" anchor="ctr"/>
          <a:lstStyle/>
          <a:p>
            <a:pPr marL="0" indent="0">
              <a:buNone/>
            </a:pPr>
            <a:r>
              <a:rPr lang="en-US" sz="1100" b="1" dirty="0">
                <a:solidFill>
                  <a:srgbClr val="27343A"/>
                </a:solidFill>
                <a:latin typeface="Aptos" pitchFamily="34" charset="0"/>
                <a:ea typeface="Aptos" pitchFamily="34" charset="-122"/>
                <a:cs typeface="Aptos" pitchFamily="34" charset="-120"/>
              </a:rPr>
              <a:t>Vai  </a:t>
            </a:r>
            <a:r>
              <a:rPr lang="en-US" sz="1100" dirty="0">
                <a:solidFill>
                  <a:srgbClr val="27343A"/>
                </a:solidFill>
                <a:latin typeface="Aptos" pitchFamily="34" charset="0"/>
                <a:ea typeface="Aptos" pitchFamily="34" charset="-122"/>
                <a:cs typeface="Aptos" pitchFamily="34" charset="-120"/>
              </a:rPr>
              <a:t>Supply Chain</a:t>
            </a:r>
            <a:endParaRPr lang="en-US" sz="1100" dirty="0"/>
          </a:p>
        </p:txBody>
      </p:sp>
      <p:sp>
        <p:nvSpPr>
          <p:cNvPr id="8" name="Shape 5"/>
          <p:cNvSpPr/>
          <p:nvPr/>
        </p:nvSpPr>
        <p:spPr>
          <a:xfrm>
            <a:off x="548640" y="1691640"/>
            <a:ext cx="4846320" cy="1216152"/>
          </a:xfrm>
          <a:prstGeom prst="roundRect">
            <a:avLst>
              <a:gd name="adj" fmla="val 6015"/>
            </a:avLst>
          </a:prstGeom>
          <a:solidFill>
            <a:srgbClr val="F7FAFB"/>
          </a:solidFill>
          <a:ln w="12700">
            <a:solidFill>
              <a:srgbClr val="F7FAFB"/>
            </a:solidFill>
            <a:prstDash val="solid"/>
          </a:ln>
        </p:spPr>
        <p:txBody>
          <a:bodyPr/>
          <a:lstStyle/>
          <a:p>
            <a:endParaRPr lang="en-US"/>
          </a:p>
        </p:txBody>
      </p:sp>
      <p:sp>
        <p:nvSpPr>
          <p:cNvPr id="9" name="Shape 6"/>
          <p:cNvSpPr/>
          <p:nvPr/>
        </p:nvSpPr>
        <p:spPr>
          <a:xfrm>
            <a:off x="685800" y="1819656"/>
            <a:ext cx="329184" cy="329184"/>
          </a:xfrm>
          <a:prstGeom prst="ellipse">
            <a:avLst/>
          </a:prstGeom>
          <a:solidFill>
            <a:srgbClr val="4BACC6"/>
          </a:solidFill>
          <a:ln w="12700">
            <a:solidFill>
              <a:srgbClr val="4BACC6"/>
            </a:solidFill>
            <a:prstDash val="solid"/>
          </a:ln>
        </p:spPr>
        <p:txBody>
          <a:bodyPr/>
          <a:lstStyle/>
          <a:p>
            <a:endParaRPr lang="en-US"/>
          </a:p>
        </p:txBody>
      </p:sp>
      <p:sp>
        <p:nvSpPr>
          <p:cNvPr id="10" name="Text 7"/>
          <p:cNvSpPr txBox="1"/>
          <p:nvPr/>
        </p:nvSpPr>
        <p:spPr>
          <a:xfrm>
            <a:off x="685800" y="18196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1" name="Text 8"/>
          <p:cNvSpPr txBox="1"/>
          <p:nvPr/>
        </p:nvSpPr>
        <p:spPr>
          <a:xfrm>
            <a:off x="1115568" y="1801368"/>
            <a:ext cx="4114800"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vào</a:t>
            </a:r>
            <a:endParaRPr lang="en-US" sz="1300" dirty="0"/>
          </a:p>
        </p:txBody>
      </p:sp>
      <p:sp>
        <p:nvSpPr>
          <p:cNvPr id="12" name="Text 9"/>
          <p:cNvSpPr txBox="1"/>
          <p:nvPr/>
        </p:nvSpPr>
        <p:spPr>
          <a:xfrm>
            <a:off x="1051560" y="2167128"/>
            <a:ext cx="4206240" cy="66751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API chỉ đọc: tồn, lô, lịch sử bán</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AI đang bật, còn trong trần chi phí</a:t>
            </a:r>
            <a:endParaRPr lang="en-US" sz="1200" dirty="0"/>
          </a:p>
        </p:txBody>
      </p:sp>
      <p:sp>
        <p:nvSpPr>
          <p:cNvPr id="13" name="Shape 10"/>
          <p:cNvSpPr/>
          <p:nvPr/>
        </p:nvSpPr>
        <p:spPr>
          <a:xfrm>
            <a:off x="548640" y="3017520"/>
            <a:ext cx="4846320" cy="1307592"/>
          </a:xfrm>
          <a:prstGeom prst="roundRect">
            <a:avLst>
              <a:gd name="adj" fmla="val 5594"/>
            </a:avLst>
          </a:prstGeom>
          <a:solidFill>
            <a:srgbClr val="F7FAFB"/>
          </a:solidFill>
          <a:ln w="12700">
            <a:solidFill>
              <a:srgbClr val="F7FAFB"/>
            </a:solidFill>
            <a:prstDash val="solid"/>
          </a:ln>
        </p:spPr>
        <p:txBody>
          <a:bodyPr/>
          <a:lstStyle/>
          <a:p>
            <a:endParaRPr lang="en-US"/>
          </a:p>
        </p:txBody>
      </p:sp>
      <p:sp>
        <p:nvSpPr>
          <p:cNvPr id="14" name="Shape 11"/>
          <p:cNvSpPr/>
          <p:nvPr/>
        </p:nvSpPr>
        <p:spPr>
          <a:xfrm>
            <a:off x="685800" y="3145536"/>
            <a:ext cx="329184" cy="329184"/>
          </a:xfrm>
          <a:prstGeom prst="ellipse">
            <a:avLst/>
          </a:prstGeom>
          <a:solidFill>
            <a:srgbClr val="4BACC6"/>
          </a:solidFill>
          <a:ln w="12700">
            <a:solidFill>
              <a:srgbClr val="4BACC6"/>
            </a:solidFill>
            <a:prstDash val="solid"/>
          </a:ln>
        </p:spPr>
        <p:txBody>
          <a:bodyPr/>
          <a:lstStyle/>
          <a:p>
            <a:endParaRPr lang="en-US"/>
          </a:p>
        </p:txBody>
      </p:sp>
      <p:sp>
        <p:nvSpPr>
          <p:cNvPr id="15" name="Text 12"/>
          <p:cNvSpPr txBox="1"/>
          <p:nvPr/>
        </p:nvSpPr>
        <p:spPr>
          <a:xfrm>
            <a:off x="685800" y="31455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6" name="Text 13"/>
          <p:cNvSpPr txBox="1"/>
          <p:nvPr/>
        </p:nvSpPr>
        <p:spPr>
          <a:xfrm>
            <a:off x="1115568" y="3127248"/>
            <a:ext cx="4114800"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Thao tác</a:t>
            </a:r>
            <a:endParaRPr lang="en-US" sz="1300" dirty="0"/>
          </a:p>
        </p:txBody>
      </p:sp>
      <p:sp>
        <p:nvSpPr>
          <p:cNvPr id="17" name="Text 14"/>
          <p:cNvSpPr txBox="1"/>
          <p:nvPr/>
        </p:nvSpPr>
        <p:spPr>
          <a:xfrm>
            <a:off x="1051560" y="3493008"/>
            <a:ext cx="4206240" cy="75895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Gõ: so sánh tốc độ bán Flavored syrup giữa các cửa hàng 30 ngày qua, chỗ nào nên giữ ít hàng lại</a:t>
            </a:r>
            <a:endParaRPr lang="en-US" sz="1200" dirty="0"/>
          </a:p>
        </p:txBody>
      </p:sp>
      <p:sp>
        <p:nvSpPr>
          <p:cNvPr id="18" name="Shape 15"/>
          <p:cNvSpPr/>
          <p:nvPr/>
        </p:nvSpPr>
        <p:spPr>
          <a:xfrm>
            <a:off x="548640" y="4434840"/>
            <a:ext cx="4846320" cy="1719072"/>
          </a:xfrm>
          <a:prstGeom prst="roundRect">
            <a:avLst>
              <a:gd name="adj" fmla="val 4255"/>
            </a:avLst>
          </a:prstGeom>
          <a:solidFill>
            <a:srgbClr val="DAEEF3"/>
          </a:solidFill>
          <a:ln w="12700">
            <a:solidFill>
              <a:srgbClr val="DAEEF3"/>
            </a:solidFill>
            <a:prstDash val="solid"/>
          </a:ln>
        </p:spPr>
        <p:txBody>
          <a:bodyPr/>
          <a:lstStyle/>
          <a:p>
            <a:endParaRPr lang="en-US"/>
          </a:p>
        </p:txBody>
      </p:sp>
      <p:sp>
        <p:nvSpPr>
          <p:cNvPr id="19" name="Shape 16"/>
          <p:cNvSpPr/>
          <p:nvPr/>
        </p:nvSpPr>
        <p:spPr>
          <a:xfrm>
            <a:off x="685800" y="4562856"/>
            <a:ext cx="329184" cy="329184"/>
          </a:xfrm>
          <a:prstGeom prst="ellipse">
            <a:avLst/>
          </a:prstGeom>
          <a:solidFill>
            <a:srgbClr val="27343A"/>
          </a:solidFill>
          <a:ln w="12700">
            <a:solidFill>
              <a:srgbClr val="27343A"/>
            </a:solidFill>
            <a:prstDash val="solid"/>
          </a:ln>
        </p:spPr>
        <p:txBody>
          <a:bodyPr/>
          <a:lstStyle/>
          <a:p>
            <a:endParaRPr lang="en-US"/>
          </a:p>
        </p:txBody>
      </p:sp>
      <p:sp>
        <p:nvSpPr>
          <p:cNvPr id="20" name="Text 17"/>
          <p:cNvSpPr txBox="1"/>
          <p:nvPr/>
        </p:nvSpPr>
        <p:spPr>
          <a:xfrm>
            <a:off x="685800" y="45628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1" name="Text 18"/>
          <p:cNvSpPr txBox="1"/>
          <p:nvPr/>
        </p:nvSpPr>
        <p:spPr>
          <a:xfrm>
            <a:off x="1115568" y="4544568"/>
            <a:ext cx="4114800" cy="365760"/>
          </a:xfrm>
          <a:prstGeom prst="rect">
            <a:avLst/>
          </a:prstGeom>
          <a:noFill/>
          <a:ln/>
        </p:spPr>
        <p:txBody>
          <a:bodyPr wrap="square" lIns="0" tIns="0" rIns="0" bIns="0" rtlCol="0" anchor="ctr"/>
          <a:lstStyle/>
          <a:p>
            <a:pPr marL="0" indent="0">
              <a:buNone/>
            </a:pPr>
            <a:r>
              <a:rPr lang="en-US" sz="1300" b="1" dirty="0">
                <a:solidFill>
                  <a:srgbClr val="27343A"/>
                </a:solidFill>
                <a:latin typeface="Aptos" pitchFamily="34" charset="0"/>
                <a:ea typeface="Aptos" pitchFamily="34" charset="-122"/>
                <a:cs typeface="Aptos" pitchFamily="34" charset="-120"/>
              </a:rPr>
              <a:t>Đầu ra</a:t>
            </a:r>
            <a:endParaRPr lang="en-US" sz="1300" dirty="0"/>
          </a:p>
        </p:txBody>
      </p:sp>
      <p:sp>
        <p:nvSpPr>
          <p:cNvPr id="22" name="Text 19"/>
          <p:cNvSpPr txBox="1"/>
          <p:nvPr/>
        </p:nvSpPr>
        <p:spPr>
          <a:xfrm>
            <a:off x="1051560" y="4910328"/>
            <a:ext cx="4206240" cy="1170432"/>
          </a:xfrm>
          <a:prstGeom prst="rect">
            <a:avLst/>
          </a:prstGeom>
          <a:noFill/>
          <a:ln/>
        </p:spPr>
        <p:txBody>
          <a:bodyPr wrap="square" lIns="0" tIns="0" rIns="50800" bIns="0" rtlCol="0" anchor="t"/>
          <a:lstStyle/>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Câu trả lời kèm số theo từng cửa hàng</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Kế hoạch đã tra: 8 bước, 6.700 token</a:t>
            </a:r>
            <a:endParaRPr lang="en-US" sz="1200" dirty="0"/>
          </a:p>
          <a:p>
            <a:pPr marL="152400" indent="-152400">
              <a:spcAft>
                <a:spcPts val="400"/>
              </a:spcAft>
              <a:buSzPct val="100000"/>
              <a:buChar char="•"/>
            </a:pPr>
            <a:r>
              <a:rPr lang="en-US" sz="1200" dirty="0">
                <a:solidFill>
                  <a:srgbClr val="27343A"/>
                </a:solidFill>
                <a:latin typeface="Aptos" pitchFamily="34" charset="0"/>
                <a:ea typeface="Aptos" pitchFamily="34" charset="-122"/>
                <a:cs typeface="Aptos" pitchFamily="34" charset="-120"/>
              </a:rPr>
              <a:t>Nút xem các bước đã tra, đánh giá đúng hoặc chưa đúng</a:t>
            </a:r>
            <a:endParaRPr lang="en-US" sz="1200" dirty="0"/>
          </a:p>
        </p:txBody>
      </p:sp>
      <p:sp>
        <p:nvSpPr>
          <p:cNvPr id="23" name="Shape 20"/>
          <p:cNvSpPr/>
          <p:nvPr/>
        </p:nvSpPr>
        <p:spPr>
          <a:xfrm>
            <a:off x="5689092" y="1645920"/>
            <a:ext cx="5996940" cy="4663440"/>
          </a:xfrm>
          <a:prstGeom prst="rect">
            <a:avLst/>
          </a:prstGeom>
          <a:solidFill>
            <a:srgbClr val="FFFFFF"/>
          </a:solidFill>
          <a:ln w="9525">
            <a:solidFill>
              <a:srgbClr val="A9D5E2"/>
            </a:solidFill>
            <a:prstDash val="solid"/>
          </a:ln>
          <a:effectLst>
            <a:outerShdw blurRad="76200" dist="25400" dir="5400000" algn="bl" rotWithShape="0">
              <a:srgbClr val="000000">
                <a:alpha val="12000"/>
              </a:srgbClr>
            </a:outerShdw>
          </a:effectLst>
        </p:spPr>
        <p:txBody>
          <a:bodyPr/>
          <a:lstStyle/>
          <a:p>
            <a:endParaRPr lang="en-US"/>
          </a:p>
        </p:txBody>
      </p:sp>
      <p:pic>
        <p:nvPicPr>
          <p:cNvPr id="24" name="Image 0" descr="cau-hoi-mo"/>
          <p:cNvPicPr>
            <a:picLocks noChangeAspect="1"/>
          </p:cNvPicPr>
          <p:nvPr/>
        </p:nvPicPr>
        <p:blipFill>
          <a:blip r:embed="rId3"/>
          <a:stretch>
            <a:fillRect/>
          </a:stretch>
        </p:blipFill>
        <p:spPr>
          <a:xfrm>
            <a:off x="5734812" y="1691640"/>
            <a:ext cx="5905500" cy="4572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100" b="1" kern="0" spc="200" dirty="0">
                <a:solidFill>
                  <a:srgbClr val="4BACC6"/>
                </a:solidFill>
                <a:latin typeface="Aptos" pitchFamily="34" charset="0"/>
                <a:ea typeface="Aptos" pitchFamily="34" charset="-122"/>
                <a:cs typeface="Aptos" pitchFamily="34" charset="-120"/>
              </a:rPr>
              <a:t>KIỂM SOÁT</a:t>
            </a:r>
            <a:endParaRPr lang="en-US" sz="1100" dirty="0"/>
          </a:p>
        </p:txBody>
      </p:sp>
      <p:sp>
        <p:nvSpPr>
          <p:cNvPr id="3" name="Text 1"/>
          <p:cNvSpPr txBox="1"/>
          <p:nvPr/>
        </p:nvSpPr>
        <p:spPr>
          <a:xfrm>
            <a:off x="548640" y="566928"/>
            <a:ext cx="11094415" cy="640080"/>
          </a:xfrm>
          <a:prstGeom prst="rect">
            <a:avLst/>
          </a:prstGeom>
          <a:noFill/>
          <a:ln/>
        </p:spPr>
        <p:txBody>
          <a:bodyPr wrap="square" lIns="0" tIns="0" rIns="0" bIns="0" rtlCol="0" anchor="t"/>
          <a:lstStyle/>
          <a:p>
            <a:pPr marL="0" indent="0">
              <a:buNone/>
            </a:pPr>
            <a:r>
              <a:rPr lang="en-US" sz="2800" b="1" dirty="0">
                <a:solidFill>
                  <a:srgbClr val="27343A"/>
                </a:solidFill>
                <a:latin typeface="Aptos Display" pitchFamily="34" charset="0"/>
                <a:ea typeface="Aptos Display" pitchFamily="34" charset="-122"/>
                <a:cs typeface="Aptos Display" pitchFamily="34" charset="-120"/>
              </a:rPr>
              <a:t>Mỗi con số mở lại được, mỗi quyết định có người duyệt</a:t>
            </a:r>
            <a:endParaRPr lang="en-US" sz="2800" dirty="0"/>
          </a:p>
        </p:txBody>
      </p:sp>
      <p:sp>
        <p:nvSpPr>
          <p:cNvPr id="4" name="Text 2"/>
          <p:cNvSpPr txBox="1"/>
          <p:nvPr/>
        </p:nvSpPr>
        <p:spPr>
          <a:xfrm>
            <a:off x="548640" y="6473952"/>
            <a:ext cx="5486400" cy="228600"/>
          </a:xfrm>
          <a:prstGeom prst="rect">
            <a:avLst/>
          </a:prstGeom>
          <a:noFill/>
          <a:ln/>
        </p:spPr>
        <p:txBody>
          <a:bodyPr wrap="square" lIns="0" tIns="0" rIns="0" bIns="0" rtlCol="0" anchor="ctr"/>
          <a:lstStyle/>
          <a:p>
            <a:pPr marL="0" indent="0">
              <a:buNone/>
            </a:pPr>
            <a:r>
              <a:rPr lang="en-US" sz="900" dirty="0">
                <a:solidFill>
                  <a:srgbClr val="5F6B70"/>
                </a:solidFill>
                <a:latin typeface="Aptos" pitchFamily="34" charset="0"/>
                <a:ea typeface="Aptos" pitchFamily="34" charset="-122"/>
                <a:cs typeface="Aptos" pitchFamily="34" charset="-120"/>
              </a:rPr>
              <a:t>UC2 Inventory Health &amp; Traceability</a:t>
            </a:r>
            <a:endParaRPr lang="en-US" sz="900" dirty="0"/>
          </a:p>
        </p:txBody>
      </p:sp>
      <p:sp>
        <p:nvSpPr>
          <p:cNvPr id="5" name="Text 3"/>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5F6B70"/>
                </a:solidFill>
                <a:latin typeface="Aptos" pitchFamily="34" charset="0"/>
                <a:ea typeface="Aptos" pitchFamily="34" charset="-122"/>
                <a:cs typeface="Aptos" pitchFamily="34" charset="-120"/>
              </a:rPr>
              <a:t>18</a:t>
            </a:r>
            <a:endParaRPr lang="en-US" sz="900" dirty="0"/>
          </a:p>
        </p:txBody>
      </p:sp>
      <p:sp>
        <p:nvSpPr>
          <p:cNvPr id="7" name="Shape 4"/>
          <p:cNvSpPr/>
          <p:nvPr/>
        </p:nvSpPr>
        <p:spPr>
          <a:xfrm>
            <a:off x="548640" y="1417320"/>
            <a:ext cx="5410048" cy="2148840"/>
          </a:xfrm>
          <a:prstGeom prst="roundRect">
            <a:avLst>
              <a:gd name="adj" fmla="val 3404"/>
            </a:avLst>
          </a:prstGeom>
          <a:solidFill>
            <a:srgbClr val="DAEEF3"/>
          </a:solidFill>
          <a:ln w="12700">
            <a:solidFill>
              <a:srgbClr val="DAEEF3"/>
            </a:solidFill>
            <a:prstDash val="solid"/>
          </a:ln>
        </p:spPr>
        <p:txBody>
          <a:bodyPr/>
          <a:lstStyle/>
          <a:p>
            <a:endParaRPr lang="en-US"/>
          </a:p>
        </p:txBody>
      </p:sp>
      <p:sp>
        <p:nvSpPr>
          <p:cNvPr id="8" name="Shape 5"/>
          <p:cNvSpPr/>
          <p:nvPr/>
        </p:nvSpPr>
        <p:spPr>
          <a:xfrm>
            <a:off x="822960" y="1737360"/>
            <a:ext cx="548640" cy="548640"/>
          </a:xfrm>
          <a:prstGeom prst="ellipse">
            <a:avLst/>
          </a:prstGeom>
          <a:solidFill>
            <a:srgbClr val="27343A"/>
          </a:solidFill>
          <a:ln w="12700">
            <a:solidFill>
              <a:srgbClr val="27343A"/>
            </a:solidFill>
            <a:prstDash val="solid"/>
          </a:ln>
        </p:spPr>
        <p:txBody>
          <a:bodyPr/>
          <a:lstStyle/>
          <a:p>
            <a:endParaRPr lang="en-US"/>
          </a:p>
        </p:txBody>
      </p:sp>
      <p:sp>
        <p:nvSpPr>
          <p:cNvPr id="9" name="Text 6"/>
          <p:cNvSpPr txBox="1"/>
          <p:nvPr/>
        </p:nvSpPr>
        <p:spPr>
          <a:xfrm>
            <a:off x="822960" y="17373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1</a:t>
            </a:r>
            <a:endParaRPr lang="en-US" sz="1600" dirty="0"/>
          </a:p>
        </p:txBody>
      </p:sp>
      <p:sp>
        <p:nvSpPr>
          <p:cNvPr id="10" name="Text 7"/>
          <p:cNvSpPr txBox="1"/>
          <p:nvPr/>
        </p:nvSpPr>
        <p:spPr>
          <a:xfrm>
            <a:off x="1600200" y="1709928"/>
            <a:ext cx="4129888" cy="594360"/>
          </a:xfrm>
          <a:prstGeom prst="rect">
            <a:avLst/>
          </a:prstGeom>
          <a:noFill/>
          <a:ln/>
        </p:spPr>
        <p:txBody>
          <a:bodyPr wrap="square" lIns="0" tIns="0" rIns="0" bIns="0" rtlCol="0" anchor="ctr"/>
          <a:lstStyle/>
          <a:p>
            <a:pPr marL="0" indent="0">
              <a:buNone/>
            </a:pPr>
            <a:r>
              <a:rPr lang="en-US" sz="1800" b="1" dirty="0">
                <a:solidFill>
                  <a:srgbClr val="27343A"/>
                </a:solidFill>
                <a:latin typeface="Aptos" pitchFamily="34" charset="0"/>
                <a:ea typeface="Aptos" pitchFamily="34" charset="-122"/>
                <a:cs typeface="Aptos" pitchFamily="34" charset="-120"/>
              </a:rPr>
              <a:t>Đối chiếu độc lập</a:t>
            </a:r>
            <a:endParaRPr lang="en-US" sz="1800" dirty="0"/>
          </a:p>
        </p:txBody>
      </p:sp>
      <p:sp>
        <p:nvSpPr>
          <p:cNvPr id="11" name="Text 8"/>
          <p:cNvSpPr txBox="1"/>
          <p:nvPr/>
        </p:nvSpPr>
        <p:spPr>
          <a:xfrm>
            <a:off x="1600200" y="2331720"/>
            <a:ext cx="4129888" cy="1097280"/>
          </a:xfrm>
          <a:prstGeom prst="rect">
            <a:avLst/>
          </a:prstGeom>
          <a:noFill/>
          <a:ln/>
        </p:spPr>
        <p:txBody>
          <a:bodyPr wrap="square" lIns="0" tIns="0" rIns="0" bIns="0" rtlCol="0" anchor="t"/>
          <a:lstStyle/>
          <a:p>
            <a:pPr marL="0" indent="0">
              <a:buNone/>
            </a:pPr>
            <a:r>
              <a:rPr lang="en-US" sz="1500" dirty="0">
                <a:solidFill>
                  <a:srgbClr val="27343A"/>
                </a:solidFill>
                <a:latin typeface="Aptos" pitchFamily="34" charset="0"/>
                <a:ea typeface="Aptos" pitchFamily="34" charset="-122"/>
                <a:cs typeface="Aptos" pitchFamily="34" charset="-120"/>
              </a:rPr>
              <a:t>Bản tính thứ hai đọc cùng dữ liệu BC, so từng tầng: 45 / 32 / 47 / 4 / 1 / 38, khớp cả sáu.</a:t>
            </a:r>
            <a:endParaRPr lang="en-US" sz="1500" dirty="0"/>
          </a:p>
        </p:txBody>
      </p:sp>
      <p:sp>
        <p:nvSpPr>
          <p:cNvPr id="12" name="Shape 9"/>
          <p:cNvSpPr/>
          <p:nvPr/>
        </p:nvSpPr>
        <p:spPr>
          <a:xfrm>
            <a:off x="6233008" y="1417320"/>
            <a:ext cx="5410048" cy="2148840"/>
          </a:xfrm>
          <a:prstGeom prst="roundRect">
            <a:avLst>
              <a:gd name="adj" fmla="val 3404"/>
            </a:avLst>
          </a:prstGeom>
          <a:solidFill>
            <a:srgbClr val="F7FAFB"/>
          </a:solidFill>
          <a:ln w="12700">
            <a:solidFill>
              <a:srgbClr val="F7FAFB"/>
            </a:solidFill>
            <a:prstDash val="solid"/>
          </a:ln>
        </p:spPr>
        <p:txBody>
          <a:bodyPr/>
          <a:lstStyle/>
          <a:p>
            <a:endParaRPr lang="en-US"/>
          </a:p>
        </p:txBody>
      </p:sp>
      <p:sp>
        <p:nvSpPr>
          <p:cNvPr id="13" name="Shape 10"/>
          <p:cNvSpPr/>
          <p:nvPr/>
        </p:nvSpPr>
        <p:spPr>
          <a:xfrm>
            <a:off x="6507328" y="1737360"/>
            <a:ext cx="548640" cy="548640"/>
          </a:xfrm>
          <a:prstGeom prst="ellipse">
            <a:avLst/>
          </a:prstGeom>
          <a:solidFill>
            <a:srgbClr val="4BACC6"/>
          </a:solidFill>
          <a:ln w="12700">
            <a:solidFill>
              <a:srgbClr val="4BACC6"/>
            </a:solidFill>
            <a:prstDash val="solid"/>
          </a:ln>
        </p:spPr>
        <p:txBody>
          <a:bodyPr/>
          <a:lstStyle/>
          <a:p>
            <a:endParaRPr lang="en-US"/>
          </a:p>
        </p:txBody>
      </p:sp>
      <p:sp>
        <p:nvSpPr>
          <p:cNvPr id="14" name="Text 11"/>
          <p:cNvSpPr txBox="1"/>
          <p:nvPr/>
        </p:nvSpPr>
        <p:spPr>
          <a:xfrm>
            <a:off x="6507328" y="17373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2</a:t>
            </a:r>
            <a:endParaRPr lang="en-US" sz="1600" dirty="0"/>
          </a:p>
        </p:txBody>
      </p:sp>
      <p:sp>
        <p:nvSpPr>
          <p:cNvPr id="15" name="Text 12"/>
          <p:cNvSpPr txBox="1"/>
          <p:nvPr/>
        </p:nvSpPr>
        <p:spPr>
          <a:xfrm>
            <a:off x="7284568" y="1709928"/>
            <a:ext cx="4129888" cy="594360"/>
          </a:xfrm>
          <a:prstGeom prst="rect">
            <a:avLst/>
          </a:prstGeom>
          <a:noFill/>
          <a:ln/>
        </p:spPr>
        <p:txBody>
          <a:bodyPr wrap="square" lIns="0" tIns="0" rIns="0" bIns="0" rtlCol="0" anchor="ctr"/>
          <a:lstStyle/>
          <a:p>
            <a:pPr marL="0" indent="0">
              <a:buNone/>
            </a:pPr>
            <a:r>
              <a:rPr lang="en-US" sz="1800" b="1" dirty="0">
                <a:solidFill>
                  <a:srgbClr val="27343A"/>
                </a:solidFill>
                <a:latin typeface="Aptos" pitchFamily="34" charset="0"/>
                <a:ea typeface="Aptos" pitchFamily="34" charset="-122"/>
                <a:cs typeface="Aptos" pitchFamily="34" charset="-120"/>
              </a:rPr>
              <a:t>Mở lại trong Business Central</a:t>
            </a:r>
            <a:endParaRPr lang="en-US" sz="1800" dirty="0"/>
          </a:p>
        </p:txBody>
      </p:sp>
      <p:sp>
        <p:nvSpPr>
          <p:cNvPr id="16" name="Text 13"/>
          <p:cNvSpPr txBox="1"/>
          <p:nvPr/>
        </p:nvSpPr>
        <p:spPr>
          <a:xfrm>
            <a:off x="7284568" y="2331720"/>
            <a:ext cx="4129888" cy="1097280"/>
          </a:xfrm>
          <a:prstGeom prst="rect">
            <a:avLst/>
          </a:prstGeom>
          <a:noFill/>
          <a:ln/>
        </p:spPr>
        <p:txBody>
          <a:bodyPr wrap="square" lIns="0" tIns="0" rIns="0" bIns="0" rtlCol="0" anchor="t"/>
          <a:lstStyle/>
          <a:p>
            <a:pPr marL="0" indent="0">
              <a:buNone/>
            </a:pPr>
            <a:r>
              <a:rPr lang="en-US" sz="1500" dirty="0">
                <a:solidFill>
                  <a:srgbClr val="27343A"/>
                </a:solidFill>
                <a:latin typeface="Aptos" pitchFamily="34" charset="0"/>
                <a:ea typeface="Aptos" pitchFamily="34" charset="-122"/>
                <a:cs typeface="Aptos" pitchFamily="34" charset="-120"/>
              </a:rPr>
              <a:t>Thẻ có link mở đúng Item Ledger Entries lọc sẵn mặt hàng, kho, lô; ngưỡng sửa trên NWV Agent Setup.</a:t>
            </a:r>
            <a:endParaRPr lang="en-US" sz="1500" dirty="0"/>
          </a:p>
        </p:txBody>
      </p:sp>
      <p:sp>
        <p:nvSpPr>
          <p:cNvPr id="17" name="Shape 14"/>
          <p:cNvSpPr/>
          <p:nvPr/>
        </p:nvSpPr>
        <p:spPr>
          <a:xfrm>
            <a:off x="548640" y="3794760"/>
            <a:ext cx="5410048" cy="2148840"/>
          </a:xfrm>
          <a:prstGeom prst="roundRect">
            <a:avLst>
              <a:gd name="adj" fmla="val 3404"/>
            </a:avLst>
          </a:prstGeom>
          <a:solidFill>
            <a:srgbClr val="F7FAFB"/>
          </a:solidFill>
          <a:ln w="12700">
            <a:solidFill>
              <a:srgbClr val="F7FAFB"/>
            </a:solidFill>
            <a:prstDash val="solid"/>
          </a:ln>
        </p:spPr>
        <p:txBody>
          <a:bodyPr/>
          <a:lstStyle/>
          <a:p>
            <a:endParaRPr lang="en-US"/>
          </a:p>
        </p:txBody>
      </p:sp>
      <p:sp>
        <p:nvSpPr>
          <p:cNvPr id="18" name="Shape 15"/>
          <p:cNvSpPr/>
          <p:nvPr/>
        </p:nvSpPr>
        <p:spPr>
          <a:xfrm>
            <a:off x="822960" y="4114800"/>
            <a:ext cx="548640" cy="548640"/>
          </a:xfrm>
          <a:prstGeom prst="ellipse">
            <a:avLst/>
          </a:prstGeom>
          <a:solidFill>
            <a:srgbClr val="4BACC6"/>
          </a:solidFill>
          <a:ln w="12700">
            <a:solidFill>
              <a:srgbClr val="4BACC6"/>
            </a:solidFill>
            <a:prstDash val="solid"/>
          </a:ln>
        </p:spPr>
        <p:txBody>
          <a:bodyPr/>
          <a:lstStyle/>
          <a:p>
            <a:endParaRPr lang="en-US"/>
          </a:p>
        </p:txBody>
      </p:sp>
      <p:sp>
        <p:nvSpPr>
          <p:cNvPr id="19" name="Text 16"/>
          <p:cNvSpPr txBox="1"/>
          <p:nvPr/>
        </p:nvSpPr>
        <p:spPr>
          <a:xfrm>
            <a:off x="822960" y="411480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3</a:t>
            </a:r>
            <a:endParaRPr lang="en-US" sz="1600" dirty="0"/>
          </a:p>
        </p:txBody>
      </p:sp>
      <p:sp>
        <p:nvSpPr>
          <p:cNvPr id="20" name="Text 17"/>
          <p:cNvSpPr txBox="1"/>
          <p:nvPr/>
        </p:nvSpPr>
        <p:spPr>
          <a:xfrm>
            <a:off x="1600200" y="4087368"/>
            <a:ext cx="4129888" cy="594360"/>
          </a:xfrm>
          <a:prstGeom prst="rect">
            <a:avLst/>
          </a:prstGeom>
          <a:noFill/>
          <a:ln/>
        </p:spPr>
        <p:txBody>
          <a:bodyPr wrap="square" lIns="0" tIns="0" rIns="0" bIns="0" rtlCol="0" anchor="ctr"/>
          <a:lstStyle/>
          <a:p>
            <a:pPr marL="0" indent="0">
              <a:buNone/>
            </a:pPr>
            <a:r>
              <a:rPr lang="en-US" sz="1800" b="1" dirty="0">
                <a:solidFill>
                  <a:srgbClr val="27343A"/>
                </a:solidFill>
                <a:latin typeface="Aptos" pitchFamily="34" charset="0"/>
                <a:ea typeface="Aptos" pitchFamily="34" charset="-122"/>
                <a:cs typeface="Aptos" pitchFamily="34" charset="-120"/>
              </a:rPr>
              <a:t>Chỉ ghi đề xuất</a:t>
            </a:r>
            <a:endParaRPr lang="en-US" sz="1800" dirty="0"/>
          </a:p>
        </p:txBody>
      </p:sp>
      <p:sp>
        <p:nvSpPr>
          <p:cNvPr id="21" name="Text 18"/>
          <p:cNvSpPr txBox="1"/>
          <p:nvPr/>
        </p:nvSpPr>
        <p:spPr>
          <a:xfrm>
            <a:off x="1600200" y="4709160"/>
            <a:ext cx="4129888" cy="1097280"/>
          </a:xfrm>
          <a:prstGeom prst="rect">
            <a:avLst/>
          </a:prstGeom>
          <a:noFill/>
          <a:ln/>
        </p:spPr>
        <p:txBody>
          <a:bodyPr wrap="square" lIns="0" tIns="0" rIns="0" bIns="0" rtlCol="0" anchor="t"/>
          <a:lstStyle/>
          <a:p>
            <a:pPr marL="0" indent="0">
              <a:buNone/>
            </a:pPr>
            <a:r>
              <a:rPr lang="en-US" sz="1500" dirty="0">
                <a:solidFill>
                  <a:srgbClr val="27343A"/>
                </a:solidFill>
                <a:latin typeface="Aptos" pitchFamily="34" charset="0"/>
                <a:ea typeface="Aptos" pitchFamily="34" charset="-122"/>
                <a:cs typeface="Aptos" pitchFamily="34" charset="-120"/>
              </a:rPr>
              <a:t>Trạng thái luôn là Proposed; chống đề xuất trùng cho cùng lô; quy định phê duyệt theo loại và giá trị.</a:t>
            </a:r>
            <a:endParaRPr lang="en-US" sz="1500" dirty="0"/>
          </a:p>
        </p:txBody>
      </p:sp>
      <p:sp>
        <p:nvSpPr>
          <p:cNvPr id="22" name="Shape 19"/>
          <p:cNvSpPr/>
          <p:nvPr/>
        </p:nvSpPr>
        <p:spPr>
          <a:xfrm>
            <a:off x="6233008" y="3794760"/>
            <a:ext cx="5410048" cy="2148840"/>
          </a:xfrm>
          <a:prstGeom prst="roundRect">
            <a:avLst>
              <a:gd name="adj" fmla="val 3404"/>
            </a:avLst>
          </a:prstGeom>
          <a:solidFill>
            <a:srgbClr val="F7FAFB"/>
          </a:solidFill>
          <a:ln w="12700">
            <a:solidFill>
              <a:srgbClr val="F7FAFB"/>
            </a:solidFill>
            <a:prstDash val="solid"/>
          </a:ln>
        </p:spPr>
        <p:txBody>
          <a:bodyPr/>
          <a:lstStyle/>
          <a:p>
            <a:endParaRPr lang="en-US"/>
          </a:p>
        </p:txBody>
      </p:sp>
      <p:sp>
        <p:nvSpPr>
          <p:cNvPr id="23" name="Shape 20"/>
          <p:cNvSpPr/>
          <p:nvPr/>
        </p:nvSpPr>
        <p:spPr>
          <a:xfrm>
            <a:off x="6507328" y="4114800"/>
            <a:ext cx="548640" cy="548640"/>
          </a:xfrm>
          <a:prstGeom prst="ellipse">
            <a:avLst/>
          </a:prstGeom>
          <a:solidFill>
            <a:srgbClr val="4BACC6"/>
          </a:solidFill>
          <a:ln w="12700">
            <a:solidFill>
              <a:srgbClr val="4BACC6"/>
            </a:solidFill>
            <a:prstDash val="solid"/>
          </a:ln>
        </p:spPr>
        <p:txBody>
          <a:bodyPr/>
          <a:lstStyle/>
          <a:p>
            <a:endParaRPr lang="en-US"/>
          </a:p>
        </p:txBody>
      </p:sp>
      <p:sp>
        <p:nvSpPr>
          <p:cNvPr id="24" name="Text 21"/>
          <p:cNvSpPr txBox="1"/>
          <p:nvPr/>
        </p:nvSpPr>
        <p:spPr>
          <a:xfrm>
            <a:off x="6507328" y="411480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4</a:t>
            </a:r>
            <a:endParaRPr lang="en-US" sz="1600" dirty="0"/>
          </a:p>
        </p:txBody>
      </p:sp>
      <p:sp>
        <p:nvSpPr>
          <p:cNvPr id="25" name="Text 22"/>
          <p:cNvSpPr txBox="1"/>
          <p:nvPr/>
        </p:nvSpPr>
        <p:spPr>
          <a:xfrm>
            <a:off x="7284568" y="4087368"/>
            <a:ext cx="4129888" cy="594360"/>
          </a:xfrm>
          <a:prstGeom prst="rect">
            <a:avLst/>
          </a:prstGeom>
          <a:noFill/>
          <a:ln/>
        </p:spPr>
        <p:txBody>
          <a:bodyPr wrap="square" lIns="0" tIns="0" rIns="0" bIns="0" rtlCol="0" anchor="ctr"/>
          <a:lstStyle/>
          <a:p>
            <a:pPr marL="0" indent="0">
              <a:buNone/>
            </a:pPr>
            <a:r>
              <a:rPr lang="en-US" sz="1800" b="1" dirty="0">
                <a:solidFill>
                  <a:srgbClr val="27343A"/>
                </a:solidFill>
                <a:latin typeface="Aptos" pitchFamily="34" charset="0"/>
                <a:ea typeface="Aptos" pitchFamily="34" charset="-122"/>
                <a:cs typeface="Aptos" pitchFamily="34" charset="-120"/>
              </a:rPr>
              <a:t>AI trong giới hạn</a:t>
            </a:r>
            <a:endParaRPr lang="en-US" sz="1800" dirty="0"/>
          </a:p>
        </p:txBody>
      </p:sp>
      <p:sp>
        <p:nvSpPr>
          <p:cNvPr id="26" name="Text 23"/>
          <p:cNvSpPr txBox="1"/>
          <p:nvPr/>
        </p:nvSpPr>
        <p:spPr>
          <a:xfrm>
            <a:off x="7284568" y="4709160"/>
            <a:ext cx="4129888" cy="1097280"/>
          </a:xfrm>
          <a:prstGeom prst="rect">
            <a:avLst/>
          </a:prstGeom>
          <a:noFill/>
          <a:ln/>
        </p:spPr>
        <p:txBody>
          <a:bodyPr wrap="square" lIns="0" tIns="0" rIns="0" bIns="0" rtlCol="0" anchor="t"/>
          <a:lstStyle/>
          <a:p>
            <a:pPr marL="0" indent="0">
              <a:buNone/>
            </a:pPr>
            <a:r>
              <a:rPr lang="en-US" sz="1500" dirty="0">
                <a:solidFill>
                  <a:srgbClr val="27343A"/>
                </a:solidFill>
                <a:latin typeface="Aptos" pitchFamily="34" charset="0"/>
                <a:ea typeface="Aptos" pitchFamily="34" charset="-122"/>
                <a:cs typeface="Aptos" pitchFamily="34" charset="-120"/>
              </a:rPr>
              <a:t>Bật tắt trên trang Cài đặt AI, trần chi phí theo ngày và cộng dồn; mỗi lượt gọi model ghi số token.</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100" b="1" kern="0" spc="200" dirty="0">
                <a:solidFill>
                  <a:srgbClr val="4BACC6"/>
                </a:solidFill>
                <a:latin typeface="Aptos" pitchFamily="34" charset="0"/>
                <a:ea typeface="Aptos" pitchFamily="34" charset="-122"/>
                <a:cs typeface="Aptos" pitchFamily="34" charset="-120"/>
              </a:rPr>
              <a:t>MỨC ĐÁP ỨNG</a:t>
            </a:r>
            <a:endParaRPr lang="en-US" sz="1100" dirty="0"/>
          </a:p>
        </p:txBody>
      </p:sp>
      <p:sp>
        <p:nvSpPr>
          <p:cNvPr id="3" name="Text 1"/>
          <p:cNvSpPr txBox="1"/>
          <p:nvPr/>
        </p:nvSpPr>
        <p:spPr>
          <a:xfrm>
            <a:off x="548640" y="566928"/>
            <a:ext cx="11094415" cy="640080"/>
          </a:xfrm>
          <a:prstGeom prst="rect">
            <a:avLst/>
          </a:prstGeom>
          <a:noFill/>
          <a:ln/>
        </p:spPr>
        <p:txBody>
          <a:bodyPr wrap="square" lIns="0" tIns="0" rIns="0" bIns="0" rtlCol="0" anchor="t"/>
          <a:lstStyle/>
          <a:p>
            <a:pPr marL="0" indent="0">
              <a:buNone/>
            </a:pPr>
            <a:r>
              <a:rPr lang="en-US" sz="2800" b="1" dirty="0">
                <a:solidFill>
                  <a:srgbClr val="27343A"/>
                </a:solidFill>
                <a:latin typeface="Aptos Display" pitchFamily="34" charset="0"/>
                <a:ea typeface="Aptos Display" pitchFamily="34" charset="-122"/>
                <a:cs typeface="Aptos Display" pitchFamily="34" charset="-120"/>
              </a:rPr>
              <a:t>Đã chạy trong POC và phần hoàn thiện khi triển khai</a:t>
            </a:r>
            <a:endParaRPr lang="en-US" sz="2800" dirty="0"/>
          </a:p>
        </p:txBody>
      </p:sp>
      <p:sp>
        <p:nvSpPr>
          <p:cNvPr id="4" name="Text 2"/>
          <p:cNvSpPr txBox="1"/>
          <p:nvPr/>
        </p:nvSpPr>
        <p:spPr>
          <a:xfrm>
            <a:off x="548640" y="6473952"/>
            <a:ext cx="5486400" cy="228600"/>
          </a:xfrm>
          <a:prstGeom prst="rect">
            <a:avLst/>
          </a:prstGeom>
          <a:noFill/>
          <a:ln/>
        </p:spPr>
        <p:txBody>
          <a:bodyPr wrap="square" lIns="0" tIns="0" rIns="0" bIns="0" rtlCol="0" anchor="ctr"/>
          <a:lstStyle/>
          <a:p>
            <a:pPr marL="0" indent="0">
              <a:buNone/>
            </a:pPr>
            <a:r>
              <a:rPr lang="en-US" sz="900" dirty="0">
                <a:solidFill>
                  <a:srgbClr val="5F6B70"/>
                </a:solidFill>
                <a:latin typeface="Aptos" pitchFamily="34" charset="0"/>
                <a:ea typeface="Aptos" pitchFamily="34" charset="-122"/>
                <a:cs typeface="Aptos" pitchFamily="34" charset="-120"/>
              </a:rPr>
              <a:t>UC2 Inventory Health &amp; Traceability</a:t>
            </a:r>
            <a:endParaRPr lang="en-US" sz="900" dirty="0"/>
          </a:p>
        </p:txBody>
      </p:sp>
      <p:sp>
        <p:nvSpPr>
          <p:cNvPr id="5" name="Text 3"/>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5F6B70"/>
                </a:solidFill>
                <a:latin typeface="Aptos" pitchFamily="34" charset="0"/>
                <a:ea typeface="Aptos" pitchFamily="34" charset="-122"/>
                <a:cs typeface="Aptos" pitchFamily="34" charset="-120"/>
              </a:rPr>
              <a:t>19</a:t>
            </a:r>
            <a:endParaRPr lang="en-US" sz="900" dirty="0"/>
          </a:p>
        </p:txBody>
      </p:sp>
      <p:sp>
        <p:nvSpPr>
          <p:cNvPr id="7" name="Shape 4"/>
          <p:cNvSpPr/>
          <p:nvPr/>
        </p:nvSpPr>
        <p:spPr>
          <a:xfrm>
            <a:off x="548640" y="1417320"/>
            <a:ext cx="3515258" cy="4846320"/>
          </a:xfrm>
          <a:prstGeom prst="roundRect">
            <a:avLst>
              <a:gd name="adj" fmla="val 2081"/>
            </a:avLst>
          </a:prstGeom>
          <a:solidFill>
            <a:srgbClr val="DAEEF3"/>
          </a:solidFill>
          <a:ln w="12700">
            <a:solidFill>
              <a:srgbClr val="DAEEF3"/>
            </a:solidFill>
            <a:prstDash val="solid"/>
          </a:ln>
        </p:spPr>
        <p:txBody>
          <a:bodyPr/>
          <a:lstStyle/>
          <a:p>
            <a:endParaRPr lang="en-US"/>
          </a:p>
        </p:txBody>
      </p:sp>
      <p:sp>
        <p:nvSpPr>
          <p:cNvPr id="8" name="Text 5"/>
          <p:cNvSpPr txBox="1"/>
          <p:nvPr/>
        </p:nvSpPr>
        <p:spPr>
          <a:xfrm>
            <a:off x="731520" y="1600200"/>
            <a:ext cx="3149498" cy="502920"/>
          </a:xfrm>
          <a:prstGeom prst="roundRect">
            <a:avLst>
              <a:gd name="adj" fmla="val 14545"/>
            </a:avLst>
          </a:prstGeom>
          <a:solidFill>
            <a:srgbClr val="4BACC6"/>
          </a:solidFill>
          <a:ln>
            <a:solidFill>
              <a:srgbClr val="4BACC6"/>
            </a:solid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Có trong POC</a:t>
            </a:r>
            <a:endParaRPr lang="en-US" sz="1400" dirty="0"/>
          </a:p>
        </p:txBody>
      </p:sp>
      <p:sp>
        <p:nvSpPr>
          <p:cNvPr id="9" name="Text 6"/>
          <p:cNvSpPr txBox="1"/>
          <p:nvPr/>
        </p:nvSpPr>
        <p:spPr>
          <a:xfrm>
            <a:off x="731520" y="2286000"/>
            <a:ext cx="3149498" cy="3840480"/>
          </a:xfrm>
          <a:prstGeom prst="rect">
            <a:avLst/>
          </a:prstGeom>
          <a:noFill/>
          <a:ln/>
        </p:spPr>
        <p:txBody>
          <a:bodyPr wrap="square" lIns="0" tIns="0" rIns="50800" bIns="0" rtlCol="0" anchor="t"/>
          <a:lstStyle/>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Dashboard 6 tầng, lọc và tìm lô</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Chi tiết lô và nguồn số liệu</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Độ phủ dữ liệu</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Brief, hỏi hết hạn và tồn theo vai</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Đề xuất có số lô, chống trùng, thẻ duyệt</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Duyệt chuyển hàng tạo Transfer Order</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Truy xuất lô, link mở sổ kho trong BC</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Hỏi tự do khi bật AI</a:t>
            </a:r>
            <a:endParaRPr lang="en-US" sz="1400" dirty="0"/>
          </a:p>
        </p:txBody>
      </p:sp>
      <p:sp>
        <p:nvSpPr>
          <p:cNvPr id="10" name="Shape 7"/>
          <p:cNvSpPr/>
          <p:nvPr/>
        </p:nvSpPr>
        <p:spPr>
          <a:xfrm>
            <a:off x="4338218" y="1417320"/>
            <a:ext cx="3515258" cy="4846320"/>
          </a:xfrm>
          <a:prstGeom prst="roundRect">
            <a:avLst>
              <a:gd name="adj" fmla="val 2081"/>
            </a:avLst>
          </a:prstGeom>
          <a:solidFill>
            <a:srgbClr val="F4EEE8"/>
          </a:solidFill>
          <a:ln w="12700">
            <a:solidFill>
              <a:srgbClr val="F4EEE8"/>
            </a:solidFill>
            <a:prstDash val="solid"/>
          </a:ln>
        </p:spPr>
        <p:txBody>
          <a:bodyPr/>
          <a:lstStyle/>
          <a:p>
            <a:endParaRPr lang="en-US"/>
          </a:p>
        </p:txBody>
      </p:sp>
      <p:sp>
        <p:nvSpPr>
          <p:cNvPr id="11" name="Text 8"/>
          <p:cNvSpPr txBox="1"/>
          <p:nvPr/>
        </p:nvSpPr>
        <p:spPr>
          <a:xfrm>
            <a:off x="4521098" y="1600200"/>
            <a:ext cx="3149498" cy="502920"/>
          </a:xfrm>
          <a:prstGeom prst="roundRect">
            <a:avLst>
              <a:gd name="adj" fmla="val 14545"/>
            </a:avLst>
          </a:prstGeom>
          <a:solidFill>
            <a:srgbClr val="C89B72"/>
          </a:solidFill>
          <a:ln>
            <a:solidFill>
              <a:srgbClr val="C89B72"/>
            </a:solid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Hoàn thiện khi triển khai</a:t>
            </a:r>
            <a:endParaRPr lang="en-US" sz="1400" dirty="0"/>
          </a:p>
        </p:txBody>
      </p:sp>
      <p:sp>
        <p:nvSpPr>
          <p:cNvPr id="12" name="Text 9"/>
          <p:cNvSpPr txBox="1"/>
          <p:nvPr/>
        </p:nvSpPr>
        <p:spPr>
          <a:xfrm>
            <a:off x="4521098" y="2286000"/>
            <a:ext cx="3149498" cy="3840480"/>
          </a:xfrm>
          <a:prstGeom prst="rect">
            <a:avLst/>
          </a:prstGeom>
          <a:noFill/>
          <a:ln/>
        </p:spPr>
        <p:txBody>
          <a:bodyPr wrap="square" lIns="0" tIns="0" rIns="50800" bIns="0" rtlCol="0" anchor="t"/>
          <a:lstStyle/>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Duyệt hủy sinh biên bản và chứng từ hủy nháp; hiện ghi nhận quyết định</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Số lượng chuyển vừa đủ bán trước hạn; hiện đề xuất cả tồn lô</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Chặn mua thêm hàng dư tồn; hiện ghi nhận quyết định</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Brief do AI viết, nêu ba việc quan trọng nhất và lý do</a:t>
            </a:r>
            <a:endParaRPr lang="en-US" sz="1400" dirty="0"/>
          </a:p>
        </p:txBody>
      </p:sp>
      <p:sp>
        <p:nvSpPr>
          <p:cNvPr id="13" name="Shape 10"/>
          <p:cNvSpPr/>
          <p:nvPr/>
        </p:nvSpPr>
        <p:spPr>
          <a:xfrm>
            <a:off x="8127797" y="1417320"/>
            <a:ext cx="3515258" cy="4846320"/>
          </a:xfrm>
          <a:prstGeom prst="roundRect">
            <a:avLst>
              <a:gd name="adj" fmla="val 2081"/>
            </a:avLst>
          </a:prstGeom>
          <a:solidFill>
            <a:srgbClr val="F7FAFB"/>
          </a:solidFill>
          <a:ln w="12700">
            <a:solidFill>
              <a:srgbClr val="F7FAFB"/>
            </a:solidFill>
            <a:prstDash val="solid"/>
          </a:ln>
        </p:spPr>
        <p:txBody>
          <a:bodyPr/>
          <a:lstStyle/>
          <a:p>
            <a:endParaRPr lang="en-US"/>
          </a:p>
        </p:txBody>
      </p:sp>
      <p:sp>
        <p:nvSpPr>
          <p:cNvPr id="14" name="Text 11"/>
          <p:cNvSpPr txBox="1"/>
          <p:nvPr/>
        </p:nvSpPr>
        <p:spPr>
          <a:xfrm>
            <a:off x="8310677" y="1600200"/>
            <a:ext cx="3149498" cy="502920"/>
          </a:xfrm>
          <a:prstGeom prst="roundRect">
            <a:avLst>
              <a:gd name="adj" fmla="val 14545"/>
            </a:avLst>
          </a:prstGeom>
          <a:solidFill>
            <a:srgbClr val="27343A"/>
          </a:solidFill>
          <a:ln>
            <a:solidFill>
              <a:srgbClr val="27343A"/>
            </a:solid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Chưa có, chọn qua khảo sát</a:t>
            </a:r>
            <a:endParaRPr lang="en-US" sz="1400" dirty="0"/>
          </a:p>
        </p:txBody>
      </p:sp>
      <p:sp>
        <p:nvSpPr>
          <p:cNvPr id="15" name="Text 12"/>
          <p:cNvSpPr txBox="1"/>
          <p:nvPr/>
        </p:nvSpPr>
        <p:spPr>
          <a:xfrm>
            <a:off x="8310677" y="2286000"/>
            <a:ext cx="3149498" cy="3840480"/>
          </a:xfrm>
          <a:prstGeom prst="rect">
            <a:avLst/>
          </a:prstGeom>
          <a:noFill/>
          <a:ln/>
        </p:spPr>
        <p:txBody>
          <a:bodyPr wrap="square" lIns="0" tIns="0" rIns="50800" bIns="0" rtlCol="0" anchor="t"/>
          <a:lstStyle/>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Nhắc chủ động mỗi sáng qua kênh người dùng quen dùng</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Đề xuất giảm giá có mức giảm</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Truy ngược lô nguyên liệu tới thành phẩm</a:t>
            </a:r>
            <a:endParaRPr lang="en-US" sz="1400" dirty="0"/>
          </a:p>
          <a:p>
            <a:pPr marL="152400" indent="-152400">
              <a:spcAft>
                <a:spcPts val="400"/>
              </a:spcAft>
              <a:buSzPct val="100000"/>
              <a:buChar char="•"/>
            </a:pPr>
            <a:r>
              <a:rPr lang="en-US" sz="1400" dirty="0">
                <a:solidFill>
                  <a:srgbClr val="27343A"/>
                </a:solidFill>
                <a:latin typeface="Aptos" pitchFamily="34" charset="0"/>
                <a:ea typeface="Aptos" pitchFamily="34" charset="-122"/>
                <a:cs typeface="Aptos" pitchFamily="34" charset="-120"/>
              </a:rPr>
              <a:t>Gợi ý xuất lô theo hạn dùng</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7343A"/>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7315200" cy="320040"/>
          </a:xfrm>
          <a:prstGeom prst="rect">
            <a:avLst/>
          </a:prstGeom>
          <a:noFill/>
          <a:ln/>
        </p:spPr>
        <p:txBody>
          <a:bodyPr wrap="square" lIns="0" tIns="0" rIns="0" bIns="0" rtlCol="0" anchor="ctr"/>
          <a:lstStyle/>
          <a:p>
            <a:pPr marL="0" indent="0">
              <a:buNone/>
            </a:pPr>
            <a:r>
              <a:rPr lang="en-US" sz="1200" b="1" kern="0" spc="300" dirty="0">
                <a:solidFill>
                  <a:srgbClr val="4BACC6"/>
                </a:solidFill>
                <a:latin typeface="Aptos" pitchFamily="34" charset="0"/>
                <a:ea typeface="Aptos" pitchFamily="34" charset="-122"/>
                <a:cs typeface="Aptos" pitchFamily="34" charset="-120"/>
              </a:rPr>
              <a:t>BƯỚC TIẾP THEO</a:t>
            </a:r>
            <a:endParaRPr lang="en-US" sz="1200" dirty="0"/>
          </a:p>
        </p:txBody>
      </p:sp>
      <p:sp>
        <p:nvSpPr>
          <p:cNvPr id="3" name="Text 1"/>
          <p:cNvSpPr txBox="1"/>
          <p:nvPr/>
        </p:nvSpPr>
        <p:spPr>
          <a:xfrm>
            <a:off x="548640" y="1188720"/>
            <a:ext cx="11094415" cy="822960"/>
          </a:xfrm>
          <a:prstGeom prst="rect">
            <a:avLst/>
          </a:prstGeom>
          <a:noFill/>
          <a:ln/>
        </p:spPr>
        <p:txBody>
          <a:bodyPr wrap="square" lIns="0" tIns="0" rIns="0" bIns="0" rtlCol="0" anchor="ct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Đưa UC2 về sát việc thật của Marou</a:t>
            </a:r>
            <a:endParaRPr lang="en-US" sz="3400" dirty="0"/>
          </a:p>
        </p:txBody>
      </p:sp>
      <p:sp>
        <p:nvSpPr>
          <p:cNvPr id="4" name="Shape 2"/>
          <p:cNvSpPr/>
          <p:nvPr/>
        </p:nvSpPr>
        <p:spPr>
          <a:xfrm>
            <a:off x="548640" y="2514600"/>
            <a:ext cx="3484778" cy="3108960"/>
          </a:xfrm>
          <a:prstGeom prst="roundRect">
            <a:avLst>
              <a:gd name="adj" fmla="val 2941"/>
            </a:avLst>
          </a:prstGeom>
          <a:solidFill>
            <a:srgbClr val="34454C"/>
          </a:solidFill>
          <a:ln w="12700">
            <a:solidFill>
              <a:srgbClr val="34454C"/>
            </a:solidFill>
            <a:prstDash val="solid"/>
          </a:ln>
        </p:spPr>
        <p:txBody>
          <a:bodyPr/>
          <a:lstStyle/>
          <a:p>
            <a:endParaRPr lang="en-US"/>
          </a:p>
        </p:txBody>
      </p:sp>
      <p:sp>
        <p:nvSpPr>
          <p:cNvPr id="5" name="Shape 3"/>
          <p:cNvSpPr/>
          <p:nvPr/>
        </p:nvSpPr>
        <p:spPr>
          <a:xfrm>
            <a:off x="822960" y="2788920"/>
            <a:ext cx="594360" cy="594360"/>
          </a:xfrm>
          <a:prstGeom prst="ellipse">
            <a:avLst/>
          </a:prstGeom>
          <a:solidFill>
            <a:srgbClr val="4BACC6"/>
          </a:solidFill>
          <a:ln w="12700">
            <a:solidFill>
              <a:srgbClr val="4BACC6"/>
            </a:solidFill>
            <a:prstDash val="solid"/>
          </a:ln>
        </p:spPr>
        <p:txBody>
          <a:bodyPr/>
          <a:lstStyle/>
          <a:p>
            <a:endParaRPr lang="en-US"/>
          </a:p>
        </p:txBody>
      </p:sp>
      <p:sp>
        <p:nvSpPr>
          <p:cNvPr id="6" name="Text 4"/>
          <p:cNvSpPr txBox="1"/>
          <p:nvPr/>
        </p:nvSpPr>
        <p:spPr>
          <a:xfrm>
            <a:off x="822960" y="2788920"/>
            <a:ext cx="594360" cy="594360"/>
          </a:xfrm>
          <a:prstGeom prst="rect">
            <a:avLst/>
          </a:prstGeom>
          <a:noFill/>
          <a:ln/>
        </p:spPr>
        <p:txBody>
          <a:bodyPr wrap="square" lIns="0" tIns="0" rIns="0" bIns="0" rtlCol="0" anchor="ctr"/>
          <a:lstStyle/>
          <a:p>
            <a:pPr marL="0" indent="0" algn="ctr">
              <a:buNone/>
            </a:pPr>
            <a:r>
              <a:rPr lang="en-US" sz="1800" b="1" dirty="0">
                <a:solidFill>
                  <a:srgbClr val="27343A"/>
                </a:solidFill>
                <a:latin typeface="Aptos" pitchFamily="34" charset="0"/>
                <a:ea typeface="Aptos" pitchFamily="34" charset="-122"/>
                <a:cs typeface="Aptos" pitchFamily="34" charset="-120"/>
              </a:rPr>
              <a:t>1</a:t>
            </a:r>
            <a:endParaRPr lang="en-US" sz="1800" dirty="0"/>
          </a:p>
        </p:txBody>
      </p:sp>
      <p:sp>
        <p:nvSpPr>
          <p:cNvPr id="7" name="Text 5"/>
          <p:cNvSpPr txBox="1"/>
          <p:nvPr/>
        </p:nvSpPr>
        <p:spPr>
          <a:xfrm>
            <a:off x="822960" y="3611880"/>
            <a:ext cx="2936138" cy="502920"/>
          </a:xfrm>
          <a:prstGeom prst="rect">
            <a:avLst/>
          </a:prstGeom>
          <a:noFill/>
          <a:ln/>
        </p:spPr>
        <p:txBody>
          <a:bodyPr wrap="square" lIns="0" tIns="0" rIns="0" bIns="0" rtlCol="0" anchor="t"/>
          <a:lstStyle/>
          <a:p>
            <a:pPr marL="0" indent="0">
              <a:buNone/>
            </a:pPr>
            <a:r>
              <a:rPr lang="en-US" sz="1800" b="1" dirty="0">
                <a:solidFill>
                  <a:srgbClr val="FFFFFF"/>
                </a:solidFill>
                <a:latin typeface="Aptos" pitchFamily="34" charset="0"/>
                <a:ea typeface="Aptos" pitchFamily="34" charset="-122"/>
                <a:cs typeface="Aptos" pitchFamily="34" charset="-120"/>
              </a:rPr>
              <a:t>Khảo sát người dùng</a:t>
            </a:r>
            <a:endParaRPr lang="en-US" sz="1800" dirty="0"/>
          </a:p>
        </p:txBody>
      </p:sp>
      <p:sp>
        <p:nvSpPr>
          <p:cNvPr id="8" name="Text 6"/>
          <p:cNvSpPr txBox="1"/>
          <p:nvPr/>
        </p:nvSpPr>
        <p:spPr>
          <a:xfrm>
            <a:off x="822960" y="4160520"/>
            <a:ext cx="2936138" cy="1371600"/>
          </a:xfrm>
          <a:prstGeom prst="rect">
            <a:avLst/>
          </a:prstGeom>
          <a:noFill/>
          <a:ln/>
        </p:spPr>
        <p:txBody>
          <a:bodyPr wrap="square" lIns="0" tIns="0" rIns="0" bIns="0" rtlCol="0" anchor="t"/>
          <a:lstStyle/>
          <a:p>
            <a:pPr marL="0" indent="0">
              <a:buNone/>
            </a:pPr>
            <a:r>
              <a:rPr lang="en-US" sz="1300" dirty="0">
                <a:solidFill>
                  <a:srgbClr val="D5DEE1"/>
                </a:solidFill>
                <a:latin typeface="Aptos" pitchFamily="34" charset="0"/>
                <a:ea typeface="Aptos" pitchFamily="34" charset="-122"/>
                <a:cs typeface="Aptos" pitchFamily="34" charset="-120"/>
              </a:rPr>
              <a:t>Tám câu hỏi về lần hủy hàng gần nhất, cách xử lý hàng cận date, thu hồi lô, để chọn tính năng AI làm trước.</a:t>
            </a:r>
            <a:endParaRPr lang="en-US" sz="1300" dirty="0"/>
          </a:p>
        </p:txBody>
      </p:sp>
      <p:sp>
        <p:nvSpPr>
          <p:cNvPr id="9" name="Shape 7"/>
          <p:cNvSpPr/>
          <p:nvPr/>
        </p:nvSpPr>
        <p:spPr>
          <a:xfrm>
            <a:off x="4353458" y="2514600"/>
            <a:ext cx="3484778" cy="3108960"/>
          </a:xfrm>
          <a:prstGeom prst="roundRect">
            <a:avLst>
              <a:gd name="adj" fmla="val 2941"/>
            </a:avLst>
          </a:prstGeom>
          <a:solidFill>
            <a:srgbClr val="34454C"/>
          </a:solidFill>
          <a:ln w="12700">
            <a:solidFill>
              <a:srgbClr val="34454C"/>
            </a:solidFill>
            <a:prstDash val="solid"/>
          </a:ln>
        </p:spPr>
        <p:txBody>
          <a:bodyPr/>
          <a:lstStyle/>
          <a:p>
            <a:endParaRPr lang="en-US"/>
          </a:p>
        </p:txBody>
      </p:sp>
      <p:sp>
        <p:nvSpPr>
          <p:cNvPr id="10" name="Shape 8"/>
          <p:cNvSpPr/>
          <p:nvPr/>
        </p:nvSpPr>
        <p:spPr>
          <a:xfrm>
            <a:off x="4627778" y="2788920"/>
            <a:ext cx="594360" cy="594360"/>
          </a:xfrm>
          <a:prstGeom prst="ellipse">
            <a:avLst/>
          </a:prstGeom>
          <a:solidFill>
            <a:srgbClr val="4BACC6"/>
          </a:solidFill>
          <a:ln w="12700">
            <a:solidFill>
              <a:srgbClr val="4BACC6"/>
            </a:solidFill>
            <a:prstDash val="solid"/>
          </a:ln>
        </p:spPr>
        <p:txBody>
          <a:bodyPr/>
          <a:lstStyle/>
          <a:p>
            <a:endParaRPr lang="en-US"/>
          </a:p>
        </p:txBody>
      </p:sp>
      <p:sp>
        <p:nvSpPr>
          <p:cNvPr id="11" name="Text 9"/>
          <p:cNvSpPr txBox="1"/>
          <p:nvPr/>
        </p:nvSpPr>
        <p:spPr>
          <a:xfrm>
            <a:off x="4627778" y="2788920"/>
            <a:ext cx="594360" cy="594360"/>
          </a:xfrm>
          <a:prstGeom prst="rect">
            <a:avLst/>
          </a:prstGeom>
          <a:noFill/>
          <a:ln/>
        </p:spPr>
        <p:txBody>
          <a:bodyPr wrap="square" lIns="0" tIns="0" rIns="0" bIns="0" rtlCol="0" anchor="ctr"/>
          <a:lstStyle/>
          <a:p>
            <a:pPr marL="0" indent="0" algn="ctr">
              <a:buNone/>
            </a:pPr>
            <a:r>
              <a:rPr lang="en-US" sz="1800" b="1" dirty="0">
                <a:solidFill>
                  <a:srgbClr val="27343A"/>
                </a:solidFill>
                <a:latin typeface="Aptos" pitchFamily="34" charset="0"/>
                <a:ea typeface="Aptos" pitchFamily="34" charset="-122"/>
                <a:cs typeface="Aptos" pitchFamily="34" charset="-120"/>
              </a:rPr>
              <a:t>2</a:t>
            </a:r>
            <a:endParaRPr lang="en-US" sz="1800" dirty="0"/>
          </a:p>
        </p:txBody>
      </p:sp>
      <p:sp>
        <p:nvSpPr>
          <p:cNvPr id="12" name="Text 10"/>
          <p:cNvSpPr txBox="1"/>
          <p:nvPr/>
        </p:nvSpPr>
        <p:spPr>
          <a:xfrm>
            <a:off x="4627778" y="3611880"/>
            <a:ext cx="2936138" cy="502920"/>
          </a:xfrm>
          <a:prstGeom prst="rect">
            <a:avLst/>
          </a:prstGeom>
          <a:noFill/>
          <a:ln/>
        </p:spPr>
        <p:txBody>
          <a:bodyPr wrap="square" lIns="0" tIns="0" rIns="0" bIns="0" rtlCol="0" anchor="t"/>
          <a:lstStyle/>
          <a:p>
            <a:pPr marL="0" indent="0">
              <a:buNone/>
            </a:pPr>
            <a:r>
              <a:rPr lang="en-US" sz="1800" b="1" dirty="0">
                <a:solidFill>
                  <a:srgbClr val="FFFFFF"/>
                </a:solidFill>
                <a:latin typeface="Aptos" pitchFamily="34" charset="0"/>
                <a:ea typeface="Aptos" pitchFamily="34" charset="-122"/>
                <a:cs typeface="Aptos" pitchFamily="34" charset="-120"/>
              </a:rPr>
              <a:t>Xác nhận dữ liệu</a:t>
            </a:r>
            <a:endParaRPr lang="en-US" sz="1800" dirty="0"/>
          </a:p>
        </p:txBody>
      </p:sp>
      <p:sp>
        <p:nvSpPr>
          <p:cNvPr id="13" name="Text 11"/>
          <p:cNvSpPr txBox="1"/>
          <p:nvPr/>
        </p:nvSpPr>
        <p:spPr>
          <a:xfrm>
            <a:off x="4627778" y="4160520"/>
            <a:ext cx="2936138" cy="1371600"/>
          </a:xfrm>
          <a:prstGeom prst="rect">
            <a:avLst/>
          </a:prstGeom>
          <a:noFill/>
          <a:ln/>
        </p:spPr>
        <p:txBody>
          <a:bodyPr wrap="square" lIns="0" tIns="0" rIns="0" bIns="0" rtlCol="0" anchor="t"/>
          <a:lstStyle/>
          <a:p>
            <a:pPr marL="0" indent="0">
              <a:buNone/>
            </a:pPr>
            <a:r>
              <a:rPr lang="en-US" sz="1300" dirty="0">
                <a:solidFill>
                  <a:srgbClr val="D5DEE1"/>
                </a:solidFill>
                <a:latin typeface="Aptos" pitchFamily="34" charset="0"/>
                <a:ea typeface="Aptos" pitchFamily="34" charset="-122"/>
                <a:cs typeface="Aptos" pitchFamily="34" charset="-120"/>
              </a:rPr>
              <a:t>Hàng tươi thừa cuối ngày có ghi hủy vào BC không; hạn dùng của từng đợt giao có được ghi ở phía cửa hàng không.</a:t>
            </a:r>
            <a:endParaRPr lang="en-US" sz="1300" dirty="0"/>
          </a:p>
        </p:txBody>
      </p:sp>
      <p:sp>
        <p:nvSpPr>
          <p:cNvPr id="14" name="Shape 12"/>
          <p:cNvSpPr/>
          <p:nvPr/>
        </p:nvSpPr>
        <p:spPr>
          <a:xfrm>
            <a:off x="8158277" y="2514600"/>
            <a:ext cx="3484778" cy="3108960"/>
          </a:xfrm>
          <a:prstGeom prst="roundRect">
            <a:avLst>
              <a:gd name="adj" fmla="val 2941"/>
            </a:avLst>
          </a:prstGeom>
          <a:solidFill>
            <a:srgbClr val="34454C"/>
          </a:solidFill>
          <a:ln w="12700">
            <a:solidFill>
              <a:srgbClr val="34454C"/>
            </a:solidFill>
            <a:prstDash val="solid"/>
          </a:ln>
        </p:spPr>
        <p:txBody>
          <a:bodyPr/>
          <a:lstStyle/>
          <a:p>
            <a:endParaRPr lang="en-US"/>
          </a:p>
        </p:txBody>
      </p:sp>
      <p:sp>
        <p:nvSpPr>
          <p:cNvPr id="15" name="Shape 13"/>
          <p:cNvSpPr/>
          <p:nvPr/>
        </p:nvSpPr>
        <p:spPr>
          <a:xfrm>
            <a:off x="8432597" y="2788920"/>
            <a:ext cx="594360" cy="594360"/>
          </a:xfrm>
          <a:prstGeom prst="ellipse">
            <a:avLst/>
          </a:prstGeom>
          <a:solidFill>
            <a:srgbClr val="4BACC6"/>
          </a:solidFill>
          <a:ln w="12700">
            <a:solidFill>
              <a:srgbClr val="4BACC6"/>
            </a:solidFill>
            <a:prstDash val="solid"/>
          </a:ln>
        </p:spPr>
        <p:txBody>
          <a:bodyPr/>
          <a:lstStyle/>
          <a:p>
            <a:endParaRPr lang="en-US"/>
          </a:p>
        </p:txBody>
      </p:sp>
      <p:sp>
        <p:nvSpPr>
          <p:cNvPr id="16" name="Text 14"/>
          <p:cNvSpPr txBox="1"/>
          <p:nvPr/>
        </p:nvSpPr>
        <p:spPr>
          <a:xfrm>
            <a:off x="8432597" y="2788920"/>
            <a:ext cx="594360" cy="594360"/>
          </a:xfrm>
          <a:prstGeom prst="rect">
            <a:avLst/>
          </a:prstGeom>
          <a:noFill/>
          <a:ln/>
        </p:spPr>
        <p:txBody>
          <a:bodyPr wrap="square" lIns="0" tIns="0" rIns="0" bIns="0" rtlCol="0" anchor="ctr"/>
          <a:lstStyle/>
          <a:p>
            <a:pPr marL="0" indent="0" algn="ctr">
              <a:buNone/>
            </a:pPr>
            <a:r>
              <a:rPr lang="en-US" sz="1800" b="1" dirty="0">
                <a:solidFill>
                  <a:srgbClr val="27343A"/>
                </a:solidFill>
                <a:latin typeface="Aptos" pitchFamily="34" charset="0"/>
                <a:ea typeface="Aptos" pitchFamily="34" charset="-122"/>
                <a:cs typeface="Aptos" pitchFamily="34" charset="-120"/>
              </a:rPr>
              <a:t>3</a:t>
            </a:r>
            <a:endParaRPr lang="en-US" sz="1800" dirty="0"/>
          </a:p>
        </p:txBody>
      </p:sp>
      <p:sp>
        <p:nvSpPr>
          <p:cNvPr id="17" name="Text 15"/>
          <p:cNvSpPr txBox="1"/>
          <p:nvPr/>
        </p:nvSpPr>
        <p:spPr>
          <a:xfrm>
            <a:off x="8432597" y="3611880"/>
            <a:ext cx="2936138" cy="502920"/>
          </a:xfrm>
          <a:prstGeom prst="rect">
            <a:avLst/>
          </a:prstGeom>
          <a:noFill/>
          <a:ln/>
        </p:spPr>
        <p:txBody>
          <a:bodyPr wrap="square" lIns="0" tIns="0" rIns="0" bIns="0" rtlCol="0" anchor="t"/>
          <a:lstStyle/>
          <a:p>
            <a:pPr marL="0" indent="0">
              <a:buNone/>
            </a:pPr>
            <a:r>
              <a:rPr lang="en-US" sz="1800" b="1" dirty="0">
                <a:solidFill>
                  <a:srgbClr val="FFFFFF"/>
                </a:solidFill>
                <a:latin typeface="Aptos" pitchFamily="34" charset="0"/>
                <a:ea typeface="Aptos" pitchFamily="34" charset="-122"/>
                <a:cs typeface="Aptos" pitchFamily="34" charset="-120"/>
              </a:rPr>
              <a:t>Chốt quy định phê duyệt</a:t>
            </a:r>
            <a:endParaRPr lang="en-US" sz="1800" dirty="0"/>
          </a:p>
        </p:txBody>
      </p:sp>
      <p:sp>
        <p:nvSpPr>
          <p:cNvPr id="18" name="Text 16"/>
          <p:cNvSpPr txBox="1"/>
          <p:nvPr/>
        </p:nvSpPr>
        <p:spPr>
          <a:xfrm>
            <a:off x="8432597" y="4160520"/>
            <a:ext cx="2936138" cy="1371600"/>
          </a:xfrm>
          <a:prstGeom prst="rect">
            <a:avLst/>
          </a:prstGeom>
          <a:noFill/>
          <a:ln/>
        </p:spPr>
        <p:txBody>
          <a:bodyPr wrap="square" lIns="0" tIns="0" rIns="0" bIns="0" rtlCol="0" anchor="t"/>
          <a:lstStyle/>
          <a:p>
            <a:pPr marL="0" indent="0">
              <a:buNone/>
            </a:pPr>
            <a:r>
              <a:rPr lang="en-US" sz="1300" dirty="0">
                <a:solidFill>
                  <a:srgbClr val="D5DEE1"/>
                </a:solidFill>
                <a:latin typeface="Aptos" pitchFamily="34" charset="0"/>
                <a:ea typeface="Aptos" pitchFamily="34" charset="-122"/>
                <a:cs typeface="Aptos" pitchFamily="34" charset="-120"/>
              </a:rPr>
              <a:t>Việc gì hệ thống được tự làm, việc gì luôn cần người duyệt, hạn mức giá trị bao nhiêu.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ced1390b-fb81-412d-90f5-0cd1df666a00}" enabled="1" method="Standard" siteId="{3b5ff753-4aa1-41c3-8a58-e148e35fa1ab}" removed="0"/>
</clbl:labelList>
</file>

<file path=docProps/app.xml><?xml version="1.0" encoding="utf-8"?>
<Properties xmlns="http://schemas.openxmlformats.org/officeDocument/2006/extended-properties" xmlns:vt="http://schemas.openxmlformats.org/officeDocument/2006/docPropsVTypes">
  <TotalTime>0</TotalTime>
  <Words>4381</Words>
  <Application>Microsoft Office PowerPoint</Application>
  <PresentationFormat>Widescreen</PresentationFormat>
  <Paragraphs>467</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UC2 Inventory Health &amp; Traceability: kiến trúc giải pháp và kịch bản đáp ứng</dc:title>
  <dc:subject>PptxGenJS Presentation</dc:subject>
  <dc:creator>NaviWorld Vietnam</dc:creator>
  <cp:lastModifiedBy>NWVN-Dung Dinh</cp:lastModifiedBy>
  <cp:revision>1</cp:revision>
  <dcterms:created xsi:type="dcterms:W3CDTF">2026-09-15T06:54:44Z</dcterms:created>
  <dcterms:modified xsi:type="dcterms:W3CDTF">2026-09-15T07:09:05Z</dcterms:modified>
</cp:coreProperties>
</file>